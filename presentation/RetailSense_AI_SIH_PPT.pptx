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11111"/>
                </a:solidFill>
                <a:latin typeface="Calibri"/>
              </a:defRPr>
            </a:pPr>
            <a:r>
              <a:rPr sz="1100" b="0" i="0" u="none" strike="noStrike">
                <a:solidFill>
                  <a:srgbClr val="111111"/>
                </a:solidFill>
                <a:latin typeface="Calibri"/>
              </a:rPr>
              <a:t>Improvements measured in our prototype (%)</a:t>
            </a:r>
          </a:p>
        </c:rich>
      </c:tx>
      <c:layout/>
      <c:overlay val="0"/>
    </c:title>
    <c:autoTitleDeleted val="0"/>
    <c:plotArea>
      <c:layout/>
      <c:barChart>
        <c:barDir val="bar"/>
        <c:grouping val="clustered"/>
        <c:varyColors val="0"/>
        <c:ser>
          <c:idx val="0"/>
          <c:order val="0"/>
          <c:tx>
            <c:strRef>
              <c:f>Sheet1!$B$1</c:f>
              <c:strCache>
                <c:ptCount val="1"/>
                <c:pt idx="0">
                  <c:v>Improvement %</c:v>
                </c:pt>
              </c:strCache>
            </c:strRef>
          </c:tx>
          <c:spPr>
            <a:solidFill>
              <a:srgbClr val="1E6B3A"/>
            </a:solidFill>
            <a:effectLst/>
          </c:spPr>
          <c:invertIfNegative val="0"/>
          <c:dLbls>
            <c:numFmt formatCode="General" sourceLinked="0"/>
            <c:txPr>
              <a:bodyPr/>
              <a:lstStyle/>
              <a:p>
                <a:pPr>
                  <a:defRPr b="0" i="0" strike="noStrike" sz="900" u="none">
                    <a:solidFill>
                      <a:srgbClr val="111111"/>
                    </a:solidFill>
                    <a:latin typeface="Arial"/>
                  </a:defRPr>
                </a:pPr>
              </a:p>
            </c:txPr>
            <c:showLegendKey val="0"/>
            <c:showVal val="1"/>
            <c:showCatName val="0"/>
            <c:showSerName val="0"/>
            <c:showPercent val="0"/>
            <c:showBubbleSize val="0"/>
            <c:showLeaderLines val="0"/>
          </c:dLbls>
          <c:cat>
            <c:multiLvlStrRef>
              <c:f>Sheet1!$A$2:$A$5</c:f>
              <c:multiLvlStrCache>
                <c:ptCount val="4"/>
                <c:lvl>
                  <c:pt idx="0">
                    <c:v>False shelf alerts cut</c:v>
                  </c:pt>
                  <c:pt idx="1">
                    <c:v>Queue forecast error cut</c:v>
                  </c:pt>
                  <c:pt idx="2">
                    <c:v>Counting accuracy gain</c:v>
                  </c:pt>
                  <c:pt idx="3">
                    <c:v>Data sent vs cloud video cut</c:v>
                  </c:pt>
                </c:lvl>
              </c:multiLvlStrCache>
            </c:multiLvlStrRef>
          </c:cat>
          <c:val>
            <c:numRef>
              <c:f>Sheet1!$B$2:$B$5</c:f>
              <c:numCache>
                <c:formatCode>General</c:formatCode>
                <c:ptCount val="4"/>
                <c:pt idx="0">
                  <c:v>94</c:v>
                </c:pt>
                <c:pt idx="1">
                  <c:v>27</c:v>
                </c:pt>
                <c:pt idx="2">
                  <c:v>36</c:v>
                </c:pt>
                <c:pt idx="3">
                  <c:v>99.99</c:v>
                </c:pt>
              </c:numCache>
            </c:numRef>
          </c:val>
        </c:ser>
        <c:dLbls>
          <c:numFmt formatCode="General" sourceLinked="0"/>
          <c:txPr>
            <a:bodyPr/>
            <a:lstStyle/>
            <a:p>
              <a:pPr>
                <a:defRPr b="0" i="0" strike="noStrike" sz="900" u="none">
                  <a:solidFill>
                    <a:srgbClr val="11111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max val="12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11111"/>
                </a:solidFill>
                <a:latin typeface="Calibri"/>
              </a:defRPr>
            </a:pPr>
            <a:r>
              <a:rPr sz="1100" b="0" i="0" u="none" strike="noStrike">
                <a:solidFill>
                  <a:srgbClr val="111111"/>
                </a:solidFill>
                <a:latin typeface="Calibri"/>
              </a:rPr>
              <a:t>Measured: before vs after our improvements (%)</a:t>
            </a:r>
          </a:p>
        </c:rich>
      </c:tx>
      <c:layout/>
      <c:overlay val="0"/>
    </c:title>
    <c:autoTitleDeleted val="0"/>
    <c:plotArea>
      <c:layout/>
      <c:barChart>
        <c:barDir val="col"/>
        <c:grouping val="clustered"/>
        <c:varyColors val="0"/>
        <c:ser>
          <c:idx val="0"/>
          <c:order val="0"/>
          <c:tx>
            <c:strRef>
              <c:f>Sheet1!$B$1</c:f>
              <c:strCache>
                <c:ptCount val="1"/>
                <c:pt idx="0">
                  <c:v>First version</c:v>
                </c:pt>
              </c:strCache>
            </c:strRef>
          </c:tx>
          <c:spPr>
            <a:solidFill>
              <a:srgbClr val="C0171D"/>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Footfall count accuracy</c:v>
                  </c:pt>
                  <c:pt idx="1">
                    <c:v>Empty-slot alert precision</c:v>
                  </c:pt>
                  <c:pt idx="2">
                    <c:v>Sparse-shelf count accuracy</c:v>
                  </c:pt>
                </c:lvl>
              </c:multiLvlStrCache>
            </c:multiLvlStrRef>
          </c:cat>
          <c:val>
            <c:numRef>
              <c:f>Sheet1!$B$2:$B$4</c:f>
              <c:numCache>
                <c:formatCode>General</c:formatCode>
                <c:ptCount val="3"/>
                <c:pt idx="0">
                  <c:v>47.5</c:v>
                </c:pt>
                <c:pt idx="1">
                  <c:v>17</c:v>
                </c:pt>
                <c:pt idx="2">
                  <c:v>55</c:v>
                </c:pt>
              </c:numCache>
            </c:numRef>
          </c:val>
        </c:ser>
        <c:ser>
          <c:idx val="1"/>
          <c:order val="1"/>
          <c:tx>
            <c:strRef>
              <c:f>Sheet1!$C$1</c:f>
              <c:strCache>
                <c:ptCount val="1"/>
                <c:pt idx="0">
                  <c:v>After our fixes</c:v>
                </c:pt>
              </c:strCache>
            </c:strRef>
          </c:tx>
          <c:spPr>
            <a:solidFill>
              <a:srgbClr val="1E6B3A"/>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Footfall count accuracy</c:v>
                  </c:pt>
                  <c:pt idx="1">
                    <c:v>Empty-slot alert precision</c:v>
                  </c:pt>
                  <c:pt idx="2">
                    <c:v>Sparse-shelf count accuracy</c:v>
                  </c:pt>
                </c:lvl>
              </c:multiLvlStrCache>
            </c:multiLvlStrRef>
          </c:cat>
          <c:val>
            <c:numRef>
              <c:f>Sheet1!$C$2:$C$4</c:f>
              <c:numCache>
                <c:formatCode>General</c:formatCode>
                <c:ptCount val="3"/>
                <c:pt idx="0">
                  <c:v>64.4</c:v>
                </c:pt>
                <c:pt idx="1">
                  <c:v>65</c:v>
                </c:pt>
                <c:pt idx="2">
                  <c:v>63</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Apni team ki details (PS ID, Theme, Team ID, Team Name) laal brackets wali jagah par bharna. Ek line mein bolna: RetailSense AI store ke CCTV ko smart banata hai - bheed, khaali shelf aur billing queue ko store ke andar hi AI se samajhta hai, bina internet 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store mein khaali shelf, lambi billing line aur customer ka data nahi hota. Cloud CCTV mehnga hai aur internet chahiye. Solution: store ke purane CCTV + ek chhota PC. AI andar hi chalta hai: log ginta hai, heatmap banata hai, khaali shelf pakadta hai, queue ka 15 minute pehle anumaan lagata hai, aur staff ko alert bhejta hai. Chehre ya photo save nahi hote.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Kaise kaam karta hai: camera se frame lete hain (3-10 per second), YOLO11 log aur products dhoondhta hai, ByteTrack har insaan ko ek anonymous number deta hai. Phir counting, heatmap, queue aur khaali shelf nikalte hain. Koi problem mile to staff ko alert. Sab data store ke andar SQLite mein, internet aane par HQ ko sirf numbers jaate hain. Shelf model Google Colab T4 GPU par train kiya.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Yeh sab asli output hain, fake nahi. Shelf model ko 2936 aisi photos par test kiya jo training mein nahi thi: mAP50 0.93. Footfall ko MOT17 benchmark par insaano ke label se match kiya: bheed wali sadak par 64% (store darwaze par isse behtar hoga). Queue forecast simulated data par hai - asli store ke 2-4 hafte ke data se dobara train hoga.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 ko fayda: khaali shelf jaldi bharna, rush se pehle counter kholna, staff sahi time par. Paisa: stock-out se lagbhag 4% sales jaati hai (GMA global study) - hum wapas laate hain. Kharcha kam: purane CCTV + ek chhota PC. Chart ke numbers humare apne prototype ke measurement hain, andaze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Feasible kyun hai: models already train aur test ho chuke hain, sasta hardware, purane camera. What-if: internet gaya to offline chalega, camera kharab to baaki chalte rahenge, AI galti kare to staff acknowledge/recalibrate kar sakta hai. Chart mein humare apne sudhaar: pehla version vs fix ke baad.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solutions cloud par chalte hain, internet aur paisa zyada lagta hai, video bahar jaata hai. Hum store ke andar chalte hain. References: datasets jin par train/test kiya (SKU-110K, COCO, MOT17), research papers (ByteTrack, out-of-stock detection) aur India ke data (Invest India, DPDP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slideLayout" Target="../slideLayouts/slideLayout1.xml"/><Relationship Id="rId1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eg4000/SKU110K_CVPR19" TargetMode="External"/><Relationship Id="rId3" Type="http://schemas.openxmlformats.org/officeDocument/2006/relationships/hyperlink" Target="https://motchallenge.net/data/MOT17/" TargetMode="External"/><Relationship Id="rId4" Type="http://schemas.openxmlformats.org/officeDocument/2006/relationships/hyperlink" Target="https://cocodataset.org" TargetMode="External"/><Relationship Id="rId5" Type="http://schemas.openxmlformats.org/officeDocument/2006/relationships/hyperlink" Target="https://arxiv.org/abs/2110.06864" TargetMode="External"/><Relationship Id="rId6" Type="http://schemas.openxmlformats.org/officeDocument/2006/relationships/hyperlink" Target="https://docs.ultralytics.com" TargetMode="External"/><Relationship Id="rId7" Type="http://schemas.openxmlformats.org/officeDocument/2006/relationships/hyperlink" Target="https://pmc.ncbi.nlm.nih.gov/articles/PMC10819825/" TargetMode="External"/><Relationship Id="rId8" Type="http://schemas.openxmlformats.org/officeDocument/2006/relationships/hyperlink" Target="https://www.supplychain247.com/images/pdfs/GMA_2002_Worldwide_OOS_Study.pdf" TargetMode="External"/><Relationship Id="rId9" Type="http://schemas.openxmlformats.org/officeDocument/2006/relationships/hyperlink" Target="https://www.investindia.gov.in/team-india-blogs/modernization-kirana-stores-india" TargetMode="External"/><Relationship Id="rId10" Type="http://schemas.openxmlformats.org/officeDocument/2006/relationships/hyperlink" Target="https://www.meity.gov.in/data-protection-framework" TargetMode="External"/><Relationship Id="rId11" Type="http://schemas.openxmlformats.org/officeDocument/2006/relationships/hyperlink" Target="https://www.ibef.org/industry/retail-india" TargetMode="External"/><Relationship Id="rId12" Type="http://schemas.openxmlformats.org/officeDocument/2006/relationships/hyperlink" Target="https://en.wikipedia.org/wiki/Erlang_(unit)" TargetMode="External"/><Relationship Id="rId1" Type="http://schemas.openxmlformats.org/officeDocument/2006/relationships/image" Target="../media/image-7-1.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4F7"/>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457200"/>
          </a:xfrm>
          <a:prstGeom prst="rect">
            <a:avLst/>
          </a:prstGeom>
          <a:noFill/>
          <a:ln/>
        </p:spPr>
        <p:txBody>
          <a:bodyPr wrap="square" rtlCol="0" anchor="ctr"/>
          <a:lstStyle/>
          <a:p>
            <a:pPr algn="ctr" indent="0" marL="0">
              <a:buNone/>
            </a:pPr>
            <a:r>
              <a:rPr lang="en-US" sz="2200" b="1" dirty="0">
                <a:solidFill>
                  <a:srgbClr val="E8761B"/>
                </a:solidFill>
                <a:latin typeface="Cambria" pitchFamily="34" charset="0"/>
                <a:ea typeface="Cambria" pitchFamily="34" charset="-122"/>
                <a:cs typeface="Cambria" pitchFamily="34" charset="-120"/>
              </a:rPr>
              <a:t>SMART INDIA HACKATHON 2025</a:t>
            </a:r>
            <a:endParaRPr lang="en-US" sz="2200" dirty="0"/>
          </a:p>
        </p:txBody>
      </p:sp>
      <p:sp>
        <p:nvSpPr>
          <p:cNvPr id="3" name="Text 1"/>
          <p:cNvSpPr txBox="1"/>
          <p:nvPr/>
        </p:nvSpPr>
        <p:spPr>
          <a:xfrm>
            <a:off x="457200" y="868680"/>
            <a:ext cx="11274552" cy="914400"/>
          </a:xfrm>
          <a:prstGeom prst="rect">
            <a:avLst/>
          </a:prstGeom>
          <a:noFill/>
          <a:ln/>
        </p:spPr>
        <p:txBody>
          <a:bodyPr wrap="square" rtlCol="0" anchor="ctr"/>
          <a:lstStyle/>
          <a:p>
            <a:pPr algn="ctr" indent="0" marL="0">
              <a:buNone/>
            </a:pPr>
            <a:r>
              <a:rPr lang="en-US" sz="4800" b="1" dirty="0">
                <a:solidFill>
                  <a:srgbClr val="138808"/>
                </a:solidFill>
                <a:latin typeface="Nirmala UI" pitchFamily="34" charset="0"/>
                <a:ea typeface="Nirmala UI" pitchFamily="34" charset="-122"/>
                <a:cs typeface="Nirmala UI" pitchFamily="34" charset="-120"/>
              </a:rPr>
              <a:t>नज़र</a:t>
            </a:r>
            <a:pPr algn="ctr" indent="0" marL="0">
              <a:buNone/>
            </a:pPr>
            <a:r>
              <a:rPr lang="en-US" sz="4800" b="1" dirty="0">
                <a:solidFill>
                  <a:srgbClr val="111111"/>
                </a:solidFill>
              </a:rPr>
              <a:t> – </a:t>
            </a:r>
            <a:pPr algn="ctr" indent="0" marL="0">
              <a:buNone/>
            </a:pPr>
            <a:r>
              <a:rPr lang="en-US" sz="4800" b="1" dirty="0">
                <a:solidFill>
                  <a:srgbClr val="E8761B"/>
                </a:solidFill>
                <a:latin typeface="Cambria" pitchFamily="34" charset="0"/>
                <a:ea typeface="Cambria" pitchFamily="34" charset="-122"/>
                <a:cs typeface="Cambria" pitchFamily="34" charset="-120"/>
              </a:rPr>
              <a:t>RetailSense AI</a:t>
            </a:r>
            <a:endParaRPr lang="en-US" sz="4800" dirty="0"/>
          </a:p>
        </p:txBody>
      </p:sp>
      <p:sp>
        <p:nvSpPr>
          <p:cNvPr id="4" name="Text 2"/>
          <p:cNvSpPr txBox="1"/>
          <p:nvPr/>
        </p:nvSpPr>
        <p:spPr>
          <a:xfrm>
            <a:off x="914400" y="1783080"/>
            <a:ext cx="10360152" cy="548640"/>
          </a:xfrm>
          <a:prstGeom prst="rect">
            <a:avLst/>
          </a:prstGeom>
          <a:noFill/>
          <a:ln/>
        </p:spPr>
        <p:txBody>
          <a:bodyPr wrap="square" rtlCol="0" anchor="ctr"/>
          <a:lstStyle/>
          <a:p>
            <a:pPr algn="ctr" indent="0" marL="0">
              <a:buNone/>
            </a:pPr>
            <a:r>
              <a:rPr lang="en-US" sz="1800" b="1" dirty="0">
                <a:solidFill>
                  <a:srgbClr val="1F3A93"/>
                </a:solidFill>
                <a:latin typeface="Calibri" pitchFamily="34" charset="0"/>
                <a:ea typeface="Calibri" pitchFamily="34" charset="-122"/>
                <a:cs typeface="Calibri" pitchFamily="34" charset="-120"/>
              </a:rPr>
              <a:t>Edge-AI Retail Intelligence Platform: Shopper Analytics, Shelf Monitoring &amp; Queue Prediction on In-Store Cameras</a:t>
            </a:r>
            <a:endParaRPr lang="en-US" sz="1800" dirty="0"/>
          </a:p>
        </p:txBody>
      </p:sp>
      <p:sp>
        <p:nvSpPr>
          <p:cNvPr id="5" name="Shape 3"/>
          <p:cNvSpPr/>
          <p:nvPr/>
        </p:nvSpPr>
        <p:spPr>
          <a:xfrm>
            <a:off x="548640" y="2697480"/>
            <a:ext cx="5577840" cy="3566160"/>
          </a:xfrm>
          <a:prstGeom prst="roundRect">
            <a:avLst>
              <a:gd name="adj" fmla="val 2564"/>
            </a:avLst>
          </a:prstGeom>
          <a:solidFill>
            <a:srgbClr val="FFFFFF"/>
          </a:solidFill>
          <a:ln w="9525">
            <a:solidFill>
              <a:srgbClr val="CBD3DC"/>
            </a:solidFill>
            <a:prstDash val="solid"/>
          </a:ln>
        </p:spPr>
      </p:sp>
      <p:sp>
        <p:nvSpPr>
          <p:cNvPr id="6" name="Text 4"/>
          <p:cNvSpPr txBox="1"/>
          <p:nvPr/>
        </p:nvSpPr>
        <p:spPr>
          <a:xfrm>
            <a:off x="777240" y="2880360"/>
            <a:ext cx="2194560" cy="457200"/>
          </a:xfrm>
          <a:prstGeom prst="rect">
            <a:avLst/>
          </a:prstGeom>
          <a:noFill/>
          <a:ln/>
        </p:spPr>
        <p:txBody>
          <a:bodyPr wrap="square" lIns="0" tIns="0" rIns="0" bIns="0" rtlCol="0" anchor="ctr"/>
          <a:lstStyle/>
          <a:p>
            <a:pPr indent="0" marL="0">
              <a:buNone/>
            </a:pPr>
            <a:r>
              <a:rPr lang="en-US" sz="1400" b="1" dirty="0">
                <a:solidFill>
                  <a:srgbClr val="111111"/>
                </a:solidFill>
                <a:latin typeface="Calibri" pitchFamily="34" charset="0"/>
                <a:ea typeface="Calibri" pitchFamily="34" charset="-122"/>
                <a:cs typeface="Calibri" pitchFamily="34" charset="-120"/>
              </a:rPr>
              <a:t>Problem Statement ID</a:t>
            </a:r>
            <a:endParaRPr lang="en-US" sz="1400" dirty="0"/>
          </a:p>
        </p:txBody>
      </p:sp>
      <p:sp>
        <p:nvSpPr>
          <p:cNvPr id="7" name="Text 5"/>
          <p:cNvSpPr txBox="1"/>
          <p:nvPr/>
        </p:nvSpPr>
        <p:spPr>
          <a:xfrm>
            <a:off x="3017520" y="2880360"/>
            <a:ext cx="2971800" cy="457200"/>
          </a:xfrm>
          <a:prstGeom prst="rect">
            <a:avLst/>
          </a:prstGeom>
          <a:noFill/>
          <a:ln/>
        </p:spPr>
        <p:txBody>
          <a:bodyPr wrap="square" lIns="0" tIns="0" rIns="0" bIns="0" rtlCol="0" anchor="ctr"/>
          <a:lstStyle/>
          <a:p>
            <a:pPr indent="0" marL="0">
              <a:buNone/>
            </a:pPr>
            <a:r>
              <a:rPr lang="en-US" sz="1400" dirty="0">
                <a:solidFill>
                  <a:srgbClr val="C0171D"/>
                </a:solidFill>
                <a:latin typeface="Calibri" pitchFamily="34" charset="0"/>
                <a:ea typeface="Calibri" pitchFamily="34" charset="-122"/>
                <a:cs typeface="Calibri" pitchFamily="34" charset="-120"/>
              </a:rPr>
              <a:t>[Enter PS ID]</a:t>
            </a:r>
            <a:endParaRPr lang="en-US" sz="1400" dirty="0"/>
          </a:p>
        </p:txBody>
      </p:sp>
      <p:sp>
        <p:nvSpPr>
          <p:cNvPr id="8" name="Text 6"/>
          <p:cNvSpPr txBox="1"/>
          <p:nvPr/>
        </p:nvSpPr>
        <p:spPr>
          <a:xfrm>
            <a:off x="777240" y="3429000"/>
            <a:ext cx="2194560" cy="457200"/>
          </a:xfrm>
          <a:prstGeom prst="rect">
            <a:avLst/>
          </a:prstGeom>
          <a:noFill/>
          <a:ln/>
        </p:spPr>
        <p:txBody>
          <a:bodyPr wrap="square" lIns="0" tIns="0" rIns="0" bIns="0" rtlCol="0" anchor="ctr"/>
          <a:lstStyle/>
          <a:p>
            <a:pPr indent="0" marL="0">
              <a:buNone/>
            </a:pPr>
            <a:r>
              <a:rPr lang="en-US" sz="1400" b="1" dirty="0">
                <a:solidFill>
                  <a:srgbClr val="111111"/>
                </a:solidFill>
                <a:latin typeface="Calibri" pitchFamily="34" charset="0"/>
                <a:ea typeface="Calibri" pitchFamily="34" charset="-122"/>
                <a:cs typeface="Calibri" pitchFamily="34" charset="-120"/>
              </a:rPr>
              <a:t>Problem Statement Title</a:t>
            </a:r>
            <a:endParaRPr lang="en-US" sz="1400" dirty="0"/>
          </a:p>
        </p:txBody>
      </p:sp>
      <p:sp>
        <p:nvSpPr>
          <p:cNvPr id="9" name="Text 7"/>
          <p:cNvSpPr txBox="1"/>
          <p:nvPr/>
        </p:nvSpPr>
        <p:spPr>
          <a:xfrm>
            <a:off x="3017520" y="3429000"/>
            <a:ext cx="2971800" cy="457200"/>
          </a:xfrm>
          <a:prstGeom prst="rect">
            <a:avLst/>
          </a:prstGeom>
          <a:noFill/>
          <a:ln/>
        </p:spPr>
        <p:txBody>
          <a:bodyPr wrap="square" lIns="0" tIns="0" rIns="0" bIns="0" rtlCol="0" anchor="ctr"/>
          <a:lstStyle/>
          <a:p>
            <a:pPr indent="0" marL="0">
              <a:buNone/>
            </a:pPr>
            <a:r>
              <a:rPr lang="en-US" sz="1400" dirty="0">
                <a:solidFill>
                  <a:srgbClr val="4A5560"/>
                </a:solidFill>
                <a:latin typeface="Calibri" pitchFamily="34" charset="0"/>
                <a:ea typeface="Calibri" pitchFamily="34" charset="-122"/>
                <a:cs typeface="Calibri" pitchFamily="34" charset="-120"/>
              </a:rPr>
              <a:t>AI-powered retail intelligence with on-device (edge) AI</a:t>
            </a:r>
            <a:endParaRPr lang="en-US" sz="1400" dirty="0"/>
          </a:p>
        </p:txBody>
      </p:sp>
      <p:sp>
        <p:nvSpPr>
          <p:cNvPr id="10" name="Text 8"/>
          <p:cNvSpPr txBox="1"/>
          <p:nvPr/>
        </p:nvSpPr>
        <p:spPr>
          <a:xfrm>
            <a:off x="777240" y="3977640"/>
            <a:ext cx="2194560" cy="457200"/>
          </a:xfrm>
          <a:prstGeom prst="rect">
            <a:avLst/>
          </a:prstGeom>
          <a:noFill/>
          <a:ln/>
        </p:spPr>
        <p:txBody>
          <a:bodyPr wrap="square" lIns="0" tIns="0" rIns="0" bIns="0" rtlCol="0" anchor="ctr"/>
          <a:lstStyle/>
          <a:p>
            <a:pPr indent="0" marL="0">
              <a:buNone/>
            </a:pPr>
            <a:r>
              <a:rPr lang="en-US" sz="1400" b="1" dirty="0">
                <a:solidFill>
                  <a:srgbClr val="111111"/>
                </a:solidFill>
                <a:latin typeface="Calibri" pitchFamily="34" charset="0"/>
                <a:ea typeface="Calibri" pitchFamily="34" charset="-122"/>
                <a:cs typeface="Calibri" pitchFamily="34" charset="-120"/>
              </a:rPr>
              <a:t>Theme</a:t>
            </a:r>
            <a:endParaRPr lang="en-US" sz="1400" dirty="0"/>
          </a:p>
        </p:txBody>
      </p:sp>
      <p:sp>
        <p:nvSpPr>
          <p:cNvPr id="11" name="Text 9"/>
          <p:cNvSpPr txBox="1"/>
          <p:nvPr/>
        </p:nvSpPr>
        <p:spPr>
          <a:xfrm>
            <a:off x="3017520" y="3977640"/>
            <a:ext cx="2971800" cy="457200"/>
          </a:xfrm>
          <a:prstGeom prst="rect">
            <a:avLst/>
          </a:prstGeom>
          <a:noFill/>
          <a:ln/>
        </p:spPr>
        <p:txBody>
          <a:bodyPr wrap="square" lIns="0" tIns="0" rIns="0" bIns="0" rtlCol="0" anchor="ctr"/>
          <a:lstStyle/>
          <a:p>
            <a:pPr indent="0" marL="0">
              <a:buNone/>
            </a:pPr>
            <a:r>
              <a:rPr lang="en-US" sz="1400" dirty="0">
                <a:solidFill>
                  <a:srgbClr val="C0171D"/>
                </a:solidFill>
                <a:latin typeface="Calibri" pitchFamily="34" charset="0"/>
                <a:ea typeface="Calibri" pitchFamily="34" charset="-122"/>
                <a:cs typeface="Calibri" pitchFamily="34" charset="-120"/>
              </a:rPr>
              <a:t>[Enter Theme]</a:t>
            </a:r>
            <a:endParaRPr lang="en-US" sz="1400" dirty="0"/>
          </a:p>
        </p:txBody>
      </p:sp>
      <p:sp>
        <p:nvSpPr>
          <p:cNvPr id="12" name="Text 10"/>
          <p:cNvSpPr txBox="1"/>
          <p:nvPr/>
        </p:nvSpPr>
        <p:spPr>
          <a:xfrm>
            <a:off x="777240" y="4526280"/>
            <a:ext cx="2194560" cy="457200"/>
          </a:xfrm>
          <a:prstGeom prst="rect">
            <a:avLst/>
          </a:prstGeom>
          <a:noFill/>
          <a:ln/>
        </p:spPr>
        <p:txBody>
          <a:bodyPr wrap="square" lIns="0" tIns="0" rIns="0" bIns="0" rtlCol="0" anchor="ctr"/>
          <a:lstStyle/>
          <a:p>
            <a:pPr indent="0" marL="0">
              <a:buNone/>
            </a:pPr>
            <a:r>
              <a:rPr lang="en-US" sz="1400" b="1" dirty="0">
                <a:solidFill>
                  <a:srgbClr val="111111"/>
                </a:solidFill>
                <a:latin typeface="Calibri" pitchFamily="34" charset="0"/>
                <a:ea typeface="Calibri" pitchFamily="34" charset="-122"/>
                <a:cs typeface="Calibri" pitchFamily="34" charset="-120"/>
              </a:rPr>
              <a:t>PS Category</a:t>
            </a:r>
            <a:endParaRPr lang="en-US" sz="1400" dirty="0"/>
          </a:p>
        </p:txBody>
      </p:sp>
      <p:sp>
        <p:nvSpPr>
          <p:cNvPr id="13" name="Text 11"/>
          <p:cNvSpPr txBox="1"/>
          <p:nvPr/>
        </p:nvSpPr>
        <p:spPr>
          <a:xfrm>
            <a:off x="3017520" y="4526280"/>
            <a:ext cx="2971800" cy="457200"/>
          </a:xfrm>
          <a:prstGeom prst="rect">
            <a:avLst/>
          </a:prstGeom>
          <a:noFill/>
          <a:ln/>
        </p:spPr>
        <p:txBody>
          <a:bodyPr wrap="square" lIns="0" tIns="0" rIns="0" bIns="0" rtlCol="0" anchor="ctr"/>
          <a:lstStyle/>
          <a:p>
            <a:pPr indent="0" marL="0">
              <a:buNone/>
            </a:pPr>
            <a:r>
              <a:rPr lang="en-US" sz="1400" dirty="0">
                <a:solidFill>
                  <a:srgbClr val="4A5560"/>
                </a:solidFill>
                <a:latin typeface="Calibri" pitchFamily="34" charset="0"/>
                <a:ea typeface="Calibri" pitchFamily="34" charset="-122"/>
                <a:cs typeface="Calibri" pitchFamily="34" charset="-120"/>
              </a:rPr>
              <a:t>Software</a:t>
            </a:r>
            <a:endParaRPr lang="en-US" sz="1400" dirty="0"/>
          </a:p>
        </p:txBody>
      </p:sp>
      <p:sp>
        <p:nvSpPr>
          <p:cNvPr id="14" name="Text 12"/>
          <p:cNvSpPr txBox="1"/>
          <p:nvPr/>
        </p:nvSpPr>
        <p:spPr>
          <a:xfrm>
            <a:off x="777240" y="5074920"/>
            <a:ext cx="2194560" cy="457200"/>
          </a:xfrm>
          <a:prstGeom prst="rect">
            <a:avLst/>
          </a:prstGeom>
          <a:noFill/>
          <a:ln/>
        </p:spPr>
        <p:txBody>
          <a:bodyPr wrap="square" lIns="0" tIns="0" rIns="0" bIns="0" rtlCol="0" anchor="ctr"/>
          <a:lstStyle/>
          <a:p>
            <a:pPr indent="0" marL="0">
              <a:buNone/>
            </a:pPr>
            <a:r>
              <a:rPr lang="en-US" sz="1400" b="1" dirty="0">
                <a:solidFill>
                  <a:srgbClr val="111111"/>
                </a:solidFill>
                <a:latin typeface="Calibri" pitchFamily="34" charset="0"/>
                <a:ea typeface="Calibri" pitchFamily="34" charset="-122"/>
                <a:cs typeface="Calibri" pitchFamily="34" charset="-120"/>
              </a:rPr>
              <a:t>Team ID</a:t>
            </a:r>
            <a:endParaRPr lang="en-US" sz="1400" dirty="0"/>
          </a:p>
        </p:txBody>
      </p:sp>
      <p:sp>
        <p:nvSpPr>
          <p:cNvPr id="15" name="Text 13"/>
          <p:cNvSpPr txBox="1"/>
          <p:nvPr/>
        </p:nvSpPr>
        <p:spPr>
          <a:xfrm>
            <a:off x="3017520" y="5074920"/>
            <a:ext cx="2971800" cy="457200"/>
          </a:xfrm>
          <a:prstGeom prst="rect">
            <a:avLst/>
          </a:prstGeom>
          <a:noFill/>
          <a:ln/>
        </p:spPr>
        <p:txBody>
          <a:bodyPr wrap="square" lIns="0" tIns="0" rIns="0" bIns="0" rtlCol="0" anchor="ctr"/>
          <a:lstStyle/>
          <a:p>
            <a:pPr indent="0" marL="0">
              <a:buNone/>
            </a:pPr>
            <a:r>
              <a:rPr lang="en-US" sz="1400" dirty="0">
                <a:solidFill>
                  <a:srgbClr val="C0171D"/>
                </a:solidFill>
                <a:latin typeface="Calibri" pitchFamily="34" charset="0"/>
                <a:ea typeface="Calibri" pitchFamily="34" charset="-122"/>
                <a:cs typeface="Calibri" pitchFamily="34" charset="-120"/>
              </a:rPr>
              <a:t>[Enter Team ID]</a:t>
            </a:r>
            <a:endParaRPr lang="en-US" sz="1400" dirty="0"/>
          </a:p>
        </p:txBody>
      </p:sp>
      <p:sp>
        <p:nvSpPr>
          <p:cNvPr id="16" name="Text 14"/>
          <p:cNvSpPr txBox="1"/>
          <p:nvPr/>
        </p:nvSpPr>
        <p:spPr>
          <a:xfrm>
            <a:off x="777240" y="5623560"/>
            <a:ext cx="2194560" cy="457200"/>
          </a:xfrm>
          <a:prstGeom prst="rect">
            <a:avLst/>
          </a:prstGeom>
          <a:noFill/>
          <a:ln/>
        </p:spPr>
        <p:txBody>
          <a:bodyPr wrap="square" lIns="0" tIns="0" rIns="0" bIns="0" rtlCol="0" anchor="ctr"/>
          <a:lstStyle/>
          <a:p>
            <a:pPr indent="0" marL="0">
              <a:buNone/>
            </a:pPr>
            <a:r>
              <a:rPr lang="en-US" sz="1400" b="1" dirty="0">
                <a:solidFill>
                  <a:srgbClr val="111111"/>
                </a:solidFill>
                <a:latin typeface="Calibri" pitchFamily="34" charset="0"/>
                <a:ea typeface="Calibri" pitchFamily="34" charset="-122"/>
                <a:cs typeface="Calibri" pitchFamily="34" charset="-120"/>
              </a:rPr>
              <a:t>Team Name</a:t>
            </a:r>
            <a:endParaRPr lang="en-US" sz="1400" dirty="0"/>
          </a:p>
        </p:txBody>
      </p:sp>
      <p:sp>
        <p:nvSpPr>
          <p:cNvPr id="17" name="Text 15"/>
          <p:cNvSpPr txBox="1"/>
          <p:nvPr/>
        </p:nvSpPr>
        <p:spPr>
          <a:xfrm>
            <a:off x="3017520" y="5623560"/>
            <a:ext cx="2971800" cy="457200"/>
          </a:xfrm>
          <a:prstGeom prst="rect">
            <a:avLst/>
          </a:prstGeom>
          <a:noFill/>
          <a:ln/>
        </p:spPr>
        <p:txBody>
          <a:bodyPr wrap="square" lIns="0" tIns="0" rIns="0" bIns="0" rtlCol="0" anchor="ctr"/>
          <a:lstStyle/>
          <a:p>
            <a:pPr indent="0" marL="0">
              <a:buNone/>
            </a:pPr>
            <a:r>
              <a:rPr lang="en-US" sz="1400" dirty="0">
                <a:solidFill>
                  <a:srgbClr val="C0171D"/>
                </a:solidFill>
                <a:latin typeface="Calibri" pitchFamily="34" charset="0"/>
                <a:ea typeface="Calibri" pitchFamily="34" charset="-122"/>
                <a:cs typeface="Calibri" pitchFamily="34" charset="-120"/>
              </a:rPr>
              <a:t>[Enter Team Name]</a:t>
            </a:r>
            <a:endParaRPr lang="en-US" sz="1400" dirty="0"/>
          </a:p>
        </p:txBody>
      </p:sp>
      <p:pic>
        <p:nvPicPr>
          <p:cNvPr id="18" name="Image 0" descr="C:\Users\itanm\OneDrive\Desktop\camera inventory\presentation\assets\ui_overview.png">    </p:cNvPr>
          <p:cNvPicPr>
            <a:picLocks noChangeAspect="1"/>
          </p:cNvPicPr>
          <p:nvPr/>
        </p:nvPicPr>
        <p:blipFill>
          <a:blip r:embed="rId1"/>
          <a:stretch>
            <a:fillRect/>
          </a:stretch>
        </p:blipFill>
        <p:spPr>
          <a:xfrm>
            <a:off x="6400800" y="2697480"/>
            <a:ext cx="5394960" cy="3374136"/>
          </a:xfrm>
          <a:prstGeom prst="rect">
            <a:avLst/>
          </a:prstGeom>
          <a:effectLst>
            <a:outerShdw sx="100000" sy="100000" kx="0" ky="0" algn="bl" rotWithShape="0" blurRad="101600" dist="38100" dir="5400000">
              <a:srgbClr val="000000">
                <a:alpha val="25000"/>
              </a:srgbClr>
            </a:outerShdw>
          </a:effectLst>
        </p:spPr>
      </p:pic>
      <p:sp>
        <p:nvSpPr>
          <p:cNvPr id="19" name="Text 16"/>
          <p:cNvSpPr txBox="1"/>
          <p:nvPr/>
        </p:nvSpPr>
        <p:spPr>
          <a:xfrm>
            <a:off x="6400800" y="6126480"/>
            <a:ext cx="5394960" cy="320040"/>
          </a:xfrm>
          <a:prstGeom prst="rect">
            <a:avLst/>
          </a:prstGeom>
          <a:noFill/>
          <a:ln/>
        </p:spPr>
        <p:txBody>
          <a:bodyPr wrap="square" rtlCol="0" anchor="ctr"/>
          <a:lstStyle/>
          <a:p>
            <a:pPr algn="ctr" indent="0" marL="0">
              <a:buNone/>
            </a:pPr>
            <a:r>
              <a:rPr lang="en-US" sz="1200" i="1" dirty="0">
                <a:solidFill>
                  <a:srgbClr val="4A5560"/>
                </a:solidFill>
                <a:latin typeface="Calibri" pitchFamily="34" charset="0"/>
                <a:ea typeface="Calibri" pitchFamily="34" charset="-122"/>
                <a:cs typeface="Calibri" pitchFamily="34" charset="-120"/>
              </a:rPr>
              <a:t>Working prototype: live store dashboard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7"/>
        </a:solidFill>
      </p:bgPr>
    </p:bg>
    <p:spTree>
      <p:nvGrpSpPr>
        <p:cNvPr id="1" name=""/>
        <p:cNvGrpSpPr/>
        <p:nvPr/>
      </p:nvGrpSpPr>
      <p:grpSpPr>
        <a:xfrm>
          <a:off x="0" y="0"/>
          <a:ext cx="0" cy="0"/>
          <a:chOff x="0" y="0"/>
          <a:chExt cx="0" cy="0"/>
        </a:xfrm>
      </p:grpSpPr>
      <p:sp>
        <p:nvSpPr>
          <p:cNvPr id="2" name="Shape 0"/>
          <p:cNvSpPr/>
          <p:nvPr/>
        </p:nvSpPr>
        <p:spPr>
          <a:xfrm>
            <a:off x="228600" y="109728"/>
            <a:ext cx="1234440" cy="566928"/>
          </a:xfrm>
          <a:prstGeom prst="ellipse">
            <a:avLst/>
          </a:prstGeom>
          <a:solidFill>
            <a:srgbClr val="FFFFFF"/>
          </a:solidFill>
          <a:ln w="15875">
            <a:solidFill>
              <a:srgbClr val="6B4FA0"/>
            </a:solidFill>
            <a:prstDash val="solid"/>
          </a:ln>
        </p:spPr>
      </p:sp>
      <p:sp>
        <p:nvSpPr>
          <p:cNvPr id="3" name="Text 1"/>
          <p:cNvSpPr txBox="1"/>
          <p:nvPr/>
        </p:nvSpPr>
        <p:spPr>
          <a:xfrm>
            <a:off x="228600" y="109728"/>
            <a:ext cx="1234440" cy="566928"/>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[Team Name]</a:t>
            </a:r>
            <a:endParaRPr lang="en-US" sz="1000" dirty="0"/>
          </a:p>
        </p:txBody>
      </p:sp>
      <p:sp>
        <p:nvSpPr>
          <p:cNvPr id="4" name="Text 2"/>
          <p:cNvSpPr txBox="1"/>
          <p:nvPr/>
        </p:nvSpPr>
        <p:spPr>
          <a:xfrm>
            <a:off x="10378440" y="128016"/>
            <a:ext cx="1600200" cy="548640"/>
          </a:xfrm>
          <a:prstGeom prst="rect">
            <a:avLst/>
          </a:prstGeom>
          <a:noFill/>
          <a:ln/>
        </p:spPr>
        <p:txBody>
          <a:bodyPr wrap="square" lIns="0" tIns="0" rIns="0" bIns="0" rtlCol="0" anchor="ctr"/>
          <a:lstStyle/>
          <a:p>
            <a:pPr algn="r" indent="0" marL="0">
              <a:buNone/>
            </a:pPr>
            <a:r>
              <a:rPr lang="en-US" sz="1100" b="1" dirty="0">
                <a:solidFill>
                  <a:srgbClr val="333333"/>
                </a:solidFill>
                <a:latin typeface="Calibri" pitchFamily="34" charset="0"/>
                <a:ea typeface="Calibri" pitchFamily="34" charset="-122"/>
                <a:cs typeface="Calibri" pitchFamily="34" charset="-120"/>
              </a:rPr>
              <a:t>SMART INDIA</a:t>
            </a:r>
            <a:endParaRPr lang="en-US" sz="1100" dirty="0"/>
          </a:p>
          <a:p>
            <a:pPr algn="r" indent="0" marL="0">
              <a:buNone/>
            </a:pPr>
            <a:r>
              <a:rPr lang="en-US" sz="1100" b="1" dirty="0">
                <a:solidFill>
                  <a:srgbClr val="333333"/>
                </a:solidFill>
                <a:latin typeface="Calibri" pitchFamily="34" charset="0"/>
                <a:ea typeface="Calibri" pitchFamily="34" charset="-122"/>
                <a:cs typeface="Calibri" pitchFamily="34" charset="-120"/>
              </a:rPr>
              <a:t>HACKATHON 2025</a:t>
            </a:r>
            <a:endParaRPr lang="en-US" sz="1100" dirty="0"/>
          </a:p>
        </p:txBody>
      </p:sp>
      <p:sp>
        <p:nvSpPr>
          <p:cNvPr id="5" name="Text 3"/>
          <p:cNvSpPr txBox="1"/>
          <p:nvPr/>
        </p:nvSpPr>
        <p:spPr>
          <a:xfrm>
            <a:off x="1645920" y="45720"/>
            <a:ext cx="8869680" cy="566928"/>
          </a:xfrm>
          <a:prstGeom prst="rect">
            <a:avLst/>
          </a:prstGeom>
          <a:noFill/>
          <a:ln/>
        </p:spPr>
        <p:txBody>
          <a:bodyPr wrap="square" rtlCol="0" anchor="ctr"/>
          <a:lstStyle/>
          <a:p>
            <a:pPr algn="ctr" indent="0" marL="0">
              <a:buNone/>
            </a:pPr>
            <a:r>
              <a:rPr lang="en-US" sz="3000" b="1" dirty="0">
                <a:solidFill>
                  <a:srgbClr val="138808"/>
                </a:solidFill>
                <a:latin typeface="Nirmala UI" pitchFamily="34" charset="0"/>
                <a:ea typeface="Nirmala UI" pitchFamily="34" charset="-122"/>
                <a:cs typeface="Nirmala UI" pitchFamily="34" charset="-120"/>
              </a:rPr>
              <a:t>नज़र</a:t>
            </a:r>
            <a:pPr algn="ctr" indent="0" marL="0">
              <a:buNone/>
            </a:pPr>
            <a:r>
              <a:rPr lang="en-US" sz="3000" b="1" dirty="0">
                <a:solidFill>
                  <a:srgbClr val="111111"/>
                </a:solidFill>
              </a:rPr>
              <a:t> – </a:t>
            </a:r>
            <a:pPr algn="ctr" indent="0" marL="0">
              <a:buNone/>
            </a:pPr>
            <a:r>
              <a:rPr lang="en-US" sz="3000" b="1" dirty="0">
                <a:solidFill>
                  <a:srgbClr val="E8761B"/>
                </a:solidFill>
                <a:latin typeface="Cambria" pitchFamily="34" charset="0"/>
                <a:ea typeface="Cambria" pitchFamily="34" charset="-122"/>
                <a:cs typeface="Cambria" pitchFamily="34" charset="-120"/>
              </a:rPr>
              <a:t>RetailSense AI</a:t>
            </a:r>
            <a:endParaRPr lang="en-US" sz="3000" dirty="0"/>
          </a:p>
        </p:txBody>
      </p:sp>
      <p:sp>
        <p:nvSpPr>
          <p:cNvPr id="6" name="Text 4"/>
          <p:cNvSpPr txBox="1"/>
          <p:nvPr/>
        </p:nvSpPr>
        <p:spPr>
          <a:xfrm>
            <a:off x="1645920" y="566928"/>
            <a:ext cx="8869680" cy="310896"/>
          </a:xfrm>
          <a:prstGeom prst="rect">
            <a:avLst/>
          </a:prstGeom>
          <a:noFill/>
          <a:ln/>
        </p:spPr>
        <p:txBody>
          <a:bodyPr wrap="square" rtlCol="0" anchor="ctr"/>
          <a:lstStyle/>
          <a:p>
            <a:pPr algn="ctr" indent="0" marL="0">
              <a:buNone/>
            </a:pPr>
            <a:r>
              <a:rPr lang="en-US" sz="1500" b="1" dirty="0">
                <a:solidFill>
                  <a:srgbClr val="1F3A93"/>
                </a:solidFill>
                <a:latin typeface="Calibri" pitchFamily="34" charset="0"/>
                <a:ea typeface="Calibri" pitchFamily="34" charset="-122"/>
                <a:cs typeface="Calibri" pitchFamily="34" charset="-120"/>
              </a:rPr>
              <a:t>Edge-AI Retail Intelligence for Indian Stores</a:t>
            </a:r>
            <a:endParaRPr lang="en-US" sz="1500" dirty="0"/>
          </a:p>
        </p:txBody>
      </p:sp>
      <p:sp>
        <p:nvSpPr>
          <p:cNvPr id="7" name="Shape 5"/>
          <p:cNvSpPr/>
          <p:nvPr/>
        </p:nvSpPr>
        <p:spPr>
          <a:xfrm>
            <a:off x="228600" y="1005840"/>
            <a:ext cx="5897880" cy="2395728"/>
          </a:xfrm>
          <a:prstGeom prst="roundRect">
            <a:avLst>
              <a:gd name="adj" fmla="val 3053"/>
            </a:avLst>
          </a:prstGeom>
          <a:solidFill>
            <a:srgbClr val="FFFFFF"/>
          </a:solidFill>
          <a:ln w="9525">
            <a:solidFill>
              <a:srgbClr val="CBD3DC"/>
            </a:solidFill>
            <a:prstDash val="solid"/>
          </a:ln>
        </p:spPr>
      </p:sp>
      <p:sp>
        <p:nvSpPr>
          <p:cNvPr id="8" name="Shape 6"/>
          <p:cNvSpPr/>
          <p:nvPr/>
        </p:nvSpPr>
        <p:spPr>
          <a:xfrm>
            <a:off x="365760" y="1097280"/>
            <a:ext cx="329184" cy="329184"/>
          </a:xfrm>
          <a:prstGeom prst="ellipse">
            <a:avLst/>
          </a:prstGeom>
          <a:solidFill>
            <a:srgbClr val="FBE3E4"/>
          </a:solidFill>
          <a:ln w="12700">
            <a:solidFill>
              <a:srgbClr val="FBE3E4"/>
            </a:solidFill>
            <a:prstDash val="solid"/>
          </a:ln>
        </p:spPr>
      </p:sp>
      <p:pic>
        <p:nvPicPr>
          <p:cNvPr id="9" name="Image 0" descr="preencoded.png">    </p:cNvPr>
          <p:cNvPicPr>
            <a:picLocks noChangeAspect="1"/>
          </p:cNvPicPr>
          <p:nvPr/>
        </p:nvPicPr>
        <p:blipFill>
          <a:blip r:embed="rId1"/>
          <a:stretch>
            <a:fillRect/>
          </a:stretch>
        </p:blipFill>
        <p:spPr>
          <a:xfrm>
            <a:off x="429768" y="1161288"/>
            <a:ext cx="201168" cy="201168"/>
          </a:xfrm>
          <a:prstGeom prst="rect">
            <a:avLst/>
          </a:prstGeom>
        </p:spPr>
      </p:pic>
      <p:sp>
        <p:nvSpPr>
          <p:cNvPr id="10" name="Text 7"/>
          <p:cNvSpPr txBox="1"/>
          <p:nvPr/>
        </p:nvSpPr>
        <p:spPr>
          <a:xfrm>
            <a:off x="777240" y="1069848"/>
            <a:ext cx="5212080" cy="384048"/>
          </a:xfrm>
          <a:prstGeom prst="rect">
            <a:avLst/>
          </a:prstGeom>
          <a:noFill/>
          <a:ln/>
        </p:spPr>
        <p:txBody>
          <a:bodyPr wrap="square" lIns="0" tIns="0" rIns="0" bIns="0" rtlCol="0" anchor="ctr"/>
          <a:lstStyle/>
          <a:p>
            <a:pPr indent="0" marL="0">
              <a:buNone/>
            </a:pPr>
            <a:r>
              <a:rPr lang="en-US" sz="1600" b="1" dirty="0">
                <a:solidFill>
                  <a:srgbClr val="111111"/>
                </a:solidFill>
                <a:latin typeface="Cambria" pitchFamily="34" charset="0"/>
                <a:ea typeface="Cambria" pitchFamily="34" charset="-122"/>
                <a:cs typeface="Cambria" pitchFamily="34" charset="-120"/>
              </a:rPr>
              <a:t>Understanding the Problem</a:t>
            </a:r>
            <a:endParaRPr lang="en-US" sz="1600" dirty="0"/>
          </a:p>
        </p:txBody>
      </p:sp>
      <p:sp>
        <p:nvSpPr>
          <p:cNvPr id="11" name="Text 8"/>
          <p:cNvSpPr txBox="1"/>
          <p:nvPr/>
        </p:nvSpPr>
        <p:spPr>
          <a:xfrm>
            <a:off x="365760" y="1444752"/>
            <a:ext cx="5623560" cy="1920240"/>
          </a:xfrm>
          <a:prstGeom prst="rect">
            <a:avLst/>
          </a:prstGeom>
          <a:noFill/>
          <a:ln/>
        </p:spPr>
        <p:txBody>
          <a:bodyPr wrap="square" lIns="0" tIns="0" rIns="0" bIns="0" rtlCol="0" anchor="t"/>
          <a:lstStyle/>
          <a:p>
            <a:pPr marL="342900" indent="-342900">
              <a:spcAft>
                <a:spcPts val="500"/>
              </a:spcAft>
              <a:buSzPct val="100000"/>
              <a:buChar char="•"/>
            </a:pPr>
            <a:r>
              <a:rPr lang="en-US" sz="1250" b="1" dirty="0">
                <a:solidFill>
                  <a:srgbClr val="111111"/>
                </a:solidFill>
                <a:latin typeface="Calibri" pitchFamily="34" charset="0"/>
                <a:ea typeface="Calibri" pitchFamily="34" charset="-122"/>
                <a:cs typeface="Calibri" pitchFamily="34" charset="-120"/>
              </a:rPr>
              <a:t>Empty shelves go unnoticed: </a:t>
            </a:r>
            <a:pPr indent="0" marL="0">
              <a:buNone/>
            </a:pPr>
            <a:r>
              <a:rPr lang="en-US" sz="1250" dirty="0">
                <a:solidFill>
                  <a:srgbClr val="111111"/>
                </a:solidFill>
                <a:latin typeface="Calibri" pitchFamily="34" charset="0"/>
                <a:ea typeface="Calibri" pitchFamily="34" charset="-122"/>
                <a:cs typeface="Calibri" pitchFamily="34" charset="-120"/>
              </a:rPr>
              <a:t>about </a:t>
            </a:r>
            <a:pPr indent="0" marL="0">
              <a:buNone/>
            </a:pPr>
            <a:r>
              <a:rPr lang="en-US" sz="1250" b="1" dirty="0">
                <a:solidFill>
                  <a:srgbClr val="C0171D"/>
                </a:solidFill>
                <a:latin typeface="Calibri" pitchFamily="34" charset="0"/>
                <a:ea typeface="Calibri" pitchFamily="34" charset="-122"/>
                <a:cs typeface="Calibri" pitchFamily="34" charset="-120"/>
              </a:rPr>
              <a:t>8% of items are out of stock</a:t>
            </a:r>
            <a:pPr indent="0" marL="0">
              <a:buNone/>
            </a:pPr>
            <a:r>
              <a:rPr lang="en-US" sz="1250" dirty="0">
                <a:solidFill>
                  <a:srgbClr val="111111"/>
                </a:solidFill>
                <a:latin typeface="Calibri" pitchFamily="34" charset="0"/>
                <a:ea typeface="Calibri" pitchFamily="34" charset="-122"/>
                <a:cs typeface="Calibri" pitchFamily="34" charset="-120"/>
              </a:rPr>
              <a:t> at any time and shoppers </a:t>
            </a:r>
            <a:pPr indent="0" marL="0">
              <a:buNone/>
            </a:pPr>
            <a:r>
              <a:rPr lang="en-US" sz="1250" b="1" dirty="0">
                <a:solidFill>
                  <a:srgbClr val="C0171D"/>
                </a:solidFill>
                <a:latin typeface="Calibri" pitchFamily="34" charset="0"/>
                <a:ea typeface="Calibri" pitchFamily="34" charset="-122"/>
                <a:cs typeface="Calibri" pitchFamily="34" charset="-120"/>
              </a:rPr>
              <a:t>buy elsewhere</a:t>
            </a:r>
            <a:pPr indent="0" marL="0">
              <a:buNone/>
            </a:pPr>
            <a:r>
              <a:rPr lang="en-US" sz="1250" dirty="0">
                <a:solidFill>
                  <a:srgbClr val="111111"/>
                </a:solidFill>
                <a:latin typeface="Calibri" pitchFamily="34" charset="0"/>
                <a:ea typeface="Calibri" pitchFamily="34" charset="-122"/>
                <a:cs typeface="Calibri" pitchFamily="34" charset="-120"/>
              </a:rPr>
              <a:t>.</a:t>
            </a:r>
            <a:endParaRPr lang="en-US" sz="1250" dirty="0"/>
          </a:p>
          <a:p>
            <a:pPr marL="342900" indent="-342900">
              <a:spcAft>
                <a:spcPts val="500"/>
              </a:spcAft>
              <a:buSzPct val="100000"/>
              <a:buChar char="•"/>
            </a:pPr>
            <a:r>
              <a:rPr lang="en-US" sz="1250" b="1" dirty="0">
                <a:solidFill>
                  <a:srgbClr val="111111"/>
                </a:solidFill>
                <a:latin typeface="Calibri" pitchFamily="34" charset="0"/>
                <a:ea typeface="Calibri" pitchFamily="34" charset="-122"/>
                <a:cs typeface="Calibri" pitchFamily="34" charset="-120"/>
              </a:rPr>
              <a:t>Long billing queues: </a:t>
            </a:r>
            <a:pPr indent="0" marL="0">
              <a:buNone/>
            </a:pPr>
            <a:r>
              <a:rPr lang="en-US" sz="1250" dirty="0">
                <a:solidFill>
                  <a:srgbClr val="111111"/>
                </a:solidFill>
                <a:latin typeface="Calibri" pitchFamily="34" charset="0"/>
                <a:ea typeface="Calibri" pitchFamily="34" charset="-122"/>
                <a:cs typeface="Calibri" pitchFamily="34" charset="-120"/>
              </a:rPr>
              <a:t>managers see the rush </a:t>
            </a:r>
            <a:pPr indent="0" marL="0">
              <a:buNone/>
            </a:pPr>
            <a:r>
              <a:rPr lang="en-US" sz="1250" b="1" dirty="0">
                <a:solidFill>
                  <a:srgbClr val="C0171D"/>
                </a:solidFill>
                <a:latin typeface="Calibri" pitchFamily="34" charset="0"/>
                <a:ea typeface="Calibri" pitchFamily="34" charset="-122"/>
                <a:cs typeface="Calibri" pitchFamily="34" charset="-120"/>
              </a:rPr>
              <a:t>too late</a:t>
            </a:r>
            <a:pPr indent="0" marL="0">
              <a:buNone/>
            </a:pPr>
            <a:r>
              <a:rPr lang="en-US" sz="1250" dirty="0">
                <a:solidFill>
                  <a:srgbClr val="111111"/>
                </a:solidFill>
                <a:latin typeface="Calibri" pitchFamily="34" charset="0"/>
                <a:ea typeface="Calibri" pitchFamily="34" charset="-122"/>
                <a:cs typeface="Calibri" pitchFamily="34" charset="-120"/>
              </a:rPr>
              <a:t>; shoppers </a:t>
            </a:r>
            <a:pPr indent="0" marL="0">
              <a:buNone/>
            </a:pPr>
            <a:r>
              <a:rPr lang="en-US" sz="1250" b="1" dirty="0">
                <a:solidFill>
                  <a:srgbClr val="C0171D"/>
                </a:solidFill>
                <a:latin typeface="Calibri" pitchFamily="34" charset="0"/>
                <a:ea typeface="Calibri" pitchFamily="34" charset="-122"/>
                <a:cs typeface="Calibri" pitchFamily="34" charset="-120"/>
              </a:rPr>
              <a:t>leave the line</a:t>
            </a:r>
            <a:pPr indent="0" marL="0">
              <a:buNone/>
            </a:pPr>
            <a:r>
              <a:rPr lang="en-US" sz="1250" dirty="0">
                <a:solidFill>
                  <a:srgbClr val="111111"/>
                </a:solidFill>
                <a:latin typeface="Calibri" pitchFamily="34" charset="0"/>
                <a:ea typeface="Calibri" pitchFamily="34" charset="-122"/>
                <a:cs typeface="Calibri" pitchFamily="34" charset="-120"/>
              </a:rPr>
              <a:t>.</a:t>
            </a:r>
            <a:endParaRPr lang="en-US" sz="1250" dirty="0"/>
          </a:p>
          <a:p>
            <a:pPr marL="342900" indent="-342900">
              <a:spcAft>
                <a:spcPts val="500"/>
              </a:spcAft>
              <a:buSzPct val="100000"/>
              <a:buChar char="•"/>
            </a:pPr>
            <a:r>
              <a:rPr lang="en-US" sz="1250" b="1" dirty="0">
                <a:solidFill>
                  <a:srgbClr val="111111"/>
                </a:solidFill>
                <a:latin typeface="Calibri" pitchFamily="34" charset="0"/>
                <a:ea typeface="Calibri" pitchFamily="34" charset="-122"/>
                <a:cs typeface="Calibri" pitchFamily="34" charset="-120"/>
              </a:rPr>
              <a:t>No shopper insights: </a:t>
            </a:r>
            <a:pPr indent="0" marL="0">
              <a:buNone/>
            </a:pPr>
            <a:r>
              <a:rPr lang="en-US" sz="1250" dirty="0">
                <a:solidFill>
                  <a:srgbClr val="111111"/>
                </a:solidFill>
                <a:latin typeface="Calibri" pitchFamily="34" charset="0"/>
                <a:ea typeface="Calibri" pitchFamily="34" charset="-122"/>
                <a:cs typeface="Calibri" pitchFamily="34" charset="-120"/>
              </a:rPr>
              <a:t>stores </a:t>
            </a:r>
            <a:pPr indent="0" marL="0">
              <a:buNone/>
            </a:pPr>
            <a:r>
              <a:rPr lang="en-US" sz="1250" b="1" dirty="0">
                <a:solidFill>
                  <a:srgbClr val="C0171D"/>
                </a:solidFill>
                <a:latin typeface="Calibri" pitchFamily="34" charset="0"/>
                <a:ea typeface="Calibri" pitchFamily="34" charset="-122"/>
                <a:cs typeface="Calibri" pitchFamily="34" charset="-120"/>
              </a:rPr>
              <a:t>don't know footfall, peak hours</a:t>
            </a:r>
            <a:pPr indent="0" marL="0">
              <a:buNone/>
            </a:pPr>
            <a:r>
              <a:rPr lang="en-US" sz="1250" dirty="0">
                <a:solidFill>
                  <a:srgbClr val="111111"/>
                </a:solidFill>
                <a:latin typeface="Calibri" pitchFamily="34" charset="0"/>
                <a:ea typeface="Calibri" pitchFamily="34" charset="-122"/>
                <a:cs typeface="Calibri" pitchFamily="34" charset="-120"/>
              </a:rPr>
              <a:t> or which displays work.</a:t>
            </a:r>
            <a:endParaRPr lang="en-US" sz="1250" dirty="0"/>
          </a:p>
          <a:p>
            <a:pPr marL="342900" indent="-342900">
              <a:spcAft>
                <a:spcPts val="500"/>
              </a:spcAft>
              <a:buSzPct val="100000"/>
              <a:buChar char="•"/>
            </a:pPr>
            <a:r>
              <a:rPr lang="en-US" sz="1250" b="1" dirty="0">
                <a:solidFill>
                  <a:srgbClr val="111111"/>
                </a:solidFill>
                <a:latin typeface="Calibri" pitchFamily="34" charset="0"/>
                <a:ea typeface="Calibri" pitchFamily="34" charset="-122"/>
                <a:cs typeface="Calibri" pitchFamily="34" charset="-120"/>
              </a:rPr>
              <a:t>Cloud CCTV analytics is costly: </a:t>
            </a:r>
            <a:pPr indent="0" marL="0">
              <a:buNone/>
            </a:pPr>
            <a:r>
              <a:rPr lang="en-US" sz="1250" dirty="0">
                <a:solidFill>
                  <a:srgbClr val="111111"/>
                </a:solidFill>
                <a:latin typeface="Calibri" pitchFamily="34" charset="0"/>
                <a:ea typeface="Calibri" pitchFamily="34" charset="-122"/>
                <a:cs typeface="Calibri" pitchFamily="34" charset="-120"/>
              </a:rPr>
              <a:t>needs </a:t>
            </a:r>
            <a:pPr indent="0" marL="0">
              <a:buNone/>
            </a:pPr>
            <a:r>
              <a:rPr lang="en-US" sz="1250" b="1" dirty="0">
                <a:solidFill>
                  <a:srgbClr val="C0171D"/>
                </a:solidFill>
                <a:latin typeface="Calibri" pitchFamily="34" charset="0"/>
                <a:ea typeface="Calibri" pitchFamily="34" charset="-122"/>
                <a:cs typeface="Calibri" pitchFamily="34" charset="-120"/>
              </a:rPr>
              <a:t>fast internet</a:t>
            </a:r>
            <a:pPr indent="0" marL="0">
              <a:buNone/>
            </a:pPr>
            <a:r>
              <a:rPr lang="en-US" sz="1250" dirty="0">
                <a:solidFill>
                  <a:srgbClr val="111111"/>
                </a:solidFill>
                <a:latin typeface="Calibri" pitchFamily="34" charset="0"/>
                <a:ea typeface="Calibri" pitchFamily="34" charset="-122"/>
                <a:cs typeface="Calibri" pitchFamily="34" charset="-120"/>
              </a:rPr>
              <a:t> and </a:t>
            </a:r>
            <a:pPr indent="0" marL="0">
              <a:buNone/>
            </a:pPr>
            <a:r>
              <a:rPr lang="en-US" sz="1250" b="1" dirty="0">
                <a:solidFill>
                  <a:srgbClr val="C0171D"/>
                </a:solidFill>
                <a:latin typeface="Calibri" pitchFamily="34" charset="0"/>
                <a:ea typeface="Calibri" pitchFamily="34" charset="-122"/>
                <a:cs typeface="Calibri" pitchFamily="34" charset="-120"/>
              </a:rPr>
              <a:t>sends video outside</a:t>
            </a:r>
            <a:pPr indent="0" marL="0">
              <a:buNone/>
            </a:pPr>
            <a:r>
              <a:rPr lang="en-US" sz="1250" dirty="0">
                <a:solidFill>
                  <a:srgbClr val="111111"/>
                </a:solidFill>
                <a:latin typeface="Calibri" pitchFamily="34" charset="0"/>
                <a:ea typeface="Calibri" pitchFamily="34" charset="-122"/>
                <a:cs typeface="Calibri" pitchFamily="34" charset="-120"/>
              </a:rPr>
              <a:t> (privacy risk).</a:t>
            </a:r>
            <a:endParaRPr lang="en-US" sz="1250" dirty="0"/>
          </a:p>
          <a:p>
            <a:pPr marL="342900" indent="-342900">
              <a:spcAft>
                <a:spcPts val="500"/>
              </a:spcAft>
              <a:buSzPct val="100000"/>
              <a:buChar char="•"/>
            </a:pPr>
            <a:r>
              <a:rPr lang="en-US" sz="1250" b="1" dirty="0">
                <a:solidFill>
                  <a:srgbClr val="111111"/>
                </a:solidFill>
                <a:latin typeface="Calibri" pitchFamily="34" charset="0"/>
                <a:ea typeface="Calibri" pitchFamily="34" charset="-122"/>
                <a:cs typeface="Calibri" pitchFamily="34" charset="-120"/>
              </a:rPr>
              <a:t>Weak internet in Tier-2/3 towns: </a:t>
            </a:r>
            <a:pPr indent="0" marL="0">
              <a:buNone/>
            </a:pPr>
            <a:r>
              <a:rPr lang="en-US" sz="1250" dirty="0">
                <a:solidFill>
                  <a:srgbClr val="111111"/>
                </a:solidFill>
                <a:latin typeface="Calibri" pitchFamily="34" charset="0"/>
                <a:ea typeface="Calibri" pitchFamily="34" charset="-122"/>
                <a:cs typeface="Calibri" pitchFamily="34" charset="-120"/>
              </a:rPr>
              <a:t>cloud tools </a:t>
            </a:r>
            <a:pPr indent="0" marL="0">
              <a:buNone/>
            </a:pPr>
            <a:r>
              <a:rPr lang="en-US" sz="1250" b="1" dirty="0">
                <a:solidFill>
                  <a:srgbClr val="C0171D"/>
                </a:solidFill>
                <a:latin typeface="Calibri" pitchFamily="34" charset="0"/>
                <a:ea typeface="Calibri" pitchFamily="34" charset="-122"/>
                <a:cs typeface="Calibri" pitchFamily="34" charset="-120"/>
              </a:rPr>
              <a:t>stop working during outages</a:t>
            </a:r>
            <a:pPr indent="0" marL="0">
              <a:buNone/>
            </a:pPr>
            <a:r>
              <a:rPr lang="en-US" sz="1250" dirty="0">
                <a:solidFill>
                  <a:srgbClr val="111111"/>
                </a:solidFill>
                <a:latin typeface="Calibri" pitchFamily="34" charset="0"/>
                <a:ea typeface="Calibri" pitchFamily="34" charset="-122"/>
                <a:cs typeface="Calibri" pitchFamily="34" charset="-120"/>
              </a:rPr>
              <a:t>.</a:t>
            </a:r>
            <a:endParaRPr lang="en-US" sz="1250" dirty="0"/>
          </a:p>
        </p:txBody>
      </p:sp>
      <p:sp>
        <p:nvSpPr>
          <p:cNvPr id="12" name="Shape 9"/>
          <p:cNvSpPr/>
          <p:nvPr/>
        </p:nvSpPr>
        <p:spPr>
          <a:xfrm>
            <a:off x="228600" y="3493008"/>
            <a:ext cx="5897880" cy="2834640"/>
          </a:xfrm>
          <a:prstGeom prst="roundRect">
            <a:avLst>
              <a:gd name="adj" fmla="val 2581"/>
            </a:avLst>
          </a:prstGeom>
          <a:solidFill>
            <a:srgbClr val="FFFFFF"/>
          </a:solidFill>
          <a:ln w="9525">
            <a:solidFill>
              <a:srgbClr val="CBD3DC"/>
            </a:solidFill>
            <a:prstDash val="solid"/>
          </a:ln>
        </p:spPr>
      </p:sp>
      <p:sp>
        <p:nvSpPr>
          <p:cNvPr id="13" name="Shape 10"/>
          <p:cNvSpPr/>
          <p:nvPr/>
        </p:nvSpPr>
        <p:spPr>
          <a:xfrm>
            <a:off x="365760" y="3584448"/>
            <a:ext cx="329184" cy="329184"/>
          </a:xfrm>
          <a:prstGeom prst="ellipse">
            <a:avLst/>
          </a:prstGeom>
          <a:solidFill>
            <a:srgbClr val="FDEBD9"/>
          </a:solidFill>
          <a:ln w="12700">
            <a:solidFill>
              <a:srgbClr val="FDEBD9"/>
            </a:solidFill>
            <a:prstDash val="solid"/>
          </a:ln>
        </p:spPr>
      </p:sp>
      <p:pic>
        <p:nvPicPr>
          <p:cNvPr id="14" name="Image 1" descr="preencoded.png">    </p:cNvPr>
          <p:cNvPicPr>
            <a:picLocks noChangeAspect="1"/>
          </p:cNvPicPr>
          <p:nvPr/>
        </p:nvPicPr>
        <p:blipFill>
          <a:blip r:embed="rId2"/>
          <a:stretch>
            <a:fillRect/>
          </a:stretch>
        </p:blipFill>
        <p:spPr>
          <a:xfrm>
            <a:off x="429768" y="3648456"/>
            <a:ext cx="201168" cy="201168"/>
          </a:xfrm>
          <a:prstGeom prst="rect">
            <a:avLst/>
          </a:prstGeom>
        </p:spPr>
      </p:pic>
      <p:sp>
        <p:nvSpPr>
          <p:cNvPr id="15" name="Text 11"/>
          <p:cNvSpPr txBox="1"/>
          <p:nvPr/>
        </p:nvSpPr>
        <p:spPr>
          <a:xfrm>
            <a:off x="777240" y="3557016"/>
            <a:ext cx="5212080" cy="384048"/>
          </a:xfrm>
          <a:prstGeom prst="rect">
            <a:avLst/>
          </a:prstGeom>
          <a:noFill/>
          <a:ln/>
        </p:spPr>
        <p:txBody>
          <a:bodyPr wrap="square" lIns="0" tIns="0" rIns="0" bIns="0" rtlCol="0" anchor="ctr"/>
          <a:lstStyle/>
          <a:p>
            <a:pPr indent="0" marL="0">
              <a:buNone/>
            </a:pPr>
            <a:r>
              <a:rPr lang="en-US" sz="1600" b="1" dirty="0">
                <a:solidFill>
                  <a:srgbClr val="111111"/>
                </a:solidFill>
                <a:latin typeface="Cambria" pitchFamily="34" charset="0"/>
                <a:ea typeface="Cambria" pitchFamily="34" charset="-122"/>
                <a:cs typeface="Cambria" pitchFamily="34" charset="-120"/>
              </a:rPr>
              <a:t>Our Solution</a:t>
            </a:r>
            <a:endParaRPr lang="en-US" sz="1600" dirty="0"/>
          </a:p>
        </p:txBody>
      </p:sp>
      <p:sp>
        <p:nvSpPr>
          <p:cNvPr id="16" name="Text 12"/>
          <p:cNvSpPr txBox="1"/>
          <p:nvPr/>
        </p:nvSpPr>
        <p:spPr>
          <a:xfrm>
            <a:off x="365760" y="3931920"/>
            <a:ext cx="5623560" cy="2359152"/>
          </a:xfrm>
          <a:prstGeom prst="rect">
            <a:avLst/>
          </a:prstGeom>
          <a:noFill/>
          <a:ln/>
        </p:spPr>
        <p:txBody>
          <a:bodyPr wrap="square" lIns="0" tIns="0" rIns="0" bIns="0" rtlCol="0" anchor="t"/>
          <a:lstStyle/>
          <a:p>
            <a:pPr marL="342900" indent="-342900">
              <a:spcAft>
                <a:spcPts val="400"/>
              </a:spcAft>
              <a:buSzPct val="100000"/>
              <a:buChar char="•"/>
            </a:pPr>
            <a:r>
              <a:rPr lang="en-US" sz="1250" b="1" dirty="0">
                <a:solidFill>
                  <a:srgbClr val="111111"/>
                </a:solidFill>
                <a:latin typeface="Calibri" pitchFamily="34" charset="0"/>
                <a:ea typeface="Calibri" pitchFamily="34" charset="-122"/>
                <a:cs typeface="Calibri" pitchFamily="34" charset="-120"/>
              </a:rPr>
              <a:t>Footfall Counting: </a:t>
            </a:r>
            <a:pPr indent="0" marL="0">
              <a:buNone/>
            </a:pPr>
            <a:r>
              <a:rPr lang="en-US" sz="1250" dirty="0">
                <a:solidFill>
                  <a:srgbClr val="111111"/>
                </a:solidFill>
                <a:latin typeface="Calibri" pitchFamily="34" charset="0"/>
                <a:ea typeface="Calibri" pitchFamily="34" charset="-122"/>
                <a:cs typeface="Calibri" pitchFamily="34" charset="-120"/>
              </a:rPr>
              <a:t>counts people </a:t>
            </a:r>
            <a:pPr indent="0" marL="0">
              <a:buNone/>
            </a:pPr>
            <a:r>
              <a:rPr lang="en-US" sz="1250" b="1" dirty="0">
                <a:solidFill>
                  <a:srgbClr val="C0171D"/>
                </a:solidFill>
                <a:latin typeface="Calibri" pitchFamily="34" charset="0"/>
                <a:ea typeface="Calibri" pitchFamily="34" charset="-122"/>
                <a:cs typeface="Calibri" pitchFamily="34" charset="-120"/>
              </a:rPr>
              <a:t>entering and leaving</a:t>
            </a:r>
            <a:pPr indent="0" marL="0">
              <a:buNone/>
            </a:pPr>
            <a:r>
              <a:rPr lang="en-US" sz="1250" dirty="0">
                <a:solidFill>
                  <a:srgbClr val="111111"/>
                </a:solidFill>
                <a:latin typeface="Calibri" pitchFamily="34" charset="0"/>
                <a:ea typeface="Calibri" pitchFamily="34" charset="-122"/>
                <a:cs typeface="Calibri" pitchFamily="34" charset="-120"/>
              </a:rPr>
              <a:t> with a virtual line.</a:t>
            </a:r>
            <a:endParaRPr lang="en-US" sz="1250" dirty="0"/>
          </a:p>
          <a:p>
            <a:pPr marL="342900" indent="-342900">
              <a:spcAft>
                <a:spcPts val="400"/>
              </a:spcAft>
              <a:buSzPct val="100000"/>
              <a:buChar char="•"/>
            </a:pPr>
            <a:r>
              <a:rPr lang="en-US" sz="1250" b="1" dirty="0">
                <a:solidFill>
                  <a:srgbClr val="111111"/>
                </a:solidFill>
                <a:latin typeface="Calibri" pitchFamily="34" charset="0"/>
                <a:ea typeface="Calibri" pitchFamily="34" charset="-122"/>
                <a:cs typeface="Calibri" pitchFamily="34" charset="-120"/>
              </a:rPr>
              <a:t>Heatmaps &amp; Dwell Time: </a:t>
            </a:r>
            <a:pPr indent="0" marL="0">
              <a:buNone/>
            </a:pPr>
            <a:r>
              <a:rPr lang="en-US" sz="1250" dirty="0">
                <a:solidFill>
                  <a:srgbClr val="111111"/>
                </a:solidFill>
                <a:latin typeface="Calibri" pitchFamily="34" charset="0"/>
                <a:ea typeface="Calibri" pitchFamily="34" charset="-122"/>
                <a:cs typeface="Calibri" pitchFamily="34" charset="-120"/>
              </a:rPr>
              <a:t>shows </a:t>
            </a:r>
            <a:pPr indent="0" marL="0">
              <a:buNone/>
            </a:pPr>
            <a:r>
              <a:rPr lang="en-US" sz="1250" b="1" dirty="0">
                <a:solidFill>
                  <a:srgbClr val="C0171D"/>
                </a:solidFill>
                <a:latin typeface="Calibri" pitchFamily="34" charset="0"/>
                <a:ea typeface="Calibri" pitchFamily="34" charset="-122"/>
                <a:cs typeface="Calibri" pitchFamily="34" charset="-120"/>
              </a:rPr>
              <a:t>where shoppers walk and how long they stay</a:t>
            </a:r>
            <a:pPr indent="0" marL="0">
              <a:buNone/>
            </a:pPr>
            <a:r>
              <a:rPr lang="en-US" sz="1250" dirty="0">
                <a:solidFill>
                  <a:srgbClr val="111111"/>
                </a:solidFill>
                <a:latin typeface="Calibri" pitchFamily="34" charset="0"/>
                <a:ea typeface="Calibri" pitchFamily="34" charset="-122"/>
                <a:cs typeface="Calibri" pitchFamily="34" charset="-120"/>
              </a:rPr>
              <a:t>.</a:t>
            </a:r>
            <a:endParaRPr lang="en-US" sz="1250" dirty="0"/>
          </a:p>
          <a:p>
            <a:pPr marL="342900" indent="-342900">
              <a:spcAft>
                <a:spcPts val="400"/>
              </a:spcAft>
              <a:buSzPct val="100000"/>
              <a:buChar char="•"/>
            </a:pPr>
            <a:r>
              <a:rPr lang="en-US" sz="1250" b="1" dirty="0">
                <a:solidFill>
                  <a:srgbClr val="111111"/>
                </a:solidFill>
                <a:latin typeface="Calibri" pitchFamily="34" charset="0"/>
                <a:ea typeface="Calibri" pitchFamily="34" charset="-122"/>
                <a:cs typeface="Calibri" pitchFamily="34" charset="-120"/>
              </a:rPr>
              <a:t>Shelf Monitoring: </a:t>
            </a:r>
            <a:pPr indent="0" marL="0">
              <a:buNone/>
            </a:pPr>
            <a:r>
              <a:rPr lang="en-US" sz="1250" dirty="0">
                <a:solidFill>
                  <a:srgbClr val="111111"/>
                </a:solidFill>
                <a:latin typeface="Calibri" pitchFamily="34" charset="0"/>
                <a:ea typeface="Calibri" pitchFamily="34" charset="-122"/>
                <a:cs typeface="Calibri" pitchFamily="34" charset="-120"/>
              </a:rPr>
              <a:t>finds </a:t>
            </a:r>
            <a:pPr indent="0" marL="0">
              <a:buNone/>
            </a:pPr>
            <a:r>
              <a:rPr lang="en-US" sz="1250" b="1" dirty="0">
                <a:solidFill>
                  <a:srgbClr val="C0171D"/>
                </a:solidFill>
                <a:latin typeface="Calibri" pitchFamily="34" charset="0"/>
                <a:ea typeface="Calibri" pitchFamily="34" charset="-122"/>
                <a:cs typeface="Calibri" pitchFamily="34" charset="-120"/>
              </a:rPr>
              <a:t>empty slots and low stock</a:t>
            </a:r>
            <a:pPr indent="0" marL="0">
              <a:buNone/>
            </a:pPr>
            <a:r>
              <a:rPr lang="en-US" sz="1250" dirty="0">
                <a:solidFill>
                  <a:srgbClr val="111111"/>
                </a:solidFill>
                <a:latin typeface="Calibri" pitchFamily="34" charset="0"/>
                <a:ea typeface="Calibri" pitchFamily="34" charset="-122"/>
                <a:cs typeface="Calibri" pitchFamily="34" charset="-120"/>
              </a:rPr>
              <a:t> from shelf cameras.</a:t>
            </a:r>
            <a:endParaRPr lang="en-US" sz="1250" dirty="0"/>
          </a:p>
          <a:p>
            <a:pPr marL="342900" indent="-342900">
              <a:spcAft>
                <a:spcPts val="400"/>
              </a:spcAft>
              <a:buSzPct val="100000"/>
              <a:buChar char="•"/>
            </a:pPr>
            <a:r>
              <a:rPr lang="en-US" sz="1250" b="1" dirty="0">
                <a:solidFill>
                  <a:srgbClr val="111111"/>
                </a:solidFill>
                <a:latin typeface="Calibri" pitchFamily="34" charset="0"/>
                <a:ea typeface="Calibri" pitchFamily="34" charset="-122"/>
                <a:cs typeface="Calibri" pitchFamily="34" charset="-120"/>
              </a:rPr>
              <a:t>Queue Intelligence: </a:t>
            </a:r>
            <a:pPr indent="0" marL="0">
              <a:buNone/>
            </a:pPr>
            <a:r>
              <a:rPr lang="en-US" sz="1250" dirty="0">
                <a:solidFill>
                  <a:srgbClr val="111111"/>
                </a:solidFill>
                <a:latin typeface="Calibri" pitchFamily="34" charset="0"/>
                <a:ea typeface="Calibri" pitchFamily="34" charset="-122"/>
                <a:cs typeface="Calibri" pitchFamily="34" charset="-120"/>
              </a:rPr>
              <a:t>measures </a:t>
            </a:r>
            <a:pPr indent="0" marL="0">
              <a:buNone/>
            </a:pPr>
            <a:r>
              <a:rPr lang="en-US" sz="1250" b="1" dirty="0">
                <a:solidFill>
                  <a:srgbClr val="C0171D"/>
                </a:solidFill>
                <a:latin typeface="Calibri" pitchFamily="34" charset="0"/>
                <a:ea typeface="Calibri" pitchFamily="34" charset="-122"/>
                <a:cs typeface="Calibri" pitchFamily="34" charset="-120"/>
              </a:rPr>
              <a:t>waiting time</a:t>
            </a:r>
            <a:pPr indent="0" marL="0">
              <a:buNone/>
            </a:pPr>
            <a:r>
              <a:rPr lang="en-US" sz="1250" dirty="0">
                <a:solidFill>
                  <a:srgbClr val="111111"/>
                </a:solidFill>
                <a:latin typeface="Calibri" pitchFamily="34" charset="0"/>
                <a:ea typeface="Calibri" pitchFamily="34" charset="-122"/>
                <a:cs typeface="Calibri" pitchFamily="34" charset="-120"/>
              </a:rPr>
              <a:t> and </a:t>
            </a:r>
            <a:pPr indent="0" marL="0">
              <a:buNone/>
            </a:pPr>
            <a:r>
              <a:rPr lang="en-US" sz="1250" b="1" dirty="0">
                <a:solidFill>
                  <a:srgbClr val="C0171D"/>
                </a:solidFill>
                <a:latin typeface="Calibri" pitchFamily="34" charset="0"/>
                <a:ea typeface="Calibri" pitchFamily="34" charset="-122"/>
                <a:cs typeface="Calibri" pitchFamily="34" charset="-120"/>
              </a:rPr>
              <a:t>predicts queues 15 min ahead</a:t>
            </a:r>
            <a:pPr indent="0" marL="0">
              <a:buNone/>
            </a:pPr>
            <a:r>
              <a:rPr lang="en-US" sz="1250" dirty="0">
                <a:solidFill>
                  <a:srgbClr val="111111"/>
                </a:solidFill>
                <a:latin typeface="Calibri" pitchFamily="34" charset="0"/>
                <a:ea typeface="Calibri" pitchFamily="34" charset="-122"/>
                <a:cs typeface="Calibri" pitchFamily="34" charset="-120"/>
              </a:rPr>
              <a:t>.</a:t>
            </a:r>
            <a:endParaRPr lang="en-US" sz="1250" dirty="0"/>
          </a:p>
          <a:p>
            <a:pPr marL="342900" indent="-342900">
              <a:spcAft>
                <a:spcPts val="400"/>
              </a:spcAft>
              <a:buSzPct val="100000"/>
              <a:buChar char="•"/>
            </a:pPr>
            <a:r>
              <a:rPr lang="en-US" sz="1250" b="1" dirty="0">
                <a:solidFill>
                  <a:srgbClr val="111111"/>
                </a:solidFill>
                <a:latin typeface="Calibri" pitchFamily="34" charset="0"/>
                <a:ea typeface="Calibri" pitchFamily="34" charset="-122"/>
                <a:cs typeface="Calibri" pitchFamily="34" charset="-120"/>
              </a:rPr>
              <a:t>Smart Alerts: </a:t>
            </a:r>
            <a:pPr indent="0" marL="0">
              <a:buNone/>
            </a:pPr>
            <a:r>
              <a:rPr lang="en-US" sz="1250" dirty="0">
                <a:solidFill>
                  <a:srgbClr val="111111"/>
                </a:solidFill>
                <a:latin typeface="Calibri" pitchFamily="34" charset="0"/>
                <a:ea typeface="Calibri" pitchFamily="34" charset="-122"/>
                <a:cs typeface="Calibri" pitchFamily="34" charset="-120"/>
              </a:rPr>
              <a:t>tells staff to </a:t>
            </a:r>
            <a:pPr indent="0" marL="0">
              <a:buNone/>
            </a:pPr>
            <a:r>
              <a:rPr lang="en-US" sz="1250" b="1" dirty="0">
                <a:solidFill>
                  <a:srgbClr val="C0171D"/>
                </a:solidFill>
                <a:latin typeface="Calibri" pitchFamily="34" charset="0"/>
                <a:ea typeface="Calibri" pitchFamily="34" charset="-122"/>
                <a:cs typeface="Calibri" pitchFamily="34" charset="-120"/>
              </a:rPr>
              <a:t>refill a shelf</a:t>
            </a:r>
            <a:pPr indent="0" marL="0">
              <a:buNone/>
            </a:pPr>
            <a:r>
              <a:rPr lang="en-US" sz="1250" dirty="0">
                <a:solidFill>
                  <a:srgbClr val="111111"/>
                </a:solidFill>
                <a:latin typeface="Calibri" pitchFamily="34" charset="0"/>
                <a:ea typeface="Calibri" pitchFamily="34" charset="-122"/>
                <a:cs typeface="Calibri" pitchFamily="34" charset="-120"/>
              </a:rPr>
              <a:t> or </a:t>
            </a:r>
            <a:pPr indent="0" marL="0">
              <a:buNone/>
            </a:pPr>
            <a:r>
              <a:rPr lang="en-US" sz="1250" b="1" dirty="0">
                <a:solidFill>
                  <a:srgbClr val="C0171D"/>
                </a:solidFill>
                <a:latin typeface="Calibri" pitchFamily="34" charset="0"/>
                <a:ea typeface="Calibri" pitchFamily="34" charset="-122"/>
                <a:cs typeface="Calibri" pitchFamily="34" charset="-120"/>
              </a:rPr>
              <a:t>open a counter</a:t>
            </a:r>
            <a:pPr indent="0" marL="0">
              <a:buNone/>
            </a:pPr>
            <a:r>
              <a:rPr lang="en-US" sz="1250" dirty="0">
                <a:solidFill>
                  <a:srgbClr val="111111"/>
                </a:solidFill>
                <a:latin typeface="Calibri" pitchFamily="34" charset="0"/>
                <a:ea typeface="Calibri" pitchFamily="34" charset="-122"/>
                <a:cs typeface="Calibri" pitchFamily="34" charset="-120"/>
              </a:rPr>
              <a:t>.</a:t>
            </a:r>
            <a:endParaRPr lang="en-US" sz="1250" dirty="0"/>
          </a:p>
          <a:p>
            <a:pPr marL="342900" indent="-342900">
              <a:spcAft>
                <a:spcPts val="400"/>
              </a:spcAft>
              <a:buSzPct val="100000"/>
              <a:buChar char="•"/>
            </a:pPr>
            <a:r>
              <a:rPr lang="en-US" sz="1250" b="1" dirty="0">
                <a:solidFill>
                  <a:srgbClr val="111111"/>
                </a:solidFill>
                <a:latin typeface="Calibri" pitchFamily="34" charset="0"/>
                <a:ea typeface="Calibri" pitchFamily="34" charset="-122"/>
                <a:cs typeface="Calibri" pitchFamily="34" charset="-120"/>
              </a:rPr>
              <a:t>Edge AI: </a:t>
            </a:r>
            <a:pPr indent="0" marL="0">
              <a:buNone/>
            </a:pPr>
            <a:r>
              <a:rPr lang="en-US" sz="1250" dirty="0">
                <a:solidFill>
                  <a:srgbClr val="111111"/>
                </a:solidFill>
                <a:latin typeface="Calibri" pitchFamily="34" charset="0"/>
                <a:ea typeface="Calibri" pitchFamily="34" charset="-122"/>
                <a:cs typeface="Calibri" pitchFamily="34" charset="-120"/>
              </a:rPr>
              <a:t>all AI runs </a:t>
            </a:r>
            <a:pPr indent="0" marL="0">
              <a:buNone/>
            </a:pPr>
            <a:r>
              <a:rPr lang="en-US" sz="1250" b="1" dirty="0">
                <a:solidFill>
                  <a:srgbClr val="C0171D"/>
                </a:solidFill>
                <a:latin typeface="Calibri" pitchFamily="34" charset="0"/>
                <a:ea typeface="Calibri" pitchFamily="34" charset="-122"/>
                <a:cs typeface="Calibri" pitchFamily="34" charset="-120"/>
              </a:rPr>
              <a:t>inside the store</a:t>
            </a:r>
            <a:pPr indent="0" marL="0">
              <a:buNone/>
            </a:pPr>
            <a:r>
              <a:rPr lang="en-US" sz="1250" dirty="0">
                <a:solidFill>
                  <a:srgbClr val="111111"/>
                </a:solidFill>
                <a:latin typeface="Calibri" pitchFamily="34" charset="0"/>
                <a:ea typeface="Calibri" pitchFamily="34" charset="-122"/>
                <a:cs typeface="Calibri" pitchFamily="34" charset="-120"/>
              </a:rPr>
              <a:t>, works </a:t>
            </a:r>
            <a:pPr indent="0" marL="0">
              <a:buNone/>
            </a:pPr>
            <a:r>
              <a:rPr lang="en-US" sz="1250" b="1" dirty="0">
                <a:solidFill>
                  <a:srgbClr val="C0171D"/>
                </a:solidFill>
                <a:latin typeface="Calibri" pitchFamily="34" charset="0"/>
                <a:ea typeface="Calibri" pitchFamily="34" charset="-122"/>
                <a:cs typeface="Calibri" pitchFamily="34" charset="-120"/>
              </a:rPr>
              <a:t>without internet</a:t>
            </a:r>
            <a:pPr indent="0" marL="0">
              <a:buNone/>
            </a:pPr>
            <a:r>
              <a:rPr lang="en-US" sz="1250" dirty="0">
                <a:solidFill>
                  <a:srgbClr val="111111"/>
                </a:solidFill>
                <a:latin typeface="Calibri" pitchFamily="34" charset="0"/>
                <a:ea typeface="Calibri" pitchFamily="34" charset="-122"/>
                <a:cs typeface="Calibri" pitchFamily="34" charset="-120"/>
              </a:rPr>
              <a:t>.</a:t>
            </a:r>
            <a:endParaRPr lang="en-US" sz="1250" dirty="0"/>
          </a:p>
          <a:p>
            <a:pPr marL="342900" indent="-342900">
              <a:spcAft>
                <a:spcPts val="400"/>
              </a:spcAft>
              <a:buSzPct val="100000"/>
              <a:buChar char="•"/>
            </a:pPr>
            <a:r>
              <a:rPr lang="en-US" sz="1250" b="1" dirty="0">
                <a:solidFill>
                  <a:srgbClr val="111111"/>
                </a:solidFill>
                <a:latin typeface="Calibri" pitchFamily="34" charset="0"/>
                <a:ea typeface="Calibri" pitchFamily="34" charset="-122"/>
                <a:cs typeface="Calibri" pitchFamily="34" charset="-120"/>
              </a:rPr>
              <a:t>Dashboard &amp; Reports: </a:t>
            </a:r>
            <a:pPr indent="0" marL="0">
              <a:buNone/>
            </a:pPr>
            <a:r>
              <a:rPr lang="en-US" sz="1250" dirty="0">
                <a:solidFill>
                  <a:srgbClr val="111111"/>
                </a:solidFill>
                <a:latin typeface="Calibri" pitchFamily="34" charset="0"/>
                <a:ea typeface="Calibri" pitchFamily="34" charset="-122"/>
                <a:cs typeface="Calibri" pitchFamily="34" charset="-120"/>
              </a:rPr>
              <a:t>daily/weekly </a:t>
            </a:r>
            <a:pPr indent="0" marL="0">
              <a:buNone/>
            </a:pPr>
            <a:r>
              <a:rPr lang="en-US" sz="1250" b="1" dirty="0">
                <a:solidFill>
                  <a:srgbClr val="C0171D"/>
                </a:solidFill>
                <a:latin typeface="Calibri" pitchFamily="34" charset="0"/>
                <a:ea typeface="Calibri" pitchFamily="34" charset="-122"/>
                <a:cs typeface="Calibri" pitchFamily="34" charset="-120"/>
              </a:rPr>
              <a:t>footfall, conversion, availability</a:t>
            </a:r>
            <a:pPr indent="0" marL="0">
              <a:buNone/>
            </a:pPr>
            <a:r>
              <a:rPr lang="en-US" sz="1250" dirty="0">
                <a:solidFill>
                  <a:srgbClr val="111111"/>
                </a:solidFill>
                <a:latin typeface="Calibri" pitchFamily="34" charset="0"/>
                <a:ea typeface="Calibri" pitchFamily="34" charset="-122"/>
                <a:cs typeface="Calibri" pitchFamily="34" charset="-120"/>
              </a:rPr>
              <a:t>.</a:t>
            </a:r>
            <a:endParaRPr lang="en-US" sz="1250" dirty="0"/>
          </a:p>
        </p:txBody>
      </p:sp>
      <p:sp>
        <p:nvSpPr>
          <p:cNvPr id="17" name="Shape 13"/>
          <p:cNvSpPr/>
          <p:nvPr/>
        </p:nvSpPr>
        <p:spPr>
          <a:xfrm>
            <a:off x="6263640" y="1005840"/>
            <a:ext cx="5696712" cy="2743200"/>
          </a:xfrm>
          <a:prstGeom prst="roundRect">
            <a:avLst>
              <a:gd name="adj" fmla="val 2667"/>
            </a:avLst>
          </a:prstGeom>
          <a:solidFill>
            <a:srgbClr val="FFFFFF"/>
          </a:solidFill>
          <a:ln w="9525">
            <a:solidFill>
              <a:srgbClr val="CBD3DC"/>
            </a:solidFill>
            <a:prstDash val="solid"/>
          </a:ln>
        </p:spPr>
      </p:sp>
      <p:sp>
        <p:nvSpPr>
          <p:cNvPr id="18" name="Shape 14"/>
          <p:cNvSpPr/>
          <p:nvPr/>
        </p:nvSpPr>
        <p:spPr>
          <a:xfrm>
            <a:off x="6400800" y="1097280"/>
            <a:ext cx="329184" cy="329184"/>
          </a:xfrm>
          <a:prstGeom prst="ellipse">
            <a:avLst/>
          </a:prstGeom>
          <a:solidFill>
            <a:srgbClr val="DDF2E3"/>
          </a:solidFill>
          <a:ln w="12700">
            <a:solidFill>
              <a:srgbClr val="DDF2E3"/>
            </a:solidFill>
            <a:prstDash val="solid"/>
          </a:ln>
        </p:spPr>
      </p:sp>
      <p:pic>
        <p:nvPicPr>
          <p:cNvPr id="19" name="Image 2" descr="preencoded.png">    </p:cNvPr>
          <p:cNvPicPr>
            <a:picLocks noChangeAspect="1"/>
          </p:cNvPicPr>
          <p:nvPr/>
        </p:nvPicPr>
        <p:blipFill>
          <a:blip r:embed="rId3"/>
          <a:stretch>
            <a:fillRect/>
          </a:stretch>
        </p:blipFill>
        <p:spPr>
          <a:xfrm>
            <a:off x="6464808" y="1161288"/>
            <a:ext cx="201168" cy="201168"/>
          </a:xfrm>
          <a:prstGeom prst="rect">
            <a:avLst/>
          </a:prstGeom>
        </p:spPr>
      </p:pic>
      <p:sp>
        <p:nvSpPr>
          <p:cNvPr id="20" name="Text 15"/>
          <p:cNvSpPr txBox="1"/>
          <p:nvPr/>
        </p:nvSpPr>
        <p:spPr>
          <a:xfrm>
            <a:off x="6812280" y="1069848"/>
            <a:ext cx="5010912" cy="384048"/>
          </a:xfrm>
          <a:prstGeom prst="rect">
            <a:avLst/>
          </a:prstGeom>
          <a:noFill/>
          <a:ln/>
        </p:spPr>
        <p:txBody>
          <a:bodyPr wrap="square" lIns="0" tIns="0" rIns="0" bIns="0" rtlCol="0" anchor="ctr"/>
          <a:lstStyle/>
          <a:p>
            <a:pPr indent="0" marL="0">
              <a:buNone/>
            </a:pPr>
            <a:r>
              <a:rPr lang="en-US" sz="1600" b="1" dirty="0">
                <a:solidFill>
                  <a:srgbClr val="111111"/>
                </a:solidFill>
                <a:latin typeface="Cambria" pitchFamily="34" charset="0"/>
                <a:ea typeface="Cambria" pitchFamily="34" charset="-122"/>
                <a:cs typeface="Cambria" pitchFamily="34" charset="-120"/>
              </a:rPr>
              <a:t>Our Unique Solutions</a:t>
            </a:r>
            <a:endParaRPr lang="en-US" sz="1600" dirty="0"/>
          </a:p>
        </p:txBody>
      </p:sp>
      <p:sp>
        <p:nvSpPr>
          <p:cNvPr id="21" name="Text 16"/>
          <p:cNvSpPr txBox="1"/>
          <p:nvPr/>
        </p:nvSpPr>
        <p:spPr>
          <a:xfrm>
            <a:off x="6400800" y="1444752"/>
            <a:ext cx="5440680" cy="2267712"/>
          </a:xfrm>
          <a:prstGeom prst="rect">
            <a:avLst/>
          </a:prstGeom>
          <a:noFill/>
          <a:ln/>
        </p:spPr>
        <p:txBody>
          <a:bodyPr wrap="square" lIns="0" tIns="0" rIns="0" bIns="0" rtlCol="0" anchor="t"/>
          <a:lstStyle/>
          <a:p>
            <a:pPr marL="342900" indent="-342900">
              <a:spcAft>
                <a:spcPts val="400"/>
              </a:spcAft>
              <a:buSzPct val="100000"/>
              <a:buChar char="•"/>
            </a:pPr>
            <a:r>
              <a:rPr lang="en-US" sz="1350" b="1" dirty="0">
                <a:solidFill>
                  <a:srgbClr val="111111"/>
                </a:solidFill>
                <a:latin typeface="Calibri" pitchFamily="34" charset="0"/>
                <a:ea typeface="Calibri" pitchFamily="34" charset="-122"/>
                <a:cs typeface="Calibri" pitchFamily="34" charset="-120"/>
              </a:rPr>
              <a:t>Works on existing CCTV: </a:t>
            </a:r>
            <a:pPr indent="0" marL="0">
              <a:buNone/>
            </a:pPr>
            <a:r>
              <a:rPr lang="en-US" sz="1350" dirty="0">
                <a:solidFill>
                  <a:srgbClr val="111111"/>
                </a:solidFill>
                <a:latin typeface="Calibri" pitchFamily="34" charset="0"/>
                <a:ea typeface="Calibri" pitchFamily="34" charset="-122"/>
                <a:cs typeface="Calibri" pitchFamily="34" charset="-120"/>
              </a:rPr>
              <a:t>uses the </a:t>
            </a:r>
            <a:pPr indent="0" marL="0">
              <a:buNone/>
            </a:pPr>
            <a:r>
              <a:rPr lang="en-US" sz="1350" b="1" dirty="0">
                <a:solidFill>
                  <a:srgbClr val="C0171D"/>
                </a:solidFill>
                <a:latin typeface="Calibri" pitchFamily="34" charset="0"/>
                <a:ea typeface="Calibri" pitchFamily="34" charset="-122"/>
                <a:cs typeface="Calibri" pitchFamily="34" charset="-120"/>
              </a:rPr>
              <a:t>store's own RTSP cameras</a:t>
            </a:r>
            <a:pPr indent="0" marL="0">
              <a:buNone/>
            </a:pPr>
            <a:r>
              <a:rPr lang="en-US" sz="1350" dirty="0">
                <a:solidFill>
                  <a:srgbClr val="111111"/>
                </a:solidFill>
                <a:latin typeface="Calibri" pitchFamily="34" charset="0"/>
                <a:ea typeface="Calibri" pitchFamily="34" charset="-122"/>
                <a:cs typeface="Calibri" pitchFamily="34" charset="-120"/>
              </a:rPr>
              <a:t>.</a:t>
            </a:r>
            <a:endParaRPr lang="en-US" sz="1350" dirty="0"/>
          </a:p>
          <a:p>
            <a:pPr marL="342900" indent="-342900">
              <a:spcAft>
                <a:spcPts val="400"/>
              </a:spcAft>
              <a:buSzPct val="100000"/>
              <a:buChar char="•"/>
            </a:pPr>
            <a:r>
              <a:rPr lang="en-US" sz="1350" b="1" dirty="0">
                <a:solidFill>
                  <a:srgbClr val="111111"/>
                </a:solidFill>
                <a:latin typeface="Calibri" pitchFamily="34" charset="0"/>
                <a:ea typeface="Calibri" pitchFamily="34" charset="-122"/>
                <a:cs typeface="Calibri" pitchFamily="34" charset="-120"/>
              </a:rPr>
              <a:t>Runs on a ₹35k mini PC: </a:t>
            </a:r>
            <a:pPr indent="0" marL="0">
              <a:buNone/>
            </a:pPr>
            <a:r>
              <a:rPr lang="en-US" sz="1350" b="1" dirty="0">
                <a:solidFill>
                  <a:srgbClr val="C0171D"/>
                </a:solidFill>
                <a:latin typeface="Calibri" pitchFamily="34" charset="0"/>
                <a:ea typeface="Calibri" pitchFamily="34" charset="-122"/>
                <a:cs typeface="Calibri" pitchFamily="34" charset="-120"/>
              </a:rPr>
              <a:t>no GPU</a:t>
            </a:r>
            <a:pPr indent="0" marL="0">
              <a:buNone/>
            </a:pPr>
            <a:r>
              <a:rPr lang="en-US" sz="1350" dirty="0">
                <a:solidFill>
                  <a:srgbClr val="111111"/>
                </a:solidFill>
                <a:latin typeface="Calibri" pitchFamily="34" charset="0"/>
                <a:ea typeface="Calibri" pitchFamily="34" charset="-122"/>
                <a:cs typeface="Calibri" pitchFamily="34" charset="-120"/>
              </a:rPr>
              <a:t>, 3 cameras on one CPU (measured).</a:t>
            </a:r>
            <a:endParaRPr lang="en-US" sz="1350" dirty="0"/>
          </a:p>
          <a:p>
            <a:pPr marL="342900" indent="-342900">
              <a:spcAft>
                <a:spcPts val="400"/>
              </a:spcAft>
              <a:buSzPct val="100000"/>
              <a:buChar char="•"/>
            </a:pPr>
            <a:r>
              <a:rPr lang="en-US" sz="1350" b="1" dirty="0">
                <a:solidFill>
                  <a:srgbClr val="111111"/>
                </a:solidFill>
                <a:latin typeface="Calibri" pitchFamily="34" charset="0"/>
                <a:ea typeface="Calibri" pitchFamily="34" charset="-122"/>
                <a:cs typeface="Calibri" pitchFamily="34" charset="-120"/>
              </a:rPr>
              <a:t>Privacy by design: </a:t>
            </a:r>
            <a:pPr indent="0" marL="0">
              <a:buNone/>
            </a:pPr>
            <a:r>
              <a:rPr lang="en-US" sz="1350" b="1" dirty="0">
                <a:solidFill>
                  <a:srgbClr val="C0171D"/>
                </a:solidFill>
                <a:latin typeface="Calibri" pitchFamily="34" charset="0"/>
                <a:ea typeface="Calibri" pitchFamily="34" charset="-122"/>
                <a:cs typeface="Calibri" pitchFamily="34" charset="-120"/>
              </a:rPr>
              <a:t>no faces or photos stored</a:t>
            </a:r>
            <a:pPr indent="0" marL="0">
              <a:buNone/>
            </a:pPr>
            <a:r>
              <a:rPr lang="en-US" sz="1350" dirty="0">
                <a:solidFill>
                  <a:srgbClr val="111111"/>
                </a:solidFill>
                <a:latin typeface="Calibri" pitchFamily="34" charset="0"/>
                <a:ea typeface="Calibri" pitchFamily="34" charset="-122"/>
                <a:cs typeface="Calibri" pitchFamily="34" charset="-120"/>
              </a:rPr>
              <a:t>, only anonymous counts.</a:t>
            </a:r>
            <a:endParaRPr lang="en-US" sz="1350" dirty="0"/>
          </a:p>
          <a:p>
            <a:pPr marL="342900" indent="-342900">
              <a:spcAft>
                <a:spcPts val="400"/>
              </a:spcAft>
              <a:buSzPct val="100000"/>
              <a:buChar char="•"/>
            </a:pPr>
            <a:r>
              <a:rPr lang="en-US" sz="1350" b="1" dirty="0">
                <a:solidFill>
                  <a:srgbClr val="111111"/>
                </a:solidFill>
                <a:latin typeface="Calibri" pitchFamily="34" charset="0"/>
                <a:ea typeface="Calibri" pitchFamily="34" charset="-122"/>
                <a:cs typeface="Calibri" pitchFamily="34" charset="-120"/>
              </a:rPr>
              <a:t>Predicts, not just reports: </a:t>
            </a:r>
            <a:pPr indent="0" marL="0">
              <a:buNone/>
            </a:pPr>
            <a:r>
              <a:rPr lang="en-US" sz="1350" dirty="0">
                <a:solidFill>
                  <a:srgbClr val="111111"/>
                </a:solidFill>
                <a:latin typeface="Calibri" pitchFamily="34" charset="0"/>
                <a:ea typeface="Calibri" pitchFamily="34" charset="-122"/>
                <a:cs typeface="Calibri" pitchFamily="34" charset="-120"/>
              </a:rPr>
              <a:t>queue forecast from </a:t>
            </a:r>
            <a:pPr indent="0" marL="0">
              <a:buNone/>
            </a:pPr>
            <a:r>
              <a:rPr lang="en-US" sz="1350" b="1" dirty="0">
                <a:solidFill>
                  <a:srgbClr val="C0171D"/>
                </a:solidFill>
                <a:latin typeface="Calibri" pitchFamily="34" charset="0"/>
                <a:ea typeface="Calibri" pitchFamily="34" charset="-122"/>
                <a:cs typeface="Calibri" pitchFamily="34" charset="-120"/>
              </a:rPr>
              <a:t>entrance footfall</a:t>
            </a:r>
            <a:pPr indent="0" marL="0">
              <a:buNone/>
            </a:pPr>
            <a:r>
              <a:rPr lang="en-US" sz="1350" dirty="0">
                <a:solidFill>
                  <a:srgbClr val="111111"/>
                </a:solidFill>
                <a:latin typeface="Calibri" pitchFamily="34" charset="0"/>
                <a:ea typeface="Calibri" pitchFamily="34" charset="-122"/>
                <a:cs typeface="Calibri" pitchFamily="34" charset="-120"/>
              </a:rPr>
              <a:t>.</a:t>
            </a:r>
            <a:endParaRPr lang="en-US" sz="1350" dirty="0"/>
          </a:p>
          <a:p>
            <a:pPr marL="342900" indent="-342900">
              <a:spcAft>
                <a:spcPts val="400"/>
              </a:spcAft>
              <a:buSzPct val="100000"/>
              <a:buChar char="•"/>
            </a:pPr>
            <a:r>
              <a:rPr lang="en-US" sz="1350" b="1" dirty="0">
                <a:solidFill>
                  <a:srgbClr val="111111"/>
                </a:solidFill>
                <a:latin typeface="Calibri" pitchFamily="34" charset="0"/>
                <a:ea typeface="Calibri" pitchFamily="34" charset="-122"/>
                <a:cs typeface="Calibri" pitchFamily="34" charset="-120"/>
              </a:rPr>
              <a:t>"Mark as Full" calibration: </a:t>
            </a:r>
            <a:pPr indent="0" marL="0">
              <a:buNone/>
            </a:pPr>
            <a:r>
              <a:rPr lang="en-US" sz="1350" dirty="0">
                <a:solidFill>
                  <a:srgbClr val="111111"/>
                </a:solidFill>
                <a:latin typeface="Calibri" pitchFamily="34" charset="0"/>
                <a:ea typeface="Calibri" pitchFamily="34" charset="-122"/>
                <a:cs typeface="Calibri" pitchFamily="34" charset="-120"/>
              </a:rPr>
              <a:t>compares a shelf with </a:t>
            </a:r>
            <a:pPr indent="0" marL="0">
              <a:buNone/>
            </a:pPr>
            <a:r>
              <a:rPr lang="en-US" sz="1350" b="1" dirty="0">
                <a:solidFill>
                  <a:srgbClr val="C0171D"/>
                </a:solidFill>
                <a:latin typeface="Calibri" pitchFamily="34" charset="0"/>
                <a:ea typeface="Calibri" pitchFamily="34" charset="-122"/>
                <a:cs typeface="Calibri" pitchFamily="34" charset="-120"/>
              </a:rPr>
              <a:t>its own full photo</a:t>
            </a:r>
            <a:pPr indent="0" marL="0">
              <a:buNone/>
            </a:pPr>
            <a:r>
              <a:rPr lang="en-US" sz="1350" dirty="0">
                <a:solidFill>
                  <a:srgbClr val="111111"/>
                </a:solidFill>
                <a:latin typeface="Calibri" pitchFamily="34" charset="0"/>
                <a:ea typeface="Calibri" pitchFamily="34" charset="-122"/>
                <a:cs typeface="Calibri" pitchFamily="34" charset="-120"/>
              </a:rPr>
              <a:t>.</a:t>
            </a:r>
            <a:endParaRPr lang="en-US" sz="1350" dirty="0"/>
          </a:p>
          <a:p>
            <a:pPr marL="342900" indent="-342900">
              <a:spcAft>
                <a:spcPts val="400"/>
              </a:spcAft>
              <a:buSzPct val="100000"/>
              <a:buChar char="•"/>
            </a:pPr>
            <a:r>
              <a:rPr lang="en-US" sz="1350" b="1" dirty="0">
                <a:solidFill>
                  <a:srgbClr val="111111"/>
                </a:solidFill>
                <a:latin typeface="Calibri" pitchFamily="34" charset="0"/>
                <a:ea typeface="Calibri" pitchFamily="34" charset="-122"/>
                <a:cs typeface="Calibri" pitchFamily="34" charset="-120"/>
              </a:rPr>
              <a:t>Offline-first: </a:t>
            </a:r>
            <a:pPr indent="0" marL="0">
              <a:buNone/>
            </a:pPr>
            <a:r>
              <a:rPr lang="en-US" sz="1350" dirty="0">
                <a:solidFill>
                  <a:srgbClr val="111111"/>
                </a:solidFill>
                <a:latin typeface="Calibri" pitchFamily="34" charset="0"/>
                <a:ea typeface="Calibri" pitchFamily="34" charset="-122"/>
                <a:cs typeface="Calibri" pitchFamily="34" charset="-120"/>
              </a:rPr>
              <a:t>stores data locally, </a:t>
            </a:r>
            <a:pPr indent="0" marL="0">
              <a:buNone/>
            </a:pPr>
            <a:r>
              <a:rPr lang="en-US" sz="1350" b="1" dirty="0">
                <a:solidFill>
                  <a:srgbClr val="C0171D"/>
                </a:solidFill>
                <a:latin typeface="Calibri" pitchFamily="34" charset="0"/>
                <a:ea typeface="Calibri" pitchFamily="34" charset="-122"/>
                <a:cs typeface="Calibri" pitchFamily="34" charset="-120"/>
              </a:rPr>
              <a:t>syncs to HQ when online</a:t>
            </a:r>
            <a:pPr indent="0" marL="0">
              <a:buNone/>
            </a:pPr>
            <a:r>
              <a:rPr lang="en-US" sz="1350" dirty="0">
                <a:solidFill>
                  <a:srgbClr val="111111"/>
                </a:solidFill>
                <a:latin typeface="Calibri" pitchFamily="34" charset="0"/>
                <a:ea typeface="Calibri" pitchFamily="34" charset="-122"/>
                <a:cs typeface="Calibri" pitchFamily="34" charset="-120"/>
              </a:rPr>
              <a:t>.</a:t>
            </a:r>
            <a:endParaRPr lang="en-US" sz="1350" dirty="0"/>
          </a:p>
          <a:p>
            <a:pPr marL="342900" indent="-342900">
              <a:spcAft>
                <a:spcPts val="400"/>
              </a:spcAft>
              <a:buSzPct val="100000"/>
              <a:buChar char="•"/>
            </a:pPr>
            <a:r>
              <a:rPr lang="en-US" sz="1350" b="1" dirty="0">
                <a:solidFill>
                  <a:srgbClr val="111111"/>
                </a:solidFill>
                <a:latin typeface="Calibri" pitchFamily="34" charset="0"/>
                <a:ea typeface="Calibri" pitchFamily="34" charset="-122"/>
                <a:cs typeface="Calibri" pitchFamily="34" charset="-120"/>
              </a:rPr>
              <a:t>POS / ERP ready: </a:t>
            </a:r>
            <a:pPr indent="0" marL="0">
              <a:buNone/>
            </a:pPr>
            <a:r>
              <a:rPr lang="en-US" sz="1350" dirty="0">
                <a:solidFill>
                  <a:srgbClr val="111111"/>
                </a:solidFill>
                <a:latin typeface="Calibri" pitchFamily="34" charset="0"/>
                <a:ea typeface="Calibri" pitchFamily="34" charset="-122"/>
                <a:cs typeface="Calibri" pitchFamily="34" charset="-120"/>
              </a:rPr>
              <a:t>bills via CSV/API, </a:t>
            </a:r>
            <a:pPr indent="0" marL="0">
              <a:buNone/>
            </a:pPr>
            <a:r>
              <a:rPr lang="en-US" sz="1350" b="1" dirty="0">
                <a:solidFill>
                  <a:srgbClr val="C0171D"/>
                </a:solidFill>
                <a:latin typeface="Calibri" pitchFamily="34" charset="0"/>
                <a:ea typeface="Calibri" pitchFamily="34" charset="-122"/>
                <a:cs typeface="Calibri" pitchFamily="34" charset="-120"/>
              </a:rPr>
              <a:t>auto refill orders</a:t>
            </a:r>
            <a:pPr indent="0" marL="0">
              <a:buNone/>
            </a:pPr>
            <a:r>
              <a:rPr lang="en-US" sz="1350" dirty="0">
                <a:solidFill>
                  <a:srgbClr val="111111"/>
                </a:solidFill>
                <a:latin typeface="Calibri" pitchFamily="34" charset="0"/>
                <a:ea typeface="Calibri" pitchFamily="34" charset="-122"/>
                <a:cs typeface="Calibri" pitchFamily="34" charset="-120"/>
              </a:rPr>
              <a:t>.</a:t>
            </a:r>
            <a:endParaRPr lang="en-US" sz="1350" dirty="0"/>
          </a:p>
        </p:txBody>
      </p:sp>
      <p:sp>
        <p:nvSpPr>
          <p:cNvPr id="22" name="Text 17"/>
          <p:cNvSpPr txBox="1"/>
          <p:nvPr/>
        </p:nvSpPr>
        <p:spPr>
          <a:xfrm>
            <a:off x="6263640" y="3913632"/>
            <a:ext cx="566928" cy="822960"/>
          </a:xfrm>
          <a:prstGeom prst="rect">
            <a:avLst/>
          </a:prstGeom>
          <a:noFill/>
          <a:ln/>
        </p:spPr>
        <p:txBody>
          <a:bodyPr wrap="square" lIns="0" tIns="0" rIns="0" bIns="0" rtlCol="0" anchor="ctr"/>
          <a:lstStyle/>
          <a:p>
            <a:pPr indent="0" marL="0">
              <a:buNone/>
            </a:pPr>
            <a:r>
              <a:rPr lang="en-US" sz="1300" b="1" dirty="0">
                <a:solidFill>
                  <a:srgbClr val="111111"/>
                </a:solidFill>
                <a:latin typeface="Cambria" pitchFamily="34" charset="0"/>
                <a:ea typeface="Cambria" pitchFamily="34" charset="-122"/>
                <a:cs typeface="Cambria" pitchFamily="34" charset="-120"/>
              </a:rPr>
              <a:t>USPs</a:t>
            </a:r>
            <a:endParaRPr lang="en-US" sz="1300" dirty="0"/>
          </a:p>
        </p:txBody>
      </p:sp>
      <p:sp>
        <p:nvSpPr>
          <p:cNvPr id="23" name="Shape 18"/>
          <p:cNvSpPr/>
          <p:nvPr/>
        </p:nvSpPr>
        <p:spPr>
          <a:xfrm>
            <a:off x="6830568" y="3886200"/>
            <a:ext cx="1216152" cy="868680"/>
          </a:xfrm>
          <a:prstGeom prst="roundRect">
            <a:avLst>
              <a:gd name="adj" fmla="val 5263"/>
            </a:avLst>
          </a:prstGeom>
          <a:solidFill>
            <a:srgbClr val="C6EFCE"/>
          </a:solidFill>
          <a:ln w="12700">
            <a:solidFill>
              <a:srgbClr val="2E7D32"/>
            </a:solidFill>
            <a:prstDash val="solid"/>
          </a:ln>
        </p:spPr>
      </p:sp>
      <p:sp>
        <p:nvSpPr>
          <p:cNvPr id="24" name="Text 19"/>
          <p:cNvSpPr txBox="1"/>
          <p:nvPr/>
        </p:nvSpPr>
        <p:spPr>
          <a:xfrm>
            <a:off x="6830568" y="3886200"/>
            <a:ext cx="1216152" cy="868680"/>
          </a:xfrm>
          <a:prstGeom prst="rect">
            <a:avLst/>
          </a:prstGeom>
          <a:noFill/>
          <a:ln/>
        </p:spPr>
        <p:txBody>
          <a:bodyPr wrap="square" lIns="25400" tIns="25400" rIns="25400" bIns="25400"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Real-time footfall, dwell &amp; heatmap</a:t>
            </a:r>
            <a:endParaRPr lang="en-US" sz="1000" dirty="0"/>
          </a:p>
        </p:txBody>
      </p:sp>
      <p:sp>
        <p:nvSpPr>
          <p:cNvPr id="25" name="Shape 20"/>
          <p:cNvSpPr/>
          <p:nvPr/>
        </p:nvSpPr>
        <p:spPr>
          <a:xfrm>
            <a:off x="8119872" y="3886200"/>
            <a:ext cx="1216152" cy="868680"/>
          </a:xfrm>
          <a:prstGeom prst="roundRect">
            <a:avLst>
              <a:gd name="adj" fmla="val 5263"/>
            </a:avLst>
          </a:prstGeom>
          <a:solidFill>
            <a:srgbClr val="C6EFCE"/>
          </a:solidFill>
          <a:ln w="12700">
            <a:solidFill>
              <a:srgbClr val="2E7D32"/>
            </a:solidFill>
            <a:prstDash val="solid"/>
          </a:ln>
        </p:spPr>
      </p:sp>
      <p:sp>
        <p:nvSpPr>
          <p:cNvPr id="26" name="Text 21"/>
          <p:cNvSpPr txBox="1"/>
          <p:nvPr/>
        </p:nvSpPr>
        <p:spPr>
          <a:xfrm>
            <a:off x="8119872" y="3886200"/>
            <a:ext cx="1216152" cy="868680"/>
          </a:xfrm>
          <a:prstGeom prst="rect">
            <a:avLst/>
          </a:prstGeom>
          <a:noFill/>
          <a:ln/>
        </p:spPr>
        <p:txBody>
          <a:bodyPr wrap="square" lIns="25400" tIns="25400" rIns="25400" bIns="25400"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Empty-shelf alerts in minutes</a:t>
            </a:r>
            <a:endParaRPr lang="en-US" sz="1000" dirty="0"/>
          </a:p>
        </p:txBody>
      </p:sp>
      <p:sp>
        <p:nvSpPr>
          <p:cNvPr id="27" name="Shape 22"/>
          <p:cNvSpPr/>
          <p:nvPr/>
        </p:nvSpPr>
        <p:spPr>
          <a:xfrm>
            <a:off x="9409176" y="3886200"/>
            <a:ext cx="1216152" cy="868680"/>
          </a:xfrm>
          <a:prstGeom prst="roundRect">
            <a:avLst>
              <a:gd name="adj" fmla="val 5263"/>
            </a:avLst>
          </a:prstGeom>
          <a:solidFill>
            <a:srgbClr val="C6EFCE"/>
          </a:solidFill>
          <a:ln w="12700">
            <a:solidFill>
              <a:srgbClr val="2E7D32"/>
            </a:solidFill>
            <a:prstDash val="solid"/>
          </a:ln>
        </p:spPr>
      </p:sp>
      <p:sp>
        <p:nvSpPr>
          <p:cNvPr id="28" name="Text 23"/>
          <p:cNvSpPr txBox="1"/>
          <p:nvPr/>
        </p:nvSpPr>
        <p:spPr>
          <a:xfrm>
            <a:off x="9409176" y="3886200"/>
            <a:ext cx="1216152" cy="868680"/>
          </a:xfrm>
          <a:prstGeom prst="rect">
            <a:avLst/>
          </a:prstGeom>
          <a:noFill/>
          <a:ln/>
        </p:spPr>
        <p:txBody>
          <a:bodyPr wrap="square" lIns="25400" tIns="25400" rIns="25400" bIns="25400"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15-min queue forecast + counter advice</a:t>
            </a:r>
            <a:endParaRPr lang="en-US" sz="1000" dirty="0"/>
          </a:p>
        </p:txBody>
      </p:sp>
      <p:sp>
        <p:nvSpPr>
          <p:cNvPr id="29" name="Shape 24"/>
          <p:cNvSpPr/>
          <p:nvPr/>
        </p:nvSpPr>
        <p:spPr>
          <a:xfrm>
            <a:off x="10698480" y="3886200"/>
            <a:ext cx="1216152" cy="868680"/>
          </a:xfrm>
          <a:prstGeom prst="roundRect">
            <a:avLst>
              <a:gd name="adj" fmla="val 5263"/>
            </a:avLst>
          </a:prstGeom>
          <a:solidFill>
            <a:srgbClr val="C6EFCE"/>
          </a:solidFill>
          <a:ln w="12700">
            <a:solidFill>
              <a:srgbClr val="2E7D32"/>
            </a:solidFill>
            <a:prstDash val="solid"/>
          </a:ln>
        </p:spPr>
      </p:sp>
      <p:sp>
        <p:nvSpPr>
          <p:cNvPr id="30" name="Text 25"/>
          <p:cNvSpPr txBox="1"/>
          <p:nvPr/>
        </p:nvSpPr>
        <p:spPr>
          <a:xfrm>
            <a:off x="10698480" y="3886200"/>
            <a:ext cx="1216152" cy="868680"/>
          </a:xfrm>
          <a:prstGeom prst="rect">
            <a:avLst/>
          </a:prstGeom>
          <a:noFill/>
          <a:ln/>
        </p:spPr>
        <p:txBody>
          <a:bodyPr wrap="square" lIns="25400" tIns="25400" rIns="25400" bIns="25400"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100% on-device, privacy-first</a:t>
            </a:r>
            <a:endParaRPr lang="en-US" sz="1000" dirty="0"/>
          </a:p>
        </p:txBody>
      </p:sp>
      <p:sp>
        <p:nvSpPr>
          <p:cNvPr id="31" name="Shape 26"/>
          <p:cNvSpPr/>
          <p:nvPr/>
        </p:nvSpPr>
        <p:spPr>
          <a:xfrm>
            <a:off x="6263640" y="4864608"/>
            <a:ext cx="5696712" cy="1463040"/>
          </a:xfrm>
          <a:prstGeom prst="roundRect">
            <a:avLst>
              <a:gd name="adj" fmla="val 5000"/>
            </a:avLst>
          </a:prstGeom>
          <a:solidFill>
            <a:srgbClr val="FFFFFF"/>
          </a:solidFill>
          <a:ln w="9525">
            <a:solidFill>
              <a:srgbClr val="CBD3DC"/>
            </a:solidFill>
            <a:prstDash val="solid"/>
          </a:ln>
        </p:spPr>
      </p:sp>
      <p:pic>
        <p:nvPicPr>
          <p:cNvPr id="32" name="Image 3" descr="C:\Users\itanm\OneDrive\Desktop\camera inventory\presentation\assets\ui_live.png">    </p:cNvPr>
          <p:cNvPicPr>
            <a:picLocks noChangeAspect="1"/>
          </p:cNvPicPr>
          <p:nvPr/>
        </p:nvPicPr>
        <p:blipFill>
          <a:blip r:embed="rId4"/>
          <a:stretch>
            <a:fillRect/>
          </a:stretch>
        </p:blipFill>
        <p:spPr>
          <a:xfrm>
            <a:off x="6373368" y="4956048"/>
            <a:ext cx="2048256" cy="1280160"/>
          </a:xfrm>
          <a:prstGeom prst="rect">
            <a:avLst/>
          </a:prstGeom>
        </p:spPr>
      </p:pic>
      <p:sp>
        <p:nvSpPr>
          <p:cNvPr id="33" name="Text 27"/>
          <p:cNvSpPr txBox="1"/>
          <p:nvPr/>
        </p:nvSpPr>
        <p:spPr>
          <a:xfrm>
            <a:off x="8549640" y="4919472"/>
            <a:ext cx="3337560" cy="310896"/>
          </a:xfrm>
          <a:prstGeom prst="rect">
            <a:avLst/>
          </a:prstGeom>
          <a:noFill/>
          <a:ln/>
        </p:spPr>
        <p:txBody>
          <a:bodyPr wrap="square" lIns="0" tIns="0" rIns="0" bIns="0" rtlCol="0" anchor="ctr"/>
          <a:lstStyle/>
          <a:p>
            <a:pPr indent="0" marL="0">
              <a:buNone/>
            </a:pPr>
            <a:r>
              <a:rPr lang="en-US" sz="1300" b="1" dirty="0">
                <a:solidFill>
                  <a:srgbClr val="1E6B3A"/>
                </a:solidFill>
                <a:latin typeface="Cambria" pitchFamily="34" charset="0"/>
                <a:ea typeface="Cambria" pitchFamily="34" charset="-122"/>
                <a:cs typeface="Cambria" pitchFamily="34" charset="-120"/>
              </a:rPr>
              <a:t>Prototype (working today)</a:t>
            </a:r>
            <a:endParaRPr lang="en-US" sz="1300" dirty="0"/>
          </a:p>
        </p:txBody>
      </p:sp>
      <p:sp>
        <p:nvSpPr>
          <p:cNvPr id="34" name="Text 28"/>
          <p:cNvSpPr txBox="1"/>
          <p:nvPr/>
        </p:nvSpPr>
        <p:spPr>
          <a:xfrm>
            <a:off x="8549640" y="5248656"/>
            <a:ext cx="3337560" cy="1024128"/>
          </a:xfrm>
          <a:prstGeom prst="rect">
            <a:avLst/>
          </a:prstGeom>
          <a:noFill/>
          <a:ln/>
        </p:spPr>
        <p:txBody>
          <a:bodyPr wrap="square" lIns="0" tIns="0" rIns="0" bIns="0" rtlCol="0" anchor="t"/>
          <a:lstStyle/>
          <a:p>
            <a:pPr marL="342900" indent="-342900">
              <a:spcAft>
                <a:spcPts val="200"/>
              </a:spcAft>
              <a:buSzPct val="100000"/>
              <a:buChar char="•"/>
            </a:pPr>
            <a:r>
              <a:rPr lang="en-US" sz="1050" b="1" dirty="0">
                <a:solidFill>
                  <a:srgbClr val="C0171D"/>
                </a:solidFill>
                <a:latin typeface="Calibri" pitchFamily="34" charset="0"/>
                <a:ea typeface="Calibri" pitchFamily="34" charset="-122"/>
                <a:cs typeface="Calibri" pitchFamily="34" charset="-120"/>
              </a:rPr>
              <a:t>5 live cameras</a:t>
            </a:r>
            <a:pPr indent="0" marL="0">
              <a:buNone/>
            </a:pPr>
            <a:r>
              <a:rPr lang="en-US" sz="1050" dirty="0">
                <a:solidFill>
                  <a:srgbClr val="111111"/>
                </a:solidFill>
                <a:latin typeface="Calibri" pitchFamily="34" charset="0"/>
                <a:ea typeface="Calibri" pitchFamily="34" charset="-122"/>
                <a:cs typeface="Calibri" pitchFamily="34" charset="-120"/>
              </a:rPr>
              <a:t> processed on a laptop CPU</a:t>
            </a:r>
            <a:endParaRPr lang="en-US" sz="1050" dirty="0"/>
          </a:p>
          <a:p>
            <a:pPr marL="342900" indent="-342900">
              <a:spcAft>
                <a:spcPts val="200"/>
              </a:spcAft>
              <a:buSzPct val="100000"/>
              <a:buChar char="•"/>
            </a:pPr>
            <a:r>
              <a:rPr lang="en-US" sz="1050" dirty="0">
                <a:solidFill>
                  <a:srgbClr val="111111"/>
                </a:solidFill>
                <a:latin typeface="Calibri" pitchFamily="34" charset="0"/>
                <a:ea typeface="Calibri" pitchFamily="34" charset="-122"/>
                <a:cs typeface="Calibri" pitchFamily="34" charset="-120"/>
              </a:rPr>
              <a:t>Shelf model </a:t>
            </a:r>
            <a:pPr indent="0" marL="0">
              <a:buNone/>
            </a:pPr>
            <a:r>
              <a:rPr lang="en-US" sz="1050" b="1" dirty="0">
                <a:solidFill>
                  <a:srgbClr val="C0171D"/>
                </a:solidFill>
                <a:latin typeface="Calibri" pitchFamily="34" charset="0"/>
                <a:ea typeface="Calibri" pitchFamily="34" charset="-122"/>
                <a:cs typeface="Calibri" pitchFamily="34" charset="-120"/>
              </a:rPr>
              <a:t>mAP50 0.93</a:t>
            </a:r>
            <a:pPr indent="0" marL="0">
              <a:buNone/>
            </a:pPr>
            <a:r>
              <a:rPr lang="en-US" sz="1050" dirty="0">
                <a:solidFill>
                  <a:srgbClr val="111111"/>
                </a:solidFill>
                <a:latin typeface="Calibri" pitchFamily="34" charset="0"/>
                <a:ea typeface="Calibri" pitchFamily="34" charset="-122"/>
                <a:cs typeface="Calibri" pitchFamily="34" charset="-120"/>
              </a:rPr>
              <a:t> on unseen images</a:t>
            </a:r>
            <a:endParaRPr lang="en-US" sz="1050" dirty="0"/>
          </a:p>
          <a:p>
            <a:pPr marL="342900" indent="-342900">
              <a:spcAft>
                <a:spcPts val="200"/>
              </a:spcAft>
              <a:buSzPct val="100000"/>
              <a:buChar char="•"/>
            </a:pPr>
            <a:r>
              <a:rPr lang="en-US" sz="1050" dirty="0">
                <a:solidFill>
                  <a:srgbClr val="111111"/>
                </a:solidFill>
                <a:latin typeface="Calibri" pitchFamily="34" charset="0"/>
                <a:ea typeface="Calibri" pitchFamily="34" charset="-122"/>
                <a:cs typeface="Calibri" pitchFamily="34" charset="-120"/>
              </a:rPr>
              <a:t>Dashboard, alerts, reports, </a:t>
            </a:r>
            <a:pPr indent="0" marL="0">
              <a:buNone/>
            </a:pPr>
            <a:r>
              <a:rPr lang="en-US" sz="1050" b="1" dirty="0">
                <a:solidFill>
                  <a:srgbClr val="C0171D"/>
                </a:solidFill>
                <a:latin typeface="Calibri" pitchFamily="34" charset="0"/>
                <a:ea typeface="Calibri" pitchFamily="34" charset="-122"/>
                <a:cs typeface="Calibri" pitchFamily="34" charset="-120"/>
              </a:rPr>
              <a:t>33 tests pass</a:t>
            </a:r>
            <a:endParaRPr lang="en-US" sz="1050" dirty="0"/>
          </a:p>
        </p:txBody>
      </p:sp>
      <p:sp>
        <p:nvSpPr>
          <p:cNvPr id="35" name="Shape 29"/>
          <p:cNvSpPr/>
          <p:nvPr/>
        </p:nvSpPr>
        <p:spPr>
          <a:xfrm>
            <a:off x="0" y="6419088"/>
            <a:ext cx="12191695" cy="438912"/>
          </a:xfrm>
          <a:prstGeom prst="rect">
            <a:avLst/>
          </a:prstGeom>
          <a:solidFill>
            <a:srgbClr val="D32F2F"/>
          </a:solidFill>
          <a:ln w="12700">
            <a:solidFill>
              <a:srgbClr val="D32F2F"/>
            </a:solidFill>
            <a:prstDash val="solid"/>
          </a:ln>
        </p:spPr>
      </p:sp>
      <p:sp>
        <p:nvSpPr>
          <p:cNvPr id="36" name="Text 30"/>
          <p:cNvSpPr txBox="1"/>
          <p:nvPr/>
        </p:nvSpPr>
        <p:spPr>
          <a:xfrm>
            <a:off x="0" y="6419088"/>
            <a:ext cx="12191695"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WORKING PROTOTYPE IS READY – TESTED ON REAL PUBLIC VIDEOS &amp; BENCHMARK DATASETS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7"/>
        </a:solidFill>
      </p:bgPr>
    </p:bg>
    <p:spTree>
      <p:nvGrpSpPr>
        <p:cNvPr id="1" name=""/>
        <p:cNvGrpSpPr/>
        <p:nvPr/>
      </p:nvGrpSpPr>
      <p:grpSpPr>
        <a:xfrm>
          <a:off x="0" y="0"/>
          <a:ext cx="0" cy="0"/>
          <a:chOff x="0" y="0"/>
          <a:chExt cx="0" cy="0"/>
        </a:xfrm>
      </p:grpSpPr>
      <p:sp>
        <p:nvSpPr>
          <p:cNvPr id="2" name="Shape 0"/>
          <p:cNvSpPr/>
          <p:nvPr/>
        </p:nvSpPr>
        <p:spPr>
          <a:xfrm>
            <a:off x="228600" y="109728"/>
            <a:ext cx="1234440" cy="566928"/>
          </a:xfrm>
          <a:prstGeom prst="ellipse">
            <a:avLst/>
          </a:prstGeom>
          <a:solidFill>
            <a:srgbClr val="FFFFFF"/>
          </a:solidFill>
          <a:ln w="15875">
            <a:solidFill>
              <a:srgbClr val="6B4FA0"/>
            </a:solidFill>
            <a:prstDash val="solid"/>
          </a:ln>
        </p:spPr>
      </p:sp>
      <p:sp>
        <p:nvSpPr>
          <p:cNvPr id="3" name="Text 1"/>
          <p:cNvSpPr txBox="1"/>
          <p:nvPr/>
        </p:nvSpPr>
        <p:spPr>
          <a:xfrm>
            <a:off x="228600" y="109728"/>
            <a:ext cx="1234440" cy="566928"/>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[Team Name]</a:t>
            </a:r>
            <a:endParaRPr lang="en-US" sz="1000" dirty="0"/>
          </a:p>
        </p:txBody>
      </p:sp>
      <p:sp>
        <p:nvSpPr>
          <p:cNvPr id="4" name="Text 2"/>
          <p:cNvSpPr txBox="1"/>
          <p:nvPr/>
        </p:nvSpPr>
        <p:spPr>
          <a:xfrm>
            <a:off x="1645920" y="91440"/>
            <a:ext cx="8869680" cy="640080"/>
          </a:xfrm>
          <a:prstGeom prst="rect">
            <a:avLst/>
          </a:prstGeom>
          <a:noFill/>
          <a:ln/>
        </p:spPr>
        <p:txBody>
          <a:bodyPr wrap="square" rtlCol="0" anchor="ctr"/>
          <a:lstStyle/>
          <a:p>
            <a:pPr algn="ctr" indent="0" marL="0">
              <a:buNone/>
            </a:pPr>
            <a:r>
              <a:rPr lang="en-US" sz="3000" b="1" dirty="0">
                <a:solidFill>
                  <a:srgbClr val="111111"/>
                </a:solidFill>
                <a:latin typeface="Cambria" pitchFamily="34" charset="0"/>
                <a:ea typeface="Cambria" pitchFamily="34" charset="-122"/>
                <a:cs typeface="Cambria" pitchFamily="34" charset="-120"/>
              </a:rPr>
              <a:t>Technical Approach</a:t>
            </a:r>
            <a:endParaRPr lang="en-US" sz="3000" dirty="0"/>
          </a:p>
        </p:txBody>
      </p:sp>
      <p:sp>
        <p:nvSpPr>
          <p:cNvPr id="5" name="Text 3"/>
          <p:cNvSpPr txBox="1"/>
          <p:nvPr/>
        </p:nvSpPr>
        <p:spPr>
          <a:xfrm>
            <a:off x="10378440" y="128016"/>
            <a:ext cx="1600200" cy="548640"/>
          </a:xfrm>
          <a:prstGeom prst="rect">
            <a:avLst/>
          </a:prstGeom>
          <a:noFill/>
          <a:ln/>
        </p:spPr>
        <p:txBody>
          <a:bodyPr wrap="square" lIns="0" tIns="0" rIns="0" bIns="0" rtlCol="0" anchor="ctr"/>
          <a:lstStyle/>
          <a:p>
            <a:pPr algn="r" indent="0" marL="0">
              <a:buNone/>
            </a:pPr>
            <a:r>
              <a:rPr lang="en-US" sz="1100" b="1" dirty="0">
                <a:solidFill>
                  <a:srgbClr val="333333"/>
                </a:solidFill>
                <a:latin typeface="Calibri" pitchFamily="34" charset="0"/>
                <a:ea typeface="Calibri" pitchFamily="34" charset="-122"/>
                <a:cs typeface="Calibri" pitchFamily="34" charset="-120"/>
              </a:rPr>
              <a:t>SMART INDIA</a:t>
            </a:r>
            <a:endParaRPr lang="en-US" sz="1100" dirty="0"/>
          </a:p>
          <a:p>
            <a:pPr algn="r" indent="0" marL="0">
              <a:buNone/>
            </a:pPr>
            <a:r>
              <a:rPr lang="en-US" sz="1100" b="1" dirty="0">
                <a:solidFill>
                  <a:srgbClr val="333333"/>
                </a:solidFill>
                <a:latin typeface="Calibri" pitchFamily="34" charset="0"/>
                <a:ea typeface="Calibri" pitchFamily="34" charset="-122"/>
                <a:cs typeface="Calibri" pitchFamily="34" charset="-120"/>
              </a:rPr>
              <a:t>HACKATHON 2025</a:t>
            </a:r>
            <a:endParaRPr lang="en-US" sz="1100" dirty="0"/>
          </a:p>
        </p:txBody>
      </p:sp>
      <p:sp>
        <p:nvSpPr>
          <p:cNvPr id="6" name="Shape 4"/>
          <p:cNvSpPr/>
          <p:nvPr/>
        </p:nvSpPr>
        <p:spPr>
          <a:xfrm>
            <a:off x="228600" y="868680"/>
            <a:ext cx="4343400" cy="3794760"/>
          </a:xfrm>
          <a:prstGeom prst="roundRect">
            <a:avLst>
              <a:gd name="adj" fmla="val 1928"/>
            </a:avLst>
          </a:prstGeom>
          <a:solidFill>
            <a:srgbClr val="FFFFFF"/>
          </a:solidFill>
          <a:ln w="9525">
            <a:solidFill>
              <a:srgbClr val="CBD3DC"/>
            </a:solidFill>
            <a:prstDash val="solid"/>
          </a:ln>
        </p:spPr>
      </p:sp>
      <p:sp>
        <p:nvSpPr>
          <p:cNvPr id="7" name="Shape 5"/>
          <p:cNvSpPr/>
          <p:nvPr/>
        </p:nvSpPr>
        <p:spPr>
          <a:xfrm>
            <a:off x="365760" y="960120"/>
            <a:ext cx="329184" cy="329184"/>
          </a:xfrm>
          <a:prstGeom prst="ellipse">
            <a:avLst/>
          </a:prstGeom>
          <a:solidFill>
            <a:srgbClr val="E8F1EE"/>
          </a:solidFill>
          <a:ln w="12700">
            <a:solidFill>
              <a:srgbClr val="E8F1EE"/>
            </a:solidFill>
            <a:prstDash val="solid"/>
          </a:ln>
        </p:spPr>
      </p:sp>
      <p:pic>
        <p:nvPicPr>
          <p:cNvPr id="8" name="Image 0" descr="preencoded.png">    </p:cNvPr>
          <p:cNvPicPr>
            <a:picLocks noChangeAspect="1"/>
          </p:cNvPicPr>
          <p:nvPr/>
        </p:nvPicPr>
        <p:blipFill>
          <a:blip r:embed="rId1"/>
          <a:stretch>
            <a:fillRect/>
          </a:stretch>
        </p:blipFill>
        <p:spPr>
          <a:xfrm>
            <a:off x="429768" y="1024128"/>
            <a:ext cx="201168" cy="201168"/>
          </a:xfrm>
          <a:prstGeom prst="rect">
            <a:avLst/>
          </a:prstGeom>
        </p:spPr>
      </p:pic>
      <p:sp>
        <p:nvSpPr>
          <p:cNvPr id="9" name="Text 6"/>
          <p:cNvSpPr txBox="1"/>
          <p:nvPr/>
        </p:nvSpPr>
        <p:spPr>
          <a:xfrm>
            <a:off x="777240" y="932688"/>
            <a:ext cx="3657600" cy="384048"/>
          </a:xfrm>
          <a:prstGeom prst="rect">
            <a:avLst/>
          </a:prstGeom>
          <a:noFill/>
          <a:ln/>
        </p:spPr>
        <p:txBody>
          <a:bodyPr wrap="square" lIns="0" tIns="0" rIns="0" bIns="0" rtlCol="0" anchor="ctr"/>
          <a:lstStyle/>
          <a:p>
            <a:pPr indent="0" marL="0">
              <a:buNone/>
            </a:pPr>
            <a:r>
              <a:rPr lang="en-US" sz="1600" b="1" dirty="0">
                <a:solidFill>
                  <a:srgbClr val="111111"/>
                </a:solidFill>
                <a:latin typeface="Cambria" pitchFamily="34" charset="0"/>
                <a:ea typeface="Cambria" pitchFamily="34" charset="-122"/>
                <a:cs typeface="Cambria" pitchFamily="34" charset="-120"/>
              </a:rPr>
              <a:t>Methodology</a:t>
            </a:r>
            <a:endParaRPr lang="en-US" sz="1600" dirty="0"/>
          </a:p>
        </p:txBody>
      </p:sp>
      <p:sp>
        <p:nvSpPr>
          <p:cNvPr id="10" name="Text 7"/>
          <p:cNvSpPr txBox="1"/>
          <p:nvPr/>
        </p:nvSpPr>
        <p:spPr>
          <a:xfrm>
            <a:off x="365760" y="1325880"/>
            <a:ext cx="4114800" cy="329184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b="1" dirty="0">
                <a:solidFill>
                  <a:srgbClr val="111111"/>
                </a:solidFill>
                <a:latin typeface="Calibri" pitchFamily="34" charset="0"/>
                <a:ea typeface="Calibri" pitchFamily="34" charset="-122"/>
                <a:cs typeface="Calibri" pitchFamily="34" charset="-120"/>
              </a:rPr>
              <a:t>Capture: </a:t>
            </a:r>
            <a:pPr indent="0" marL="0">
              <a:buNone/>
            </a:pPr>
            <a:r>
              <a:rPr lang="en-US" sz="1250" dirty="0">
                <a:solidFill>
                  <a:srgbClr val="111111"/>
                </a:solidFill>
                <a:latin typeface="Calibri" pitchFamily="34" charset="0"/>
                <a:ea typeface="Calibri" pitchFamily="34" charset="-122"/>
                <a:cs typeface="Calibri" pitchFamily="34" charset="-120"/>
              </a:rPr>
              <a:t>read CCTV streams (</a:t>
            </a:r>
            <a:pPr indent="0" marL="0">
              <a:buNone/>
            </a:pPr>
            <a:r>
              <a:rPr lang="en-US" sz="1250" b="1" dirty="0">
                <a:solidFill>
                  <a:srgbClr val="C0171D"/>
                </a:solidFill>
                <a:latin typeface="Calibri" pitchFamily="34" charset="0"/>
                <a:ea typeface="Calibri" pitchFamily="34" charset="-122"/>
                <a:cs typeface="Calibri" pitchFamily="34" charset="-120"/>
              </a:rPr>
              <a:t>RTSP</a:t>
            </a:r>
            <a:pPr indent="0" marL="0">
              <a:buNone/>
            </a:pPr>
            <a:r>
              <a:rPr lang="en-US" sz="1250" dirty="0">
                <a:solidFill>
                  <a:srgbClr val="111111"/>
                </a:solidFill>
                <a:latin typeface="Calibri" pitchFamily="34" charset="0"/>
                <a:ea typeface="Calibri" pitchFamily="34" charset="-122"/>
                <a:cs typeface="Calibri" pitchFamily="34" charset="-120"/>
              </a:rPr>
              <a:t>) at </a:t>
            </a:r>
            <a:pPr indent="0" marL="0">
              <a:buNone/>
            </a:pPr>
            <a:r>
              <a:rPr lang="en-US" sz="1250" b="1" dirty="0">
                <a:solidFill>
                  <a:srgbClr val="C0171D"/>
                </a:solidFill>
                <a:latin typeface="Calibri" pitchFamily="34" charset="0"/>
                <a:ea typeface="Calibri" pitchFamily="34" charset="-122"/>
                <a:cs typeface="Calibri" pitchFamily="34" charset="-120"/>
              </a:rPr>
              <a:t>3–10 FPS</a:t>
            </a:r>
            <a:pPr indent="0" marL="0">
              <a:buNone/>
            </a:pPr>
            <a:r>
              <a:rPr lang="en-US" sz="1250" dirty="0">
                <a:solidFill>
                  <a:srgbClr val="111111"/>
                </a:solidFill>
                <a:latin typeface="Calibri" pitchFamily="34" charset="0"/>
                <a:ea typeface="Calibri" pitchFamily="34" charset="-122"/>
                <a:cs typeface="Calibri" pitchFamily="34" charset="-120"/>
              </a:rPr>
              <a:t> on the in-store edge box.</a:t>
            </a:r>
            <a:endParaRPr lang="en-US" sz="1250" dirty="0"/>
          </a:p>
          <a:p>
            <a:pPr marL="342900" indent="-342900">
              <a:spcAft>
                <a:spcPts val="600"/>
              </a:spcAft>
              <a:buSzPct val="100000"/>
              <a:buFont typeface="+mj-lt"/>
              <a:buAutoNum type="arabicPeriod" startAt="1"/>
            </a:pPr>
            <a:r>
              <a:rPr lang="en-US" sz="1250" b="1" dirty="0">
                <a:solidFill>
                  <a:srgbClr val="111111"/>
                </a:solidFill>
                <a:latin typeface="Calibri" pitchFamily="34" charset="0"/>
                <a:ea typeface="Calibri" pitchFamily="34" charset="-122"/>
                <a:cs typeface="Calibri" pitchFamily="34" charset="-120"/>
              </a:rPr>
              <a:t>Detect: </a:t>
            </a:r>
            <a:pPr indent="0" marL="0">
              <a:buNone/>
            </a:pPr>
            <a:r>
              <a:rPr lang="en-US" sz="1250" b="1" dirty="0">
                <a:solidFill>
                  <a:srgbClr val="C0171D"/>
                </a:solidFill>
                <a:latin typeface="Calibri" pitchFamily="34" charset="0"/>
                <a:ea typeface="Calibri" pitchFamily="34" charset="-122"/>
                <a:cs typeface="Calibri" pitchFamily="34" charset="-120"/>
              </a:rPr>
              <a:t>YOLO11</a:t>
            </a:r>
            <a:pPr indent="0" marL="0">
              <a:buNone/>
            </a:pPr>
            <a:r>
              <a:rPr lang="en-US" sz="1250" dirty="0">
                <a:solidFill>
                  <a:srgbClr val="111111"/>
                </a:solidFill>
                <a:latin typeface="Calibri" pitchFamily="34" charset="0"/>
                <a:ea typeface="Calibri" pitchFamily="34" charset="-122"/>
                <a:cs typeface="Calibri" pitchFamily="34" charset="-120"/>
              </a:rPr>
              <a:t> finds </a:t>
            </a:r>
            <a:pPr indent="0" marL="0">
              <a:buNone/>
            </a:pPr>
            <a:r>
              <a:rPr lang="en-US" sz="1250" b="1" dirty="0">
                <a:solidFill>
                  <a:srgbClr val="C0171D"/>
                </a:solidFill>
                <a:latin typeface="Calibri" pitchFamily="34" charset="0"/>
                <a:ea typeface="Calibri" pitchFamily="34" charset="-122"/>
                <a:cs typeface="Calibri" pitchFamily="34" charset="-120"/>
              </a:rPr>
              <a:t>people</a:t>
            </a:r>
            <a:pPr indent="0" marL="0">
              <a:buNone/>
            </a:pPr>
            <a:r>
              <a:rPr lang="en-US" sz="1250" dirty="0">
                <a:solidFill>
                  <a:srgbClr val="111111"/>
                </a:solidFill>
                <a:latin typeface="Calibri" pitchFamily="34" charset="0"/>
                <a:ea typeface="Calibri" pitchFamily="34" charset="-122"/>
                <a:cs typeface="Calibri" pitchFamily="34" charset="-120"/>
              </a:rPr>
              <a:t> and </a:t>
            </a:r>
            <a:pPr indent="0" marL="0">
              <a:buNone/>
            </a:pPr>
            <a:r>
              <a:rPr lang="en-US" sz="1250" b="1" dirty="0">
                <a:solidFill>
                  <a:srgbClr val="C0171D"/>
                </a:solidFill>
                <a:latin typeface="Calibri" pitchFamily="34" charset="0"/>
                <a:ea typeface="Calibri" pitchFamily="34" charset="-122"/>
                <a:cs typeface="Calibri" pitchFamily="34" charset="-120"/>
              </a:rPr>
              <a:t>shelf products</a:t>
            </a:r>
            <a:pPr indent="0" marL="0">
              <a:buNone/>
            </a:pPr>
            <a:r>
              <a:rPr lang="en-US" sz="1250" dirty="0">
                <a:solidFill>
                  <a:srgbClr val="111111"/>
                </a:solidFill>
                <a:latin typeface="Calibri" pitchFamily="34" charset="0"/>
                <a:ea typeface="Calibri" pitchFamily="34" charset="-122"/>
                <a:cs typeface="Calibri" pitchFamily="34" charset="-120"/>
              </a:rPr>
              <a:t> (trained on </a:t>
            </a:r>
            <a:pPr indent="0" marL="0">
              <a:buNone/>
            </a:pPr>
            <a:r>
              <a:rPr lang="en-US" sz="1250" b="1" dirty="0">
                <a:solidFill>
                  <a:srgbClr val="C0171D"/>
                </a:solidFill>
                <a:latin typeface="Calibri" pitchFamily="34" charset="0"/>
                <a:ea typeface="Calibri" pitchFamily="34" charset="-122"/>
                <a:cs typeface="Calibri" pitchFamily="34" charset="-120"/>
              </a:rPr>
              <a:t>SKU-110K</a:t>
            </a:r>
            <a:pPr indent="0" marL="0">
              <a:buNone/>
            </a:pPr>
            <a:r>
              <a:rPr lang="en-US" sz="1250" dirty="0">
                <a:solidFill>
                  <a:srgbClr val="111111"/>
                </a:solidFill>
                <a:latin typeface="Calibri" pitchFamily="34" charset="0"/>
                <a:ea typeface="Calibri" pitchFamily="34" charset="-122"/>
                <a:cs typeface="Calibri" pitchFamily="34" charset="-120"/>
              </a:rPr>
              <a:t>, 11,743 shelf photos).</a:t>
            </a:r>
            <a:endParaRPr lang="en-US" sz="1250" dirty="0"/>
          </a:p>
          <a:p>
            <a:pPr marL="342900" indent="-342900">
              <a:spcAft>
                <a:spcPts val="600"/>
              </a:spcAft>
              <a:buSzPct val="100000"/>
              <a:buFont typeface="+mj-lt"/>
              <a:buAutoNum type="arabicPeriod" startAt="1"/>
            </a:pPr>
            <a:r>
              <a:rPr lang="en-US" sz="1250" b="1" dirty="0">
                <a:solidFill>
                  <a:srgbClr val="111111"/>
                </a:solidFill>
                <a:latin typeface="Calibri" pitchFamily="34" charset="0"/>
                <a:ea typeface="Calibri" pitchFamily="34" charset="-122"/>
                <a:cs typeface="Calibri" pitchFamily="34" charset="-120"/>
              </a:rPr>
              <a:t>Track: </a:t>
            </a:r>
            <a:pPr indent="0" marL="0">
              <a:buNone/>
            </a:pPr>
            <a:r>
              <a:rPr lang="en-US" sz="1250" b="1" dirty="0">
                <a:solidFill>
                  <a:srgbClr val="C0171D"/>
                </a:solidFill>
                <a:latin typeface="Calibri" pitchFamily="34" charset="0"/>
                <a:ea typeface="Calibri" pitchFamily="34" charset="-122"/>
                <a:cs typeface="Calibri" pitchFamily="34" charset="-120"/>
              </a:rPr>
              <a:t>ByteTrack</a:t>
            </a:r>
            <a:pPr indent="0" marL="0">
              <a:buNone/>
            </a:pPr>
            <a:r>
              <a:rPr lang="en-US" sz="1250" dirty="0">
                <a:solidFill>
                  <a:srgbClr val="111111"/>
                </a:solidFill>
                <a:latin typeface="Calibri" pitchFamily="34" charset="0"/>
                <a:ea typeface="Calibri" pitchFamily="34" charset="-122"/>
                <a:cs typeface="Calibri" pitchFamily="34" charset="-120"/>
              </a:rPr>
              <a:t> gives each shopper an </a:t>
            </a:r>
            <a:pPr indent="0" marL="0">
              <a:buNone/>
            </a:pPr>
            <a:r>
              <a:rPr lang="en-US" sz="1250" b="1" dirty="0">
                <a:solidFill>
                  <a:srgbClr val="C0171D"/>
                </a:solidFill>
                <a:latin typeface="Calibri" pitchFamily="34" charset="0"/>
                <a:ea typeface="Calibri" pitchFamily="34" charset="-122"/>
                <a:cs typeface="Calibri" pitchFamily="34" charset="-120"/>
              </a:rPr>
              <a:t>anonymous ID</a:t>
            </a:r>
            <a:pPr indent="0" marL="0">
              <a:buNone/>
            </a:pPr>
            <a:r>
              <a:rPr lang="en-US" sz="1250" dirty="0">
                <a:solidFill>
                  <a:srgbClr val="111111"/>
                </a:solidFill>
                <a:latin typeface="Calibri" pitchFamily="34" charset="0"/>
                <a:ea typeface="Calibri" pitchFamily="34" charset="-122"/>
                <a:cs typeface="Calibri" pitchFamily="34" charset="-120"/>
              </a:rPr>
              <a:t> (no face data).</a:t>
            </a:r>
            <a:endParaRPr lang="en-US" sz="1250" dirty="0"/>
          </a:p>
          <a:p>
            <a:pPr marL="342900" indent="-342900">
              <a:spcAft>
                <a:spcPts val="600"/>
              </a:spcAft>
              <a:buSzPct val="100000"/>
              <a:buFont typeface="+mj-lt"/>
              <a:buAutoNum type="arabicPeriod" startAt="1"/>
            </a:pPr>
            <a:r>
              <a:rPr lang="en-US" sz="1250" b="1" dirty="0">
                <a:solidFill>
                  <a:srgbClr val="111111"/>
                </a:solidFill>
                <a:latin typeface="Calibri" pitchFamily="34" charset="0"/>
                <a:ea typeface="Calibri" pitchFamily="34" charset="-122"/>
                <a:cs typeface="Calibri" pitchFamily="34" charset="-120"/>
              </a:rPr>
              <a:t>Analyse: </a:t>
            </a:r>
            <a:pPr indent="0" marL="0">
              <a:buNone/>
            </a:pPr>
            <a:r>
              <a:rPr lang="en-US" sz="1250" dirty="0">
                <a:solidFill>
                  <a:srgbClr val="111111"/>
                </a:solidFill>
                <a:latin typeface="Calibri" pitchFamily="34" charset="0"/>
                <a:ea typeface="Calibri" pitchFamily="34" charset="-122"/>
                <a:cs typeface="Calibri" pitchFamily="34" charset="-120"/>
              </a:rPr>
              <a:t>line counting, </a:t>
            </a:r>
            <a:pPr indent="0" marL="0">
              <a:buNone/>
            </a:pPr>
            <a:r>
              <a:rPr lang="en-US" sz="1250" b="1" dirty="0">
                <a:solidFill>
                  <a:srgbClr val="C0171D"/>
                </a:solidFill>
                <a:latin typeface="Calibri" pitchFamily="34" charset="0"/>
                <a:ea typeface="Calibri" pitchFamily="34" charset="-122"/>
                <a:cs typeface="Calibri" pitchFamily="34" charset="-120"/>
              </a:rPr>
              <a:t>zone dwell</a:t>
            </a:r>
            <a:pPr indent="0" marL="0">
              <a:buNone/>
            </a:pPr>
            <a:r>
              <a:rPr lang="en-US" sz="1250" dirty="0">
                <a:solidFill>
                  <a:srgbClr val="111111"/>
                </a:solidFill>
                <a:latin typeface="Calibri" pitchFamily="34" charset="0"/>
                <a:ea typeface="Calibri" pitchFamily="34" charset="-122"/>
                <a:cs typeface="Calibri" pitchFamily="34" charset="-120"/>
              </a:rPr>
              <a:t>, </a:t>
            </a:r>
            <a:pPr indent="0" marL="0">
              <a:buNone/>
            </a:pPr>
            <a:r>
              <a:rPr lang="en-US" sz="1250" b="1" dirty="0">
                <a:solidFill>
                  <a:srgbClr val="C0171D"/>
                </a:solidFill>
                <a:latin typeface="Calibri" pitchFamily="34" charset="0"/>
                <a:ea typeface="Calibri" pitchFamily="34" charset="-122"/>
                <a:cs typeface="Calibri" pitchFamily="34" charset="-120"/>
              </a:rPr>
              <a:t>heatmap</a:t>
            </a:r>
            <a:pPr indent="0" marL="0">
              <a:buNone/>
            </a:pPr>
            <a:r>
              <a:rPr lang="en-US" sz="1250" dirty="0">
                <a:solidFill>
                  <a:srgbClr val="111111"/>
                </a:solidFill>
                <a:latin typeface="Calibri" pitchFamily="34" charset="0"/>
                <a:ea typeface="Calibri" pitchFamily="34" charset="-122"/>
                <a:cs typeface="Calibri" pitchFamily="34" charset="-120"/>
              </a:rPr>
              <a:t>, queue length, </a:t>
            </a:r>
            <a:pPr indent="0" marL="0">
              <a:buNone/>
            </a:pPr>
            <a:r>
              <a:rPr lang="en-US" sz="1250" b="1" dirty="0">
                <a:solidFill>
                  <a:srgbClr val="C0171D"/>
                </a:solidFill>
                <a:latin typeface="Calibri" pitchFamily="34" charset="0"/>
                <a:ea typeface="Calibri" pitchFamily="34" charset="-122"/>
                <a:cs typeface="Calibri" pitchFamily="34" charset="-120"/>
              </a:rPr>
              <a:t>empty-slot</a:t>
            </a:r>
            <a:pPr indent="0" marL="0">
              <a:buNone/>
            </a:pPr>
            <a:r>
              <a:rPr lang="en-US" sz="1250" dirty="0">
                <a:solidFill>
                  <a:srgbClr val="111111"/>
                </a:solidFill>
                <a:latin typeface="Calibri" pitchFamily="34" charset="0"/>
                <a:ea typeface="Calibri" pitchFamily="34" charset="-122"/>
                <a:cs typeface="Calibri" pitchFamily="34" charset="-120"/>
              </a:rPr>
              <a:t> detection.</a:t>
            </a:r>
            <a:endParaRPr lang="en-US" sz="1250" dirty="0"/>
          </a:p>
          <a:p>
            <a:pPr marL="342900" indent="-342900">
              <a:spcAft>
                <a:spcPts val="600"/>
              </a:spcAft>
              <a:buSzPct val="100000"/>
              <a:buFont typeface="+mj-lt"/>
              <a:buAutoNum type="arabicPeriod" startAt="1"/>
            </a:pPr>
            <a:r>
              <a:rPr lang="en-US" sz="1250" b="1" dirty="0">
                <a:solidFill>
                  <a:srgbClr val="111111"/>
                </a:solidFill>
                <a:latin typeface="Calibri" pitchFamily="34" charset="0"/>
                <a:ea typeface="Calibri" pitchFamily="34" charset="-122"/>
                <a:cs typeface="Calibri" pitchFamily="34" charset="-120"/>
              </a:rPr>
              <a:t>Predict: </a:t>
            </a:r>
            <a:pPr indent="0" marL="0">
              <a:buNone/>
            </a:pPr>
            <a:r>
              <a:rPr lang="en-US" sz="1250" b="1" dirty="0">
                <a:solidFill>
                  <a:srgbClr val="C0171D"/>
                </a:solidFill>
                <a:latin typeface="Calibri" pitchFamily="34" charset="0"/>
                <a:ea typeface="Calibri" pitchFamily="34" charset="-122"/>
                <a:cs typeface="Calibri" pitchFamily="34" charset="-120"/>
              </a:rPr>
              <a:t>LightGBM</a:t>
            </a:r>
            <a:pPr indent="0" marL="0">
              <a:buNone/>
            </a:pPr>
            <a:r>
              <a:rPr lang="en-US" sz="1250" dirty="0">
                <a:solidFill>
                  <a:srgbClr val="111111"/>
                </a:solidFill>
                <a:latin typeface="Calibri" pitchFamily="34" charset="0"/>
                <a:ea typeface="Calibri" pitchFamily="34" charset="-122"/>
                <a:cs typeface="Calibri" pitchFamily="34" charset="-120"/>
              </a:rPr>
              <a:t> forecasts the queue </a:t>
            </a:r>
            <a:pPr indent="0" marL="0">
              <a:buNone/>
            </a:pPr>
            <a:r>
              <a:rPr lang="en-US" sz="1250" b="1" dirty="0">
                <a:solidFill>
                  <a:srgbClr val="C0171D"/>
                </a:solidFill>
                <a:latin typeface="Calibri" pitchFamily="34" charset="0"/>
                <a:ea typeface="Calibri" pitchFamily="34" charset="-122"/>
                <a:cs typeface="Calibri" pitchFamily="34" charset="-120"/>
              </a:rPr>
              <a:t>15 min ahead</a:t>
            </a:r>
            <a:pPr indent="0" marL="0">
              <a:buNone/>
            </a:pPr>
            <a:r>
              <a:rPr lang="en-US" sz="1250" dirty="0">
                <a:solidFill>
                  <a:srgbClr val="111111"/>
                </a:solidFill>
                <a:latin typeface="Calibri" pitchFamily="34" charset="0"/>
                <a:ea typeface="Calibri" pitchFamily="34" charset="-122"/>
                <a:cs typeface="Calibri" pitchFamily="34" charset="-120"/>
              </a:rPr>
              <a:t>; </a:t>
            </a:r>
            <a:pPr indent="0" marL="0">
              <a:buNone/>
            </a:pPr>
            <a:r>
              <a:rPr lang="en-US" sz="1250" b="1" dirty="0">
                <a:solidFill>
                  <a:srgbClr val="C0171D"/>
                </a:solidFill>
                <a:latin typeface="Calibri" pitchFamily="34" charset="0"/>
                <a:ea typeface="Calibri" pitchFamily="34" charset="-122"/>
                <a:cs typeface="Calibri" pitchFamily="34" charset="-120"/>
              </a:rPr>
              <a:t>Erlang-C</a:t>
            </a:r>
            <a:pPr indent="0" marL="0">
              <a:buNone/>
            </a:pPr>
            <a:r>
              <a:rPr lang="en-US" sz="1250" dirty="0">
                <a:solidFill>
                  <a:srgbClr val="111111"/>
                </a:solidFill>
                <a:latin typeface="Calibri" pitchFamily="34" charset="0"/>
                <a:ea typeface="Calibri" pitchFamily="34" charset="-122"/>
                <a:cs typeface="Calibri" pitchFamily="34" charset="-120"/>
              </a:rPr>
              <a:t> suggests counters.</a:t>
            </a:r>
            <a:endParaRPr lang="en-US" sz="1250" dirty="0"/>
          </a:p>
          <a:p>
            <a:pPr marL="342900" indent="-342900">
              <a:spcAft>
                <a:spcPts val="600"/>
              </a:spcAft>
              <a:buSzPct val="100000"/>
              <a:buFont typeface="+mj-lt"/>
              <a:buAutoNum type="arabicPeriod" startAt="1"/>
            </a:pPr>
            <a:r>
              <a:rPr lang="en-US" sz="1250" b="1" dirty="0">
                <a:solidFill>
                  <a:srgbClr val="111111"/>
                </a:solidFill>
                <a:latin typeface="Calibri" pitchFamily="34" charset="0"/>
                <a:ea typeface="Calibri" pitchFamily="34" charset="-122"/>
                <a:cs typeface="Calibri" pitchFamily="34" charset="-120"/>
              </a:rPr>
              <a:t>Act: </a:t>
            </a:r>
            <a:pPr indent="0" marL="0">
              <a:buNone/>
            </a:pPr>
            <a:r>
              <a:rPr lang="en-US" sz="1250" dirty="0">
                <a:solidFill>
                  <a:srgbClr val="111111"/>
                </a:solidFill>
                <a:latin typeface="Calibri" pitchFamily="34" charset="0"/>
                <a:ea typeface="Calibri" pitchFamily="34" charset="-122"/>
                <a:cs typeface="Calibri" pitchFamily="34" charset="-120"/>
              </a:rPr>
              <a:t>alerts + dashboard; data kept in </a:t>
            </a:r>
            <a:pPr indent="0" marL="0">
              <a:buNone/>
            </a:pPr>
            <a:r>
              <a:rPr lang="en-US" sz="1250" b="1" dirty="0">
                <a:solidFill>
                  <a:srgbClr val="C0171D"/>
                </a:solidFill>
                <a:latin typeface="Calibri" pitchFamily="34" charset="0"/>
                <a:ea typeface="Calibri" pitchFamily="34" charset="-122"/>
                <a:cs typeface="Calibri" pitchFamily="34" charset="-120"/>
              </a:rPr>
              <a:t>SQLite (offline)</a:t>
            </a:r>
            <a:pPr indent="0" marL="0">
              <a:buNone/>
            </a:pPr>
            <a:r>
              <a:rPr lang="en-US" sz="1250" dirty="0">
                <a:solidFill>
                  <a:srgbClr val="111111"/>
                </a:solidFill>
                <a:latin typeface="Calibri" pitchFamily="34" charset="0"/>
                <a:ea typeface="Calibri" pitchFamily="34" charset="-122"/>
                <a:cs typeface="Calibri" pitchFamily="34" charset="-120"/>
              </a:rPr>
              <a:t> and synced to HQ.</a:t>
            </a:r>
            <a:endParaRPr lang="en-US" sz="1250" dirty="0"/>
          </a:p>
        </p:txBody>
      </p:sp>
      <p:sp>
        <p:nvSpPr>
          <p:cNvPr id="11" name="Shape 8"/>
          <p:cNvSpPr/>
          <p:nvPr/>
        </p:nvSpPr>
        <p:spPr>
          <a:xfrm>
            <a:off x="228600" y="4754880"/>
            <a:ext cx="4343400" cy="1874520"/>
          </a:xfrm>
          <a:prstGeom prst="roundRect">
            <a:avLst>
              <a:gd name="adj" fmla="val 3902"/>
            </a:avLst>
          </a:prstGeom>
          <a:solidFill>
            <a:srgbClr val="FFFFFF"/>
          </a:solidFill>
          <a:ln w="9525">
            <a:solidFill>
              <a:srgbClr val="CBD3DC"/>
            </a:solidFill>
            <a:prstDash val="solid"/>
          </a:ln>
        </p:spPr>
      </p:sp>
      <p:sp>
        <p:nvSpPr>
          <p:cNvPr id="12" name="Shape 9"/>
          <p:cNvSpPr/>
          <p:nvPr/>
        </p:nvSpPr>
        <p:spPr>
          <a:xfrm>
            <a:off x="365760" y="4846320"/>
            <a:ext cx="329184" cy="329184"/>
          </a:xfrm>
          <a:prstGeom prst="ellipse">
            <a:avLst/>
          </a:prstGeom>
          <a:solidFill>
            <a:srgbClr val="E8F1EE"/>
          </a:solidFill>
          <a:ln w="12700">
            <a:solidFill>
              <a:srgbClr val="E8F1EE"/>
            </a:solidFill>
            <a:prstDash val="solid"/>
          </a:ln>
        </p:spPr>
      </p:sp>
      <p:pic>
        <p:nvPicPr>
          <p:cNvPr id="13" name="Image 1" descr="preencoded.png">    </p:cNvPr>
          <p:cNvPicPr>
            <a:picLocks noChangeAspect="1"/>
          </p:cNvPicPr>
          <p:nvPr/>
        </p:nvPicPr>
        <p:blipFill>
          <a:blip r:embed="rId2"/>
          <a:stretch>
            <a:fillRect/>
          </a:stretch>
        </p:blipFill>
        <p:spPr>
          <a:xfrm>
            <a:off x="429768" y="4910328"/>
            <a:ext cx="201168" cy="201168"/>
          </a:xfrm>
          <a:prstGeom prst="rect">
            <a:avLst/>
          </a:prstGeom>
        </p:spPr>
      </p:pic>
      <p:sp>
        <p:nvSpPr>
          <p:cNvPr id="14" name="Text 10"/>
          <p:cNvSpPr txBox="1"/>
          <p:nvPr/>
        </p:nvSpPr>
        <p:spPr>
          <a:xfrm>
            <a:off x="777240" y="4818888"/>
            <a:ext cx="3657600" cy="384048"/>
          </a:xfrm>
          <a:prstGeom prst="rect">
            <a:avLst/>
          </a:prstGeom>
          <a:noFill/>
          <a:ln/>
        </p:spPr>
        <p:txBody>
          <a:bodyPr wrap="square" lIns="0" tIns="0" rIns="0" bIns="0" rtlCol="0" anchor="ctr"/>
          <a:lstStyle/>
          <a:p>
            <a:pPr indent="0" marL="0">
              <a:buNone/>
            </a:pPr>
            <a:r>
              <a:rPr lang="en-US" sz="1600" b="1" dirty="0">
                <a:solidFill>
                  <a:srgbClr val="111111"/>
                </a:solidFill>
                <a:latin typeface="Cambria" pitchFamily="34" charset="0"/>
                <a:ea typeface="Cambria" pitchFamily="34" charset="-122"/>
                <a:cs typeface="Cambria" pitchFamily="34" charset="-120"/>
              </a:rPr>
              <a:t>Tech Stack</a:t>
            </a:r>
            <a:endParaRPr lang="en-US" sz="1600" dirty="0"/>
          </a:p>
        </p:txBody>
      </p:sp>
      <p:pic>
        <p:nvPicPr>
          <p:cNvPr id="15" name="Image 2" descr="preencoded.png">    </p:cNvPr>
          <p:cNvPicPr>
            <a:picLocks noChangeAspect="1"/>
          </p:cNvPicPr>
          <p:nvPr/>
        </p:nvPicPr>
        <p:blipFill>
          <a:blip r:embed="rId3"/>
          <a:stretch>
            <a:fillRect/>
          </a:stretch>
        </p:blipFill>
        <p:spPr>
          <a:xfrm>
            <a:off x="365760" y="5230368"/>
            <a:ext cx="237744" cy="237744"/>
          </a:xfrm>
          <a:prstGeom prst="rect">
            <a:avLst/>
          </a:prstGeom>
        </p:spPr>
      </p:pic>
      <p:sp>
        <p:nvSpPr>
          <p:cNvPr id="16" name="Text 11"/>
          <p:cNvSpPr txBox="1"/>
          <p:nvPr/>
        </p:nvSpPr>
        <p:spPr>
          <a:xfrm>
            <a:off x="640080" y="5193792"/>
            <a:ext cx="1097280" cy="310896"/>
          </a:xfrm>
          <a:prstGeom prst="rect">
            <a:avLst/>
          </a:prstGeom>
          <a:noFill/>
          <a:ln/>
        </p:spPr>
        <p:txBody>
          <a:bodyPr wrap="square" lIns="0" tIns="0" rIns="0" bIns="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Python</a:t>
            </a:r>
            <a:endParaRPr lang="en-US" sz="1000" dirty="0"/>
          </a:p>
        </p:txBody>
      </p:sp>
      <p:pic>
        <p:nvPicPr>
          <p:cNvPr id="17" name="Image 3" descr="preencoded.png">    </p:cNvPr>
          <p:cNvPicPr>
            <a:picLocks noChangeAspect="1"/>
          </p:cNvPicPr>
          <p:nvPr/>
        </p:nvPicPr>
        <p:blipFill>
          <a:blip r:embed="rId4"/>
          <a:stretch>
            <a:fillRect/>
          </a:stretch>
        </p:blipFill>
        <p:spPr>
          <a:xfrm>
            <a:off x="1755648" y="5230368"/>
            <a:ext cx="237744" cy="237744"/>
          </a:xfrm>
          <a:prstGeom prst="rect">
            <a:avLst/>
          </a:prstGeom>
        </p:spPr>
      </p:pic>
      <p:sp>
        <p:nvSpPr>
          <p:cNvPr id="18" name="Text 12"/>
          <p:cNvSpPr txBox="1"/>
          <p:nvPr/>
        </p:nvSpPr>
        <p:spPr>
          <a:xfrm>
            <a:off x="2029968" y="5193792"/>
            <a:ext cx="1097280" cy="310896"/>
          </a:xfrm>
          <a:prstGeom prst="rect">
            <a:avLst/>
          </a:prstGeom>
          <a:noFill/>
          <a:ln/>
        </p:spPr>
        <p:txBody>
          <a:bodyPr wrap="square" lIns="0" tIns="0" rIns="0" bIns="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PyTorch</a:t>
            </a:r>
            <a:endParaRPr lang="en-US" sz="1000" dirty="0"/>
          </a:p>
        </p:txBody>
      </p:sp>
      <p:pic>
        <p:nvPicPr>
          <p:cNvPr id="19" name="Image 4" descr="preencoded.png">    </p:cNvPr>
          <p:cNvPicPr>
            <a:picLocks noChangeAspect="1"/>
          </p:cNvPicPr>
          <p:nvPr/>
        </p:nvPicPr>
        <p:blipFill>
          <a:blip r:embed="rId5"/>
          <a:stretch>
            <a:fillRect/>
          </a:stretch>
        </p:blipFill>
        <p:spPr>
          <a:xfrm>
            <a:off x="3145536" y="5230368"/>
            <a:ext cx="237744" cy="237744"/>
          </a:xfrm>
          <a:prstGeom prst="rect">
            <a:avLst/>
          </a:prstGeom>
        </p:spPr>
      </p:pic>
      <p:sp>
        <p:nvSpPr>
          <p:cNvPr id="20" name="Text 13"/>
          <p:cNvSpPr txBox="1"/>
          <p:nvPr/>
        </p:nvSpPr>
        <p:spPr>
          <a:xfrm>
            <a:off x="3419856" y="5193792"/>
            <a:ext cx="1097280" cy="310896"/>
          </a:xfrm>
          <a:prstGeom prst="rect">
            <a:avLst/>
          </a:prstGeom>
          <a:noFill/>
          <a:ln/>
        </p:spPr>
        <p:txBody>
          <a:bodyPr wrap="square" lIns="0" tIns="0" rIns="0" bIns="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YOLO11</a:t>
            </a:r>
            <a:endParaRPr lang="en-US" sz="1000" dirty="0"/>
          </a:p>
        </p:txBody>
      </p:sp>
      <p:pic>
        <p:nvPicPr>
          <p:cNvPr id="21" name="Image 5" descr="preencoded.png">    </p:cNvPr>
          <p:cNvPicPr>
            <a:picLocks noChangeAspect="1"/>
          </p:cNvPicPr>
          <p:nvPr/>
        </p:nvPicPr>
        <p:blipFill>
          <a:blip r:embed="rId6"/>
          <a:stretch>
            <a:fillRect/>
          </a:stretch>
        </p:blipFill>
        <p:spPr>
          <a:xfrm>
            <a:off x="365760" y="5577840"/>
            <a:ext cx="237744" cy="237744"/>
          </a:xfrm>
          <a:prstGeom prst="rect">
            <a:avLst/>
          </a:prstGeom>
        </p:spPr>
      </p:pic>
      <p:sp>
        <p:nvSpPr>
          <p:cNvPr id="22" name="Text 14"/>
          <p:cNvSpPr txBox="1"/>
          <p:nvPr/>
        </p:nvSpPr>
        <p:spPr>
          <a:xfrm>
            <a:off x="640080" y="5541264"/>
            <a:ext cx="1097280" cy="310896"/>
          </a:xfrm>
          <a:prstGeom prst="rect">
            <a:avLst/>
          </a:prstGeom>
          <a:noFill/>
          <a:ln/>
        </p:spPr>
        <p:txBody>
          <a:bodyPr wrap="square" lIns="0" tIns="0" rIns="0" bIns="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OpenCV</a:t>
            </a:r>
            <a:endParaRPr lang="en-US" sz="1000" dirty="0"/>
          </a:p>
        </p:txBody>
      </p:sp>
      <p:pic>
        <p:nvPicPr>
          <p:cNvPr id="23" name="Image 6" descr="preencoded.png">    </p:cNvPr>
          <p:cNvPicPr>
            <a:picLocks noChangeAspect="1"/>
          </p:cNvPicPr>
          <p:nvPr/>
        </p:nvPicPr>
        <p:blipFill>
          <a:blip r:embed="rId7"/>
          <a:stretch>
            <a:fillRect/>
          </a:stretch>
        </p:blipFill>
        <p:spPr>
          <a:xfrm>
            <a:off x="1755648" y="5577840"/>
            <a:ext cx="237744" cy="237744"/>
          </a:xfrm>
          <a:prstGeom prst="rect">
            <a:avLst/>
          </a:prstGeom>
        </p:spPr>
      </p:pic>
      <p:sp>
        <p:nvSpPr>
          <p:cNvPr id="24" name="Text 15"/>
          <p:cNvSpPr txBox="1"/>
          <p:nvPr/>
        </p:nvSpPr>
        <p:spPr>
          <a:xfrm>
            <a:off x="2029968" y="5541264"/>
            <a:ext cx="1097280" cy="310896"/>
          </a:xfrm>
          <a:prstGeom prst="rect">
            <a:avLst/>
          </a:prstGeom>
          <a:noFill/>
          <a:ln/>
        </p:spPr>
        <p:txBody>
          <a:bodyPr wrap="square" lIns="0" tIns="0" rIns="0" bIns="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ONNX</a:t>
            </a:r>
            <a:endParaRPr lang="en-US" sz="1000" dirty="0"/>
          </a:p>
        </p:txBody>
      </p:sp>
      <p:pic>
        <p:nvPicPr>
          <p:cNvPr id="25" name="Image 7" descr="preencoded.png">    </p:cNvPr>
          <p:cNvPicPr>
            <a:picLocks noChangeAspect="1"/>
          </p:cNvPicPr>
          <p:nvPr/>
        </p:nvPicPr>
        <p:blipFill>
          <a:blip r:embed="rId8"/>
          <a:stretch>
            <a:fillRect/>
          </a:stretch>
        </p:blipFill>
        <p:spPr>
          <a:xfrm>
            <a:off x="3145536" y="5577840"/>
            <a:ext cx="237744" cy="237744"/>
          </a:xfrm>
          <a:prstGeom prst="rect">
            <a:avLst/>
          </a:prstGeom>
        </p:spPr>
      </p:pic>
      <p:sp>
        <p:nvSpPr>
          <p:cNvPr id="26" name="Text 16"/>
          <p:cNvSpPr txBox="1"/>
          <p:nvPr/>
        </p:nvSpPr>
        <p:spPr>
          <a:xfrm>
            <a:off x="3419856" y="5541264"/>
            <a:ext cx="1097280" cy="310896"/>
          </a:xfrm>
          <a:prstGeom prst="rect">
            <a:avLst/>
          </a:prstGeom>
          <a:noFill/>
          <a:ln/>
        </p:spPr>
        <p:txBody>
          <a:bodyPr wrap="square" lIns="0" tIns="0" rIns="0" bIns="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LightGBM / sklearn</a:t>
            </a:r>
            <a:endParaRPr lang="en-US" sz="1000" dirty="0"/>
          </a:p>
        </p:txBody>
      </p:sp>
      <p:pic>
        <p:nvPicPr>
          <p:cNvPr id="27" name="Image 8" descr="preencoded.png">    </p:cNvPr>
          <p:cNvPicPr>
            <a:picLocks noChangeAspect="1"/>
          </p:cNvPicPr>
          <p:nvPr/>
        </p:nvPicPr>
        <p:blipFill>
          <a:blip r:embed="rId9"/>
          <a:stretch>
            <a:fillRect/>
          </a:stretch>
        </p:blipFill>
        <p:spPr>
          <a:xfrm>
            <a:off x="365760" y="5925312"/>
            <a:ext cx="237744" cy="237744"/>
          </a:xfrm>
          <a:prstGeom prst="rect">
            <a:avLst/>
          </a:prstGeom>
        </p:spPr>
      </p:pic>
      <p:sp>
        <p:nvSpPr>
          <p:cNvPr id="28" name="Text 17"/>
          <p:cNvSpPr txBox="1"/>
          <p:nvPr/>
        </p:nvSpPr>
        <p:spPr>
          <a:xfrm>
            <a:off x="640080" y="5888736"/>
            <a:ext cx="1097280" cy="310896"/>
          </a:xfrm>
          <a:prstGeom prst="rect">
            <a:avLst/>
          </a:prstGeom>
          <a:noFill/>
          <a:ln/>
        </p:spPr>
        <p:txBody>
          <a:bodyPr wrap="square" lIns="0" tIns="0" rIns="0" bIns="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FastAPI</a:t>
            </a:r>
            <a:endParaRPr lang="en-US" sz="1000" dirty="0"/>
          </a:p>
        </p:txBody>
      </p:sp>
      <p:pic>
        <p:nvPicPr>
          <p:cNvPr id="29" name="Image 9" descr="preencoded.png">    </p:cNvPr>
          <p:cNvPicPr>
            <a:picLocks noChangeAspect="1"/>
          </p:cNvPicPr>
          <p:nvPr/>
        </p:nvPicPr>
        <p:blipFill>
          <a:blip r:embed="rId10"/>
          <a:stretch>
            <a:fillRect/>
          </a:stretch>
        </p:blipFill>
        <p:spPr>
          <a:xfrm>
            <a:off x="1755648" y="5925312"/>
            <a:ext cx="237744" cy="237744"/>
          </a:xfrm>
          <a:prstGeom prst="rect">
            <a:avLst/>
          </a:prstGeom>
        </p:spPr>
      </p:pic>
      <p:sp>
        <p:nvSpPr>
          <p:cNvPr id="30" name="Text 18"/>
          <p:cNvSpPr txBox="1"/>
          <p:nvPr/>
        </p:nvSpPr>
        <p:spPr>
          <a:xfrm>
            <a:off x="2029968" y="5888736"/>
            <a:ext cx="1097280" cy="310896"/>
          </a:xfrm>
          <a:prstGeom prst="rect">
            <a:avLst/>
          </a:prstGeom>
          <a:noFill/>
          <a:ln/>
        </p:spPr>
        <p:txBody>
          <a:bodyPr wrap="square" lIns="0" tIns="0" rIns="0" bIns="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SQLite</a:t>
            </a:r>
            <a:endParaRPr lang="en-US" sz="1000" dirty="0"/>
          </a:p>
        </p:txBody>
      </p:sp>
      <p:pic>
        <p:nvPicPr>
          <p:cNvPr id="31" name="Image 10" descr="preencoded.png">    </p:cNvPr>
          <p:cNvPicPr>
            <a:picLocks noChangeAspect="1"/>
          </p:cNvPicPr>
          <p:nvPr/>
        </p:nvPicPr>
        <p:blipFill>
          <a:blip r:embed="rId11"/>
          <a:stretch>
            <a:fillRect/>
          </a:stretch>
        </p:blipFill>
        <p:spPr>
          <a:xfrm>
            <a:off x="3145536" y="5925312"/>
            <a:ext cx="237744" cy="237744"/>
          </a:xfrm>
          <a:prstGeom prst="rect">
            <a:avLst/>
          </a:prstGeom>
        </p:spPr>
      </p:pic>
      <p:sp>
        <p:nvSpPr>
          <p:cNvPr id="32" name="Text 19"/>
          <p:cNvSpPr txBox="1"/>
          <p:nvPr/>
        </p:nvSpPr>
        <p:spPr>
          <a:xfrm>
            <a:off x="3419856" y="5888736"/>
            <a:ext cx="1097280" cy="310896"/>
          </a:xfrm>
          <a:prstGeom prst="rect">
            <a:avLst/>
          </a:prstGeom>
          <a:noFill/>
          <a:ln/>
        </p:spPr>
        <p:txBody>
          <a:bodyPr wrap="square" lIns="0" tIns="0" rIns="0" bIns="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Docker</a:t>
            </a:r>
            <a:endParaRPr lang="en-US" sz="1000" dirty="0"/>
          </a:p>
        </p:txBody>
      </p:sp>
      <p:pic>
        <p:nvPicPr>
          <p:cNvPr id="33" name="Image 11" descr="preencoded.png">    </p:cNvPr>
          <p:cNvPicPr>
            <a:picLocks noChangeAspect="1"/>
          </p:cNvPicPr>
          <p:nvPr/>
        </p:nvPicPr>
        <p:blipFill>
          <a:blip r:embed="rId12"/>
          <a:stretch>
            <a:fillRect/>
          </a:stretch>
        </p:blipFill>
        <p:spPr>
          <a:xfrm>
            <a:off x="365760" y="6272784"/>
            <a:ext cx="237744" cy="237744"/>
          </a:xfrm>
          <a:prstGeom prst="rect">
            <a:avLst/>
          </a:prstGeom>
        </p:spPr>
      </p:pic>
      <p:sp>
        <p:nvSpPr>
          <p:cNvPr id="34" name="Text 20"/>
          <p:cNvSpPr txBox="1"/>
          <p:nvPr/>
        </p:nvSpPr>
        <p:spPr>
          <a:xfrm>
            <a:off x="640080" y="6236208"/>
            <a:ext cx="1097280" cy="310896"/>
          </a:xfrm>
          <a:prstGeom prst="rect">
            <a:avLst/>
          </a:prstGeom>
          <a:noFill/>
          <a:ln/>
        </p:spPr>
        <p:txBody>
          <a:bodyPr wrap="square" lIns="0" tIns="0" rIns="0" bIns="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JS Dashboard</a:t>
            </a:r>
            <a:endParaRPr lang="en-US" sz="1000" dirty="0"/>
          </a:p>
        </p:txBody>
      </p:sp>
      <p:pic>
        <p:nvPicPr>
          <p:cNvPr id="35" name="Image 12" descr="preencoded.png">    </p:cNvPr>
          <p:cNvPicPr>
            <a:picLocks noChangeAspect="1"/>
          </p:cNvPicPr>
          <p:nvPr/>
        </p:nvPicPr>
        <p:blipFill>
          <a:blip r:embed="rId13"/>
          <a:stretch>
            <a:fillRect/>
          </a:stretch>
        </p:blipFill>
        <p:spPr>
          <a:xfrm>
            <a:off x="1755648" y="6272784"/>
            <a:ext cx="237744" cy="237744"/>
          </a:xfrm>
          <a:prstGeom prst="rect">
            <a:avLst/>
          </a:prstGeom>
        </p:spPr>
      </p:pic>
      <p:sp>
        <p:nvSpPr>
          <p:cNvPr id="36" name="Text 21"/>
          <p:cNvSpPr txBox="1"/>
          <p:nvPr/>
        </p:nvSpPr>
        <p:spPr>
          <a:xfrm>
            <a:off x="2029968" y="6236208"/>
            <a:ext cx="1097280" cy="310896"/>
          </a:xfrm>
          <a:prstGeom prst="rect">
            <a:avLst/>
          </a:prstGeom>
          <a:noFill/>
          <a:ln/>
        </p:spPr>
        <p:txBody>
          <a:bodyPr wrap="square" lIns="0" tIns="0" rIns="0" bIns="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Colab T4 GPU</a:t>
            </a:r>
            <a:endParaRPr lang="en-US" sz="1000" dirty="0"/>
          </a:p>
        </p:txBody>
      </p:sp>
      <p:pic>
        <p:nvPicPr>
          <p:cNvPr id="37" name="Image 13" descr="preencoded.png">    </p:cNvPr>
          <p:cNvPicPr>
            <a:picLocks noChangeAspect="1"/>
          </p:cNvPicPr>
          <p:nvPr/>
        </p:nvPicPr>
        <p:blipFill>
          <a:blip r:embed="rId14"/>
          <a:stretch>
            <a:fillRect/>
          </a:stretch>
        </p:blipFill>
        <p:spPr>
          <a:xfrm>
            <a:off x="3145536" y="6272784"/>
            <a:ext cx="237744" cy="237744"/>
          </a:xfrm>
          <a:prstGeom prst="rect">
            <a:avLst/>
          </a:prstGeom>
        </p:spPr>
      </p:pic>
      <p:sp>
        <p:nvSpPr>
          <p:cNvPr id="38" name="Text 22"/>
          <p:cNvSpPr txBox="1"/>
          <p:nvPr/>
        </p:nvSpPr>
        <p:spPr>
          <a:xfrm>
            <a:off x="3419856" y="6236208"/>
            <a:ext cx="1097280" cy="310896"/>
          </a:xfrm>
          <a:prstGeom prst="rect">
            <a:avLst/>
          </a:prstGeom>
          <a:noFill/>
          <a:ln/>
        </p:spPr>
        <p:txBody>
          <a:bodyPr wrap="square" lIns="0" tIns="0" rIns="0" bIns="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Pandas</a:t>
            </a:r>
            <a:endParaRPr lang="en-US" sz="1000" dirty="0"/>
          </a:p>
        </p:txBody>
      </p:sp>
      <p:sp>
        <p:nvSpPr>
          <p:cNvPr id="39" name="Text 23"/>
          <p:cNvSpPr txBox="1"/>
          <p:nvPr/>
        </p:nvSpPr>
        <p:spPr>
          <a:xfrm>
            <a:off x="4709160" y="841248"/>
            <a:ext cx="3886200" cy="310896"/>
          </a:xfrm>
          <a:prstGeom prst="rect">
            <a:avLst/>
          </a:prstGeom>
          <a:noFill/>
          <a:ln/>
        </p:spPr>
        <p:txBody>
          <a:bodyPr wrap="square" lIns="0" tIns="0" rIns="0" bIns="0" rtlCol="0" anchor="ctr"/>
          <a:lstStyle/>
          <a:p>
            <a:pPr indent="0" marL="0">
              <a:buNone/>
            </a:pPr>
            <a:r>
              <a:rPr lang="en-US" sz="1400" b="1" dirty="0">
                <a:solidFill>
                  <a:srgbClr val="111111"/>
                </a:solidFill>
                <a:latin typeface="Cambria" pitchFamily="34" charset="0"/>
                <a:ea typeface="Cambria" pitchFamily="34" charset="-122"/>
                <a:cs typeface="Cambria" pitchFamily="34" charset="-120"/>
              </a:rPr>
              <a:t>User Interface (store dashboard)</a:t>
            </a:r>
            <a:endParaRPr lang="en-US" sz="1400" dirty="0"/>
          </a:p>
        </p:txBody>
      </p:sp>
      <p:pic>
        <p:nvPicPr>
          <p:cNvPr id="40" name="Image 14" descr="C:\Users\itanm\OneDrive\Desktop\camera inventory\presentation\assets\ui_overview.png">    </p:cNvPr>
          <p:cNvPicPr>
            <a:picLocks noChangeAspect="1"/>
          </p:cNvPicPr>
          <p:nvPr/>
        </p:nvPicPr>
        <p:blipFill>
          <a:blip r:embed="rId15"/>
          <a:stretch>
            <a:fillRect/>
          </a:stretch>
        </p:blipFill>
        <p:spPr>
          <a:xfrm>
            <a:off x="4709160" y="1170432"/>
            <a:ext cx="3886200" cy="2432304"/>
          </a:xfrm>
          <a:prstGeom prst="rect">
            <a:avLst/>
          </a:prstGeom>
          <a:effectLst>
            <a:outerShdw sx="100000" sy="100000" kx="0" ky="0" algn="bl" rotWithShape="0" blurRad="76200" dist="25400" dir="5400000">
              <a:srgbClr val="000000">
                <a:alpha val="20000"/>
              </a:srgbClr>
            </a:outerShdw>
          </a:effectLst>
        </p:spPr>
      </p:pic>
      <p:sp>
        <p:nvSpPr>
          <p:cNvPr id="41" name="Text 24"/>
          <p:cNvSpPr txBox="1"/>
          <p:nvPr/>
        </p:nvSpPr>
        <p:spPr>
          <a:xfrm>
            <a:off x="4709160" y="3703320"/>
            <a:ext cx="3886200" cy="310896"/>
          </a:xfrm>
          <a:prstGeom prst="rect">
            <a:avLst/>
          </a:prstGeom>
          <a:noFill/>
          <a:ln/>
        </p:spPr>
        <p:txBody>
          <a:bodyPr wrap="square" lIns="0" tIns="0" rIns="0" bIns="0" rtlCol="0" anchor="ctr"/>
          <a:lstStyle/>
          <a:p>
            <a:pPr indent="0" marL="0">
              <a:buNone/>
            </a:pPr>
            <a:r>
              <a:rPr lang="en-US" sz="1400" b="1" dirty="0">
                <a:solidFill>
                  <a:srgbClr val="111111"/>
                </a:solidFill>
                <a:latin typeface="Cambria" pitchFamily="34" charset="0"/>
                <a:ea typeface="Cambria" pitchFamily="34" charset="-122"/>
                <a:cs typeface="Cambria" pitchFamily="34" charset="-120"/>
              </a:rPr>
              <a:t>Live Cameras (edge AI output, privacy-blurred)</a:t>
            </a:r>
            <a:endParaRPr lang="en-US" sz="1400" dirty="0"/>
          </a:p>
        </p:txBody>
      </p:sp>
      <p:pic>
        <p:nvPicPr>
          <p:cNvPr id="42" name="Image 15" descr="C:\Users\itanm\OneDrive\Desktop\camera inventory\presentation\assets\ui_live.png">    </p:cNvPr>
          <p:cNvPicPr>
            <a:picLocks noChangeAspect="1"/>
          </p:cNvPicPr>
          <p:nvPr/>
        </p:nvPicPr>
        <p:blipFill>
          <a:blip r:embed="rId16"/>
          <a:stretch>
            <a:fillRect/>
          </a:stretch>
        </p:blipFill>
        <p:spPr>
          <a:xfrm>
            <a:off x="4709160" y="4032504"/>
            <a:ext cx="3886200" cy="2432304"/>
          </a:xfrm>
          <a:prstGeom prst="rect">
            <a:avLst/>
          </a:prstGeom>
          <a:effectLst>
            <a:outerShdw sx="100000" sy="100000" kx="0" ky="0" algn="bl" rotWithShape="0" blurRad="76200" dist="25400" dir="5400000">
              <a:srgbClr val="000000">
                <a:alpha val="20000"/>
              </a:srgbClr>
            </a:outerShdw>
          </a:effectLst>
        </p:spPr>
      </p:pic>
      <p:sp>
        <p:nvSpPr>
          <p:cNvPr id="43" name="Shape 25"/>
          <p:cNvSpPr/>
          <p:nvPr/>
        </p:nvSpPr>
        <p:spPr>
          <a:xfrm>
            <a:off x="8732520" y="868680"/>
            <a:ext cx="3227832" cy="5760720"/>
          </a:xfrm>
          <a:prstGeom prst="roundRect">
            <a:avLst>
              <a:gd name="adj" fmla="val 2266"/>
            </a:avLst>
          </a:prstGeom>
          <a:solidFill>
            <a:srgbClr val="FFFFFF"/>
          </a:solidFill>
          <a:ln w="9525">
            <a:solidFill>
              <a:srgbClr val="CBD3DC"/>
            </a:solidFill>
            <a:prstDash val="solid"/>
          </a:ln>
        </p:spPr>
      </p:sp>
      <p:sp>
        <p:nvSpPr>
          <p:cNvPr id="44" name="Shape 26"/>
          <p:cNvSpPr/>
          <p:nvPr/>
        </p:nvSpPr>
        <p:spPr>
          <a:xfrm>
            <a:off x="8869680" y="960120"/>
            <a:ext cx="329184" cy="329184"/>
          </a:xfrm>
          <a:prstGeom prst="ellipse">
            <a:avLst/>
          </a:prstGeom>
          <a:solidFill>
            <a:srgbClr val="E8F1EE"/>
          </a:solidFill>
          <a:ln w="12700">
            <a:solidFill>
              <a:srgbClr val="E8F1EE"/>
            </a:solidFill>
            <a:prstDash val="solid"/>
          </a:ln>
        </p:spPr>
      </p:sp>
      <p:pic>
        <p:nvPicPr>
          <p:cNvPr id="45" name="Image 16" descr="preencoded.png">    </p:cNvPr>
          <p:cNvPicPr>
            <a:picLocks noChangeAspect="1"/>
          </p:cNvPicPr>
          <p:nvPr/>
        </p:nvPicPr>
        <p:blipFill>
          <a:blip r:embed="rId17"/>
          <a:stretch>
            <a:fillRect/>
          </a:stretch>
        </p:blipFill>
        <p:spPr>
          <a:xfrm>
            <a:off x="8933688" y="1024128"/>
            <a:ext cx="201168" cy="201168"/>
          </a:xfrm>
          <a:prstGeom prst="rect">
            <a:avLst/>
          </a:prstGeom>
        </p:spPr>
      </p:pic>
      <p:sp>
        <p:nvSpPr>
          <p:cNvPr id="46" name="Text 27"/>
          <p:cNvSpPr txBox="1"/>
          <p:nvPr/>
        </p:nvSpPr>
        <p:spPr>
          <a:xfrm>
            <a:off x="9281160" y="932688"/>
            <a:ext cx="2542032" cy="384048"/>
          </a:xfrm>
          <a:prstGeom prst="rect">
            <a:avLst/>
          </a:prstGeom>
          <a:noFill/>
          <a:ln/>
        </p:spPr>
        <p:txBody>
          <a:bodyPr wrap="square" lIns="0" tIns="0" rIns="0" bIns="0" rtlCol="0" anchor="ctr"/>
          <a:lstStyle/>
          <a:p>
            <a:pPr indent="0" marL="0">
              <a:buNone/>
            </a:pPr>
            <a:r>
              <a:rPr lang="en-US" sz="1600" b="1" dirty="0">
                <a:solidFill>
                  <a:srgbClr val="111111"/>
                </a:solidFill>
                <a:latin typeface="Cambria" pitchFamily="34" charset="0"/>
                <a:ea typeface="Cambria" pitchFamily="34" charset="-122"/>
                <a:cs typeface="Cambria" pitchFamily="34" charset="-120"/>
              </a:rPr>
              <a:t>Implementation Flow</a:t>
            </a:r>
            <a:endParaRPr lang="en-US" sz="1600" dirty="0"/>
          </a:p>
        </p:txBody>
      </p:sp>
      <p:sp>
        <p:nvSpPr>
          <p:cNvPr id="47" name="Shape 28"/>
          <p:cNvSpPr/>
          <p:nvPr/>
        </p:nvSpPr>
        <p:spPr>
          <a:xfrm>
            <a:off x="8869680" y="1371600"/>
            <a:ext cx="694944" cy="457200"/>
          </a:xfrm>
          <a:prstGeom prst="roundRect">
            <a:avLst>
              <a:gd name="adj" fmla="val 10000"/>
            </a:avLst>
          </a:prstGeom>
          <a:solidFill>
            <a:srgbClr val="E3F2FD"/>
          </a:solidFill>
          <a:ln w="12700">
            <a:solidFill>
              <a:srgbClr val="1976D2"/>
            </a:solidFill>
            <a:prstDash val="solid"/>
          </a:ln>
        </p:spPr>
      </p:sp>
      <p:sp>
        <p:nvSpPr>
          <p:cNvPr id="48" name="Text 29"/>
          <p:cNvSpPr txBox="1"/>
          <p:nvPr/>
        </p:nvSpPr>
        <p:spPr>
          <a:xfrm>
            <a:off x="8869680" y="1371600"/>
            <a:ext cx="694944" cy="457200"/>
          </a:xfrm>
          <a:prstGeom prst="rect">
            <a:avLst/>
          </a:prstGeom>
          <a:noFill/>
          <a:ln/>
        </p:spPr>
        <p:txBody>
          <a:bodyPr wrap="square" lIns="25400" tIns="25400" rIns="25400" bIns="25400" rtlCol="0" anchor="ctr"/>
          <a:lstStyle/>
          <a:p>
            <a:pPr algn="ctr" indent="0" marL="0">
              <a:buNone/>
            </a:pPr>
            <a:r>
              <a:rPr lang="en-US" sz="850" b="1" dirty="0">
                <a:solidFill>
                  <a:srgbClr val="111111"/>
                </a:solidFill>
                <a:latin typeface="Calibri" pitchFamily="34" charset="0"/>
                <a:ea typeface="Calibri" pitchFamily="34" charset="-122"/>
                <a:cs typeface="Calibri" pitchFamily="34" charset="-120"/>
              </a:rPr>
              <a:t>Entrance cam</a:t>
            </a:r>
            <a:endParaRPr lang="en-US" sz="850" dirty="0"/>
          </a:p>
        </p:txBody>
      </p:sp>
      <p:sp>
        <p:nvSpPr>
          <p:cNvPr id="49" name="Shape 30"/>
          <p:cNvSpPr/>
          <p:nvPr/>
        </p:nvSpPr>
        <p:spPr>
          <a:xfrm>
            <a:off x="9614916" y="1371600"/>
            <a:ext cx="694944" cy="457200"/>
          </a:xfrm>
          <a:prstGeom prst="roundRect">
            <a:avLst>
              <a:gd name="adj" fmla="val 10000"/>
            </a:avLst>
          </a:prstGeom>
          <a:solidFill>
            <a:srgbClr val="E3F2FD"/>
          </a:solidFill>
          <a:ln w="12700">
            <a:solidFill>
              <a:srgbClr val="1976D2"/>
            </a:solidFill>
            <a:prstDash val="solid"/>
          </a:ln>
        </p:spPr>
      </p:sp>
      <p:sp>
        <p:nvSpPr>
          <p:cNvPr id="50" name="Text 31"/>
          <p:cNvSpPr txBox="1"/>
          <p:nvPr/>
        </p:nvSpPr>
        <p:spPr>
          <a:xfrm>
            <a:off x="9614916" y="1371600"/>
            <a:ext cx="694944" cy="457200"/>
          </a:xfrm>
          <a:prstGeom prst="rect">
            <a:avLst/>
          </a:prstGeom>
          <a:noFill/>
          <a:ln/>
        </p:spPr>
        <p:txBody>
          <a:bodyPr wrap="square" lIns="25400" tIns="25400" rIns="25400" bIns="25400" rtlCol="0" anchor="ctr"/>
          <a:lstStyle/>
          <a:p>
            <a:pPr algn="ctr" indent="0" marL="0">
              <a:buNone/>
            </a:pPr>
            <a:r>
              <a:rPr lang="en-US" sz="850" b="1" dirty="0">
                <a:solidFill>
                  <a:srgbClr val="111111"/>
                </a:solidFill>
                <a:latin typeface="Calibri" pitchFamily="34" charset="0"/>
                <a:ea typeface="Calibri" pitchFamily="34" charset="-122"/>
                <a:cs typeface="Calibri" pitchFamily="34" charset="-120"/>
              </a:rPr>
              <a:t>Floor cam</a:t>
            </a:r>
            <a:endParaRPr lang="en-US" sz="850" dirty="0"/>
          </a:p>
        </p:txBody>
      </p:sp>
      <p:sp>
        <p:nvSpPr>
          <p:cNvPr id="51" name="Shape 32"/>
          <p:cNvSpPr/>
          <p:nvPr/>
        </p:nvSpPr>
        <p:spPr>
          <a:xfrm>
            <a:off x="10360152" y="1371600"/>
            <a:ext cx="694944" cy="457200"/>
          </a:xfrm>
          <a:prstGeom prst="roundRect">
            <a:avLst>
              <a:gd name="adj" fmla="val 10000"/>
            </a:avLst>
          </a:prstGeom>
          <a:solidFill>
            <a:srgbClr val="E3F2FD"/>
          </a:solidFill>
          <a:ln w="12700">
            <a:solidFill>
              <a:srgbClr val="1976D2"/>
            </a:solidFill>
            <a:prstDash val="solid"/>
          </a:ln>
        </p:spPr>
      </p:sp>
      <p:sp>
        <p:nvSpPr>
          <p:cNvPr id="52" name="Text 33"/>
          <p:cNvSpPr txBox="1"/>
          <p:nvPr/>
        </p:nvSpPr>
        <p:spPr>
          <a:xfrm>
            <a:off x="10360152" y="1371600"/>
            <a:ext cx="694944" cy="457200"/>
          </a:xfrm>
          <a:prstGeom prst="rect">
            <a:avLst/>
          </a:prstGeom>
          <a:noFill/>
          <a:ln/>
        </p:spPr>
        <p:txBody>
          <a:bodyPr wrap="square" lIns="25400" tIns="25400" rIns="25400" bIns="25400" rtlCol="0" anchor="ctr"/>
          <a:lstStyle/>
          <a:p>
            <a:pPr algn="ctr" indent="0" marL="0">
              <a:buNone/>
            </a:pPr>
            <a:r>
              <a:rPr lang="en-US" sz="850" b="1" dirty="0">
                <a:solidFill>
                  <a:srgbClr val="111111"/>
                </a:solidFill>
                <a:latin typeface="Calibri" pitchFamily="34" charset="0"/>
                <a:ea typeface="Calibri" pitchFamily="34" charset="-122"/>
                <a:cs typeface="Calibri" pitchFamily="34" charset="-120"/>
              </a:rPr>
              <a:t>Checkout cam</a:t>
            </a:r>
            <a:endParaRPr lang="en-US" sz="850" dirty="0"/>
          </a:p>
        </p:txBody>
      </p:sp>
      <p:sp>
        <p:nvSpPr>
          <p:cNvPr id="53" name="Shape 34"/>
          <p:cNvSpPr/>
          <p:nvPr/>
        </p:nvSpPr>
        <p:spPr>
          <a:xfrm>
            <a:off x="11105388" y="1371600"/>
            <a:ext cx="694944" cy="457200"/>
          </a:xfrm>
          <a:prstGeom prst="roundRect">
            <a:avLst>
              <a:gd name="adj" fmla="val 10000"/>
            </a:avLst>
          </a:prstGeom>
          <a:solidFill>
            <a:srgbClr val="E3F2FD"/>
          </a:solidFill>
          <a:ln w="12700">
            <a:solidFill>
              <a:srgbClr val="1976D2"/>
            </a:solidFill>
            <a:prstDash val="solid"/>
          </a:ln>
        </p:spPr>
      </p:sp>
      <p:sp>
        <p:nvSpPr>
          <p:cNvPr id="54" name="Text 35"/>
          <p:cNvSpPr txBox="1"/>
          <p:nvPr/>
        </p:nvSpPr>
        <p:spPr>
          <a:xfrm>
            <a:off x="11105388" y="1371600"/>
            <a:ext cx="694944" cy="457200"/>
          </a:xfrm>
          <a:prstGeom prst="rect">
            <a:avLst/>
          </a:prstGeom>
          <a:noFill/>
          <a:ln/>
        </p:spPr>
        <p:txBody>
          <a:bodyPr wrap="square" lIns="25400" tIns="25400" rIns="25400" bIns="25400" rtlCol="0" anchor="ctr"/>
          <a:lstStyle/>
          <a:p>
            <a:pPr algn="ctr" indent="0" marL="0">
              <a:buNone/>
            </a:pPr>
            <a:r>
              <a:rPr lang="en-US" sz="850" b="1" dirty="0">
                <a:solidFill>
                  <a:srgbClr val="111111"/>
                </a:solidFill>
                <a:latin typeface="Calibri" pitchFamily="34" charset="0"/>
                <a:ea typeface="Calibri" pitchFamily="34" charset="-122"/>
                <a:cs typeface="Calibri" pitchFamily="34" charset="-120"/>
              </a:rPr>
              <a:t>Shelf cam</a:t>
            </a:r>
            <a:endParaRPr lang="en-US" sz="850" dirty="0"/>
          </a:p>
        </p:txBody>
      </p:sp>
      <p:sp>
        <p:nvSpPr>
          <p:cNvPr id="55" name="Shape 36"/>
          <p:cNvSpPr/>
          <p:nvPr/>
        </p:nvSpPr>
        <p:spPr>
          <a:xfrm>
            <a:off x="10346436" y="1847088"/>
            <a:ext cx="0" cy="210312"/>
          </a:xfrm>
          <a:prstGeom prst="line">
            <a:avLst/>
          </a:prstGeom>
          <a:noFill/>
          <a:ln w="15875">
            <a:solidFill>
              <a:srgbClr val="555555"/>
            </a:solidFill>
            <a:prstDash val="solid"/>
            <a:tailEnd type="triangle"/>
          </a:ln>
        </p:spPr>
      </p:sp>
      <p:sp>
        <p:nvSpPr>
          <p:cNvPr id="56" name="Shape 37"/>
          <p:cNvSpPr/>
          <p:nvPr/>
        </p:nvSpPr>
        <p:spPr>
          <a:xfrm>
            <a:off x="9189720" y="2075688"/>
            <a:ext cx="2313432" cy="384048"/>
          </a:xfrm>
          <a:prstGeom prst="roundRect">
            <a:avLst>
              <a:gd name="adj" fmla="val 11905"/>
            </a:avLst>
          </a:prstGeom>
          <a:solidFill>
            <a:srgbClr val="F5F5F5"/>
          </a:solidFill>
          <a:ln w="12700">
            <a:solidFill>
              <a:srgbClr val="757575"/>
            </a:solidFill>
            <a:prstDash val="solid"/>
          </a:ln>
        </p:spPr>
      </p:sp>
      <p:sp>
        <p:nvSpPr>
          <p:cNvPr id="57" name="Text 38"/>
          <p:cNvSpPr txBox="1"/>
          <p:nvPr/>
        </p:nvSpPr>
        <p:spPr>
          <a:xfrm>
            <a:off x="9189720" y="2075688"/>
            <a:ext cx="2313432" cy="384048"/>
          </a:xfrm>
          <a:prstGeom prst="rect">
            <a:avLst/>
          </a:prstGeom>
          <a:noFill/>
          <a:ln/>
        </p:spPr>
        <p:txBody>
          <a:bodyPr wrap="square" lIns="25400" tIns="25400" rIns="25400" bIns="25400" rtlCol="0" anchor="ctr"/>
          <a:lstStyle/>
          <a:p>
            <a:pPr algn="ctr" indent="0" marL="0">
              <a:buNone/>
            </a:pPr>
            <a:r>
              <a:rPr lang="en-US" sz="950" b="1" dirty="0">
                <a:solidFill>
                  <a:srgbClr val="111111"/>
                </a:solidFill>
                <a:latin typeface="Calibri" pitchFamily="34" charset="0"/>
                <a:ea typeface="Calibri" pitchFamily="34" charset="-122"/>
                <a:cs typeface="Calibri" pitchFamily="34" charset="-120"/>
              </a:rPr>
              <a:t>Frame sampler (3–10 FPS)</a:t>
            </a:r>
            <a:endParaRPr lang="en-US" sz="950" dirty="0"/>
          </a:p>
        </p:txBody>
      </p:sp>
      <p:sp>
        <p:nvSpPr>
          <p:cNvPr id="58" name="Shape 39"/>
          <p:cNvSpPr/>
          <p:nvPr/>
        </p:nvSpPr>
        <p:spPr>
          <a:xfrm>
            <a:off x="10346436" y="2478024"/>
            <a:ext cx="0" cy="210312"/>
          </a:xfrm>
          <a:prstGeom prst="line">
            <a:avLst/>
          </a:prstGeom>
          <a:noFill/>
          <a:ln w="15875">
            <a:solidFill>
              <a:srgbClr val="555555"/>
            </a:solidFill>
            <a:prstDash val="solid"/>
            <a:tailEnd type="triangle"/>
          </a:ln>
        </p:spPr>
      </p:sp>
      <p:sp>
        <p:nvSpPr>
          <p:cNvPr id="59" name="Shape 40"/>
          <p:cNvSpPr/>
          <p:nvPr/>
        </p:nvSpPr>
        <p:spPr>
          <a:xfrm>
            <a:off x="9006840" y="2706624"/>
            <a:ext cx="2679192" cy="420624"/>
          </a:xfrm>
          <a:prstGeom prst="roundRect">
            <a:avLst>
              <a:gd name="adj" fmla="val 10870"/>
            </a:avLst>
          </a:prstGeom>
          <a:solidFill>
            <a:srgbClr val="FFF3E0"/>
          </a:solidFill>
          <a:ln w="12700">
            <a:solidFill>
              <a:srgbClr val="E8761B"/>
            </a:solidFill>
            <a:prstDash val="solid"/>
          </a:ln>
        </p:spPr>
      </p:sp>
      <p:sp>
        <p:nvSpPr>
          <p:cNvPr id="60" name="Text 41"/>
          <p:cNvSpPr txBox="1"/>
          <p:nvPr/>
        </p:nvSpPr>
        <p:spPr>
          <a:xfrm>
            <a:off x="9006840" y="2706624"/>
            <a:ext cx="2679192" cy="420624"/>
          </a:xfrm>
          <a:prstGeom prst="rect">
            <a:avLst/>
          </a:prstGeom>
          <a:noFill/>
          <a:ln/>
        </p:spPr>
        <p:txBody>
          <a:bodyPr wrap="square" lIns="25400" tIns="25400" rIns="25400" bIns="25400" rtlCol="0" anchor="ctr"/>
          <a:lstStyle/>
          <a:p>
            <a:pPr algn="ctr" indent="0" marL="0">
              <a:buNone/>
            </a:pPr>
            <a:r>
              <a:rPr lang="en-US" sz="950" b="1" dirty="0">
                <a:solidFill>
                  <a:srgbClr val="111111"/>
                </a:solidFill>
                <a:latin typeface="Calibri" pitchFamily="34" charset="0"/>
                <a:ea typeface="Calibri" pitchFamily="34" charset="-122"/>
                <a:cs typeface="Calibri" pitchFamily="34" charset="-120"/>
              </a:rPr>
              <a:t>Edge AI: YOLO11 detect + ByteTrack</a:t>
            </a:r>
            <a:endParaRPr lang="en-US" sz="950" dirty="0"/>
          </a:p>
        </p:txBody>
      </p:sp>
      <p:sp>
        <p:nvSpPr>
          <p:cNvPr id="61" name="Shape 42"/>
          <p:cNvSpPr/>
          <p:nvPr/>
        </p:nvSpPr>
        <p:spPr>
          <a:xfrm>
            <a:off x="9363456" y="3145536"/>
            <a:ext cx="0" cy="219456"/>
          </a:xfrm>
          <a:prstGeom prst="line">
            <a:avLst/>
          </a:prstGeom>
          <a:noFill/>
          <a:ln w="15875">
            <a:solidFill>
              <a:srgbClr val="555555"/>
            </a:solidFill>
            <a:prstDash val="solid"/>
            <a:tailEnd type="triangle"/>
          </a:ln>
        </p:spPr>
      </p:sp>
      <p:sp>
        <p:nvSpPr>
          <p:cNvPr id="62" name="Shape 43"/>
          <p:cNvSpPr/>
          <p:nvPr/>
        </p:nvSpPr>
        <p:spPr>
          <a:xfrm>
            <a:off x="10346436" y="3145536"/>
            <a:ext cx="0" cy="219456"/>
          </a:xfrm>
          <a:prstGeom prst="line">
            <a:avLst/>
          </a:prstGeom>
          <a:noFill/>
          <a:ln w="15875">
            <a:solidFill>
              <a:srgbClr val="555555"/>
            </a:solidFill>
            <a:prstDash val="solid"/>
            <a:tailEnd type="triangle"/>
          </a:ln>
        </p:spPr>
      </p:sp>
      <p:sp>
        <p:nvSpPr>
          <p:cNvPr id="63" name="Shape 44"/>
          <p:cNvSpPr/>
          <p:nvPr/>
        </p:nvSpPr>
        <p:spPr>
          <a:xfrm>
            <a:off x="11329416" y="3145536"/>
            <a:ext cx="0" cy="219456"/>
          </a:xfrm>
          <a:prstGeom prst="line">
            <a:avLst/>
          </a:prstGeom>
          <a:noFill/>
          <a:ln w="15875">
            <a:solidFill>
              <a:srgbClr val="555555"/>
            </a:solidFill>
            <a:prstDash val="solid"/>
            <a:tailEnd type="triangle"/>
          </a:ln>
        </p:spPr>
      </p:sp>
      <p:sp>
        <p:nvSpPr>
          <p:cNvPr id="64" name="Shape 45"/>
          <p:cNvSpPr/>
          <p:nvPr/>
        </p:nvSpPr>
        <p:spPr>
          <a:xfrm>
            <a:off x="8869680" y="3383280"/>
            <a:ext cx="941832" cy="548640"/>
          </a:xfrm>
          <a:prstGeom prst="roundRect">
            <a:avLst>
              <a:gd name="adj" fmla="val 8333"/>
            </a:avLst>
          </a:prstGeom>
          <a:solidFill>
            <a:srgbClr val="E8F5E9"/>
          </a:solidFill>
          <a:ln w="12700">
            <a:solidFill>
              <a:srgbClr val="2E7D32"/>
            </a:solidFill>
            <a:prstDash val="solid"/>
          </a:ln>
        </p:spPr>
      </p:sp>
      <p:sp>
        <p:nvSpPr>
          <p:cNvPr id="65" name="Text 46"/>
          <p:cNvSpPr txBox="1"/>
          <p:nvPr/>
        </p:nvSpPr>
        <p:spPr>
          <a:xfrm>
            <a:off x="8869680" y="3383280"/>
            <a:ext cx="941832" cy="548640"/>
          </a:xfrm>
          <a:prstGeom prst="rect">
            <a:avLst/>
          </a:prstGeom>
          <a:noFill/>
          <a:ln/>
        </p:spPr>
        <p:txBody>
          <a:bodyPr wrap="square" lIns="25400" tIns="25400" rIns="25400" bIns="25400" rtlCol="0" anchor="ctr"/>
          <a:lstStyle/>
          <a:p>
            <a:pPr algn="ctr" indent="0" marL="0">
              <a:buNone/>
            </a:pPr>
            <a:r>
              <a:rPr lang="en-US" sz="850" b="1" dirty="0">
                <a:solidFill>
                  <a:srgbClr val="111111"/>
                </a:solidFill>
                <a:latin typeface="Calibri" pitchFamily="34" charset="0"/>
                <a:ea typeface="Calibri" pitchFamily="34" charset="-122"/>
                <a:cs typeface="Calibri" pitchFamily="34" charset="-120"/>
              </a:rPr>
              <a:t>Footfall, dwell, heatmap</a:t>
            </a:r>
            <a:endParaRPr lang="en-US" sz="850" dirty="0"/>
          </a:p>
        </p:txBody>
      </p:sp>
      <p:sp>
        <p:nvSpPr>
          <p:cNvPr id="66" name="Shape 47"/>
          <p:cNvSpPr/>
          <p:nvPr/>
        </p:nvSpPr>
        <p:spPr>
          <a:xfrm>
            <a:off x="9866376" y="3383280"/>
            <a:ext cx="941832" cy="548640"/>
          </a:xfrm>
          <a:prstGeom prst="roundRect">
            <a:avLst>
              <a:gd name="adj" fmla="val 8333"/>
            </a:avLst>
          </a:prstGeom>
          <a:solidFill>
            <a:srgbClr val="E8F5E9"/>
          </a:solidFill>
          <a:ln w="12700">
            <a:solidFill>
              <a:srgbClr val="2E7D32"/>
            </a:solidFill>
            <a:prstDash val="solid"/>
          </a:ln>
        </p:spPr>
      </p:sp>
      <p:sp>
        <p:nvSpPr>
          <p:cNvPr id="67" name="Text 48"/>
          <p:cNvSpPr txBox="1"/>
          <p:nvPr/>
        </p:nvSpPr>
        <p:spPr>
          <a:xfrm>
            <a:off x="9866376" y="3383280"/>
            <a:ext cx="941832" cy="548640"/>
          </a:xfrm>
          <a:prstGeom prst="rect">
            <a:avLst/>
          </a:prstGeom>
          <a:noFill/>
          <a:ln/>
        </p:spPr>
        <p:txBody>
          <a:bodyPr wrap="square" lIns="25400" tIns="25400" rIns="25400" bIns="25400" rtlCol="0" anchor="ctr"/>
          <a:lstStyle/>
          <a:p>
            <a:pPr algn="ctr" indent="0" marL="0">
              <a:buNone/>
            </a:pPr>
            <a:r>
              <a:rPr lang="en-US" sz="850" b="1" dirty="0">
                <a:solidFill>
                  <a:srgbClr val="111111"/>
                </a:solidFill>
                <a:latin typeface="Calibri" pitchFamily="34" charset="0"/>
                <a:ea typeface="Calibri" pitchFamily="34" charset="-122"/>
                <a:cs typeface="Calibri" pitchFamily="34" charset="-120"/>
              </a:rPr>
              <a:t>Queue + 15-min forecast</a:t>
            </a:r>
            <a:endParaRPr lang="en-US" sz="850" dirty="0"/>
          </a:p>
        </p:txBody>
      </p:sp>
      <p:sp>
        <p:nvSpPr>
          <p:cNvPr id="68" name="Shape 49"/>
          <p:cNvSpPr/>
          <p:nvPr/>
        </p:nvSpPr>
        <p:spPr>
          <a:xfrm>
            <a:off x="10863072" y="3383280"/>
            <a:ext cx="941832" cy="548640"/>
          </a:xfrm>
          <a:prstGeom prst="roundRect">
            <a:avLst>
              <a:gd name="adj" fmla="val 8333"/>
            </a:avLst>
          </a:prstGeom>
          <a:solidFill>
            <a:srgbClr val="E8F5E9"/>
          </a:solidFill>
          <a:ln w="12700">
            <a:solidFill>
              <a:srgbClr val="2E7D32"/>
            </a:solidFill>
            <a:prstDash val="solid"/>
          </a:ln>
        </p:spPr>
      </p:sp>
      <p:sp>
        <p:nvSpPr>
          <p:cNvPr id="69" name="Text 50"/>
          <p:cNvSpPr txBox="1"/>
          <p:nvPr/>
        </p:nvSpPr>
        <p:spPr>
          <a:xfrm>
            <a:off x="10863072" y="3383280"/>
            <a:ext cx="941832" cy="548640"/>
          </a:xfrm>
          <a:prstGeom prst="rect">
            <a:avLst/>
          </a:prstGeom>
          <a:noFill/>
          <a:ln/>
        </p:spPr>
        <p:txBody>
          <a:bodyPr wrap="square" lIns="25400" tIns="25400" rIns="25400" bIns="25400" rtlCol="0" anchor="ctr"/>
          <a:lstStyle/>
          <a:p>
            <a:pPr algn="ctr" indent="0" marL="0">
              <a:buNone/>
            </a:pPr>
            <a:r>
              <a:rPr lang="en-US" sz="850" b="1" dirty="0">
                <a:solidFill>
                  <a:srgbClr val="111111"/>
                </a:solidFill>
                <a:latin typeface="Calibri" pitchFamily="34" charset="0"/>
                <a:ea typeface="Calibri" pitchFamily="34" charset="-122"/>
                <a:cs typeface="Calibri" pitchFamily="34" charset="-120"/>
              </a:rPr>
              <a:t>Shelf empty slots</a:t>
            </a:r>
            <a:endParaRPr lang="en-US" sz="850" dirty="0"/>
          </a:p>
        </p:txBody>
      </p:sp>
      <p:sp>
        <p:nvSpPr>
          <p:cNvPr id="70" name="Shape 51"/>
          <p:cNvSpPr/>
          <p:nvPr/>
        </p:nvSpPr>
        <p:spPr>
          <a:xfrm>
            <a:off x="10346436" y="3950208"/>
            <a:ext cx="0" cy="182880"/>
          </a:xfrm>
          <a:prstGeom prst="line">
            <a:avLst/>
          </a:prstGeom>
          <a:noFill/>
          <a:ln w="15875">
            <a:solidFill>
              <a:srgbClr val="555555"/>
            </a:solidFill>
            <a:prstDash val="solid"/>
            <a:tailEnd type="triangle"/>
          </a:ln>
        </p:spPr>
      </p:sp>
      <p:sp>
        <p:nvSpPr>
          <p:cNvPr id="71" name="Shape 52"/>
          <p:cNvSpPr/>
          <p:nvPr/>
        </p:nvSpPr>
        <p:spPr>
          <a:xfrm>
            <a:off x="9614916" y="4151376"/>
            <a:ext cx="1463040" cy="658368"/>
          </a:xfrm>
          <a:prstGeom prst="diamond">
            <a:avLst/>
          </a:prstGeom>
          <a:solidFill>
            <a:srgbClr val="EDE7F6"/>
          </a:solidFill>
          <a:ln w="12700">
            <a:solidFill>
              <a:srgbClr val="6B4FA0"/>
            </a:solidFill>
            <a:prstDash val="solid"/>
          </a:ln>
        </p:spPr>
      </p:sp>
      <p:sp>
        <p:nvSpPr>
          <p:cNvPr id="72" name="Text 53"/>
          <p:cNvSpPr txBox="1"/>
          <p:nvPr/>
        </p:nvSpPr>
        <p:spPr>
          <a:xfrm>
            <a:off x="9614916" y="4151376"/>
            <a:ext cx="1463040" cy="658368"/>
          </a:xfrm>
          <a:prstGeom prst="rect">
            <a:avLst/>
          </a:prstGeom>
          <a:noFill/>
          <a:ln/>
        </p:spPr>
        <p:txBody>
          <a:bodyPr wrap="square" lIns="25400" tIns="25400" rIns="25400" bIns="25400" rtlCol="0" anchor="ctr"/>
          <a:lstStyle/>
          <a:p>
            <a:pPr algn="ctr" indent="0" marL="0">
              <a:buNone/>
            </a:pPr>
            <a:r>
              <a:rPr lang="en-US" sz="950" b="1" dirty="0">
                <a:solidFill>
                  <a:srgbClr val="111111"/>
                </a:solidFill>
                <a:latin typeface="Calibri" pitchFamily="34" charset="0"/>
                <a:ea typeface="Calibri" pitchFamily="34" charset="-122"/>
                <a:cs typeface="Calibri" pitchFamily="34" charset="-120"/>
              </a:rPr>
              <a:t>Issue found?</a:t>
            </a:r>
            <a:endParaRPr lang="en-US" sz="950" dirty="0"/>
          </a:p>
        </p:txBody>
      </p:sp>
      <p:sp>
        <p:nvSpPr>
          <p:cNvPr id="73" name="Shape 54"/>
          <p:cNvSpPr/>
          <p:nvPr/>
        </p:nvSpPr>
        <p:spPr>
          <a:xfrm>
            <a:off x="11077956" y="4480560"/>
            <a:ext cx="274320" cy="0"/>
          </a:xfrm>
          <a:prstGeom prst="line">
            <a:avLst/>
          </a:prstGeom>
          <a:noFill/>
          <a:ln w="15875">
            <a:solidFill>
              <a:srgbClr val="555555"/>
            </a:solidFill>
            <a:prstDash val="solid"/>
            <a:tailEnd type="triangle"/>
          </a:ln>
        </p:spPr>
      </p:sp>
      <p:sp>
        <p:nvSpPr>
          <p:cNvPr id="74" name="Shape 55"/>
          <p:cNvSpPr/>
          <p:nvPr/>
        </p:nvSpPr>
        <p:spPr>
          <a:xfrm>
            <a:off x="11219688" y="4224528"/>
            <a:ext cx="603504" cy="530352"/>
          </a:xfrm>
          <a:prstGeom prst="roundRect">
            <a:avLst>
              <a:gd name="adj" fmla="val 8621"/>
            </a:avLst>
          </a:prstGeom>
          <a:solidFill>
            <a:srgbClr val="FDECEA"/>
          </a:solidFill>
          <a:ln w="12700">
            <a:solidFill>
              <a:srgbClr val="C0171D"/>
            </a:solidFill>
            <a:prstDash val="solid"/>
          </a:ln>
        </p:spPr>
      </p:sp>
      <p:sp>
        <p:nvSpPr>
          <p:cNvPr id="75" name="Text 56"/>
          <p:cNvSpPr txBox="1"/>
          <p:nvPr/>
        </p:nvSpPr>
        <p:spPr>
          <a:xfrm>
            <a:off x="11219688" y="4224528"/>
            <a:ext cx="603504" cy="530352"/>
          </a:xfrm>
          <a:prstGeom prst="rect">
            <a:avLst/>
          </a:prstGeom>
          <a:noFill/>
          <a:ln/>
        </p:spPr>
        <p:txBody>
          <a:bodyPr wrap="square" lIns="25400" tIns="25400" rIns="25400" bIns="25400" rtlCol="0" anchor="ctr"/>
          <a:lstStyle/>
          <a:p>
            <a:pPr algn="ctr" indent="0" marL="0">
              <a:buNone/>
            </a:pPr>
            <a:r>
              <a:rPr lang="en-US" sz="850" b="1" dirty="0">
                <a:solidFill>
                  <a:srgbClr val="111111"/>
                </a:solidFill>
                <a:latin typeface="Calibri" pitchFamily="34" charset="0"/>
                <a:ea typeface="Calibri" pitchFamily="34" charset="-122"/>
                <a:cs typeface="Calibri" pitchFamily="34" charset="-120"/>
              </a:rPr>
              <a:t>Alert staff</a:t>
            </a:r>
            <a:endParaRPr lang="en-US" sz="850" dirty="0"/>
          </a:p>
        </p:txBody>
      </p:sp>
      <p:sp>
        <p:nvSpPr>
          <p:cNvPr id="76" name="Text 57"/>
          <p:cNvSpPr txBox="1"/>
          <p:nvPr/>
        </p:nvSpPr>
        <p:spPr>
          <a:xfrm>
            <a:off x="11059668" y="4224528"/>
            <a:ext cx="365760" cy="219456"/>
          </a:xfrm>
          <a:prstGeom prst="rect">
            <a:avLst/>
          </a:prstGeom>
          <a:noFill/>
          <a:ln/>
        </p:spPr>
        <p:txBody>
          <a:bodyPr wrap="square" lIns="0" tIns="0" rIns="0" bIns="0" rtlCol="0" anchor="ctr"/>
          <a:lstStyle/>
          <a:p>
            <a:pPr indent="0" marL="0">
              <a:buNone/>
            </a:pPr>
            <a:r>
              <a:rPr lang="en-US" sz="800" b="1" dirty="0">
                <a:solidFill>
                  <a:srgbClr val="C0171D"/>
                </a:solidFill>
                <a:latin typeface="Calibri" pitchFamily="34" charset="0"/>
                <a:ea typeface="Calibri" pitchFamily="34" charset="-122"/>
                <a:cs typeface="Calibri" pitchFamily="34" charset="-120"/>
              </a:rPr>
              <a:t>Yes</a:t>
            </a:r>
            <a:endParaRPr lang="en-US" sz="800" dirty="0"/>
          </a:p>
        </p:txBody>
      </p:sp>
      <p:sp>
        <p:nvSpPr>
          <p:cNvPr id="77" name="Shape 58"/>
          <p:cNvSpPr/>
          <p:nvPr/>
        </p:nvSpPr>
        <p:spPr>
          <a:xfrm>
            <a:off x="10346436" y="4818888"/>
            <a:ext cx="0" cy="201168"/>
          </a:xfrm>
          <a:prstGeom prst="line">
            <a:avLst/>
          </a:prstGeom>
          <a:noFill/>
          <a:ln w="15875">
            <a:solidFill>
              <a:srgbClr val="555555"/>
            </a:solidFill>
            <a:prstDash val="solid"/>
            <a:tailEnd type="triangle"/>
          </a:ln>
        </p:spPr>
      </p:sp>
      <p:sp>
        <p:nvSpPr>
          <p:cNvPr id="78" name="Text 59"/>
          <p:cNvSpPr txBox="1"/>
          <p:nvPr/>
        </p:nvSpPr>
        <p:spPr>
          <a:xfrm>
            <a:off x="10392156" y="4809744"/>
            <a:ext cx="731520" cy="201168"/>
          </a:xfrm>
          <a:prstGeom prst="rect">
            <a:avLst/>
          </a:prstGeom>
          <a:noFill/>
          <a:ln/>
        </p:spPr>
        <p:txBody>
          <a:bodyPr wrap="square" lIns="0" tIns="0" rIns="0" bIns="0" rtlCol="0" anchor="ctr"/>
          <a:lstStyle/>
          <a:p>
            <a:pPr indent="0" marL="0">
              <a:buNone/>
            </a:pPr>
            <a:r>
              <a:rPr lang="en-US" sz="800" b="1" dirty="0">
                <a:solidFill>
                  <a:srgbClr val="4A5560"/>
                </a:solidFill>
                <a:latin typeface="Calibri" pitchFamily="34" charset="0"/>
                <a:ea typeface="Calibri" pitchFamily="34" charset="-122"/>
                <a:cs typeface="Calibri" pitchFamily="34" charset="-120"/>
              </a:rPr>
              <a:t>No / log</a:t>
            </a:r>
            <a:endParaRPr lang="en-US" sz="800" dirty="0"/>
          </a:p>
        </p:txBody>
      </p:sp>
      <p:sp>
        <p:nvSpPr>
          <p:cNvPr id="79" name="Shape 60"/>
          <p:cNvSpPr/>
          <p:nvPr/>
        </p:nvSpPr>
        <p:spPr>
          <a:xfrm>
            <a:off x="9189720" y="5038344"/>
            <a:ext cx="2313432" cy="365760"/>
          </a:xfrm>
          <a:prstGeom prst="roundRect">
            <a:avLst>
              <a:gd name="adj" fmla="val 12500"/>
            </a:avLst>
          </a:prstGeom>
          <a:solidFill>
            <a:srgbClr val="F5F5F5"/>
          </a:solidFill>
          <a:ln w="12700">
            <a:solidFill>
              <a:srgbClr val="757575"/>
            </a:solidFill>
            <a:prstDash val="solid"/>
          </a:ln>
        </p:spPr>
      </p:sp>
      <p:sp>
        <p:nvSpPr>
          <p:cNvPr id="80" name="Text 61"/>
          <p:cNvSpPr txBox="1"/>
          <p:nvPr/>
        </p:nvSpPr>
        <p:spPr>
          <a:xfrm>
            <a:off x="9189720" y="5038344"/>
            <a:ext cx="2313432" cy="365760"/>
          </a:xfrm>
          <a:prstGeom prst="rect">
            <a:avLst/>
          </a:prstGeom>
          <a:noFill/>
          <a:ln/>
        </p:spPr>
        <p:txBody>
          <a:bodyPr wrap="square" lIns="25400" tIns="25400" rIns="25400" bIns="25400" rtlCol="0" anchor="ctr"/>
          <a:lstStyle/>
          <a:p>
            <a:pPr algn="ctr" indent="0" marL="0">
              <a:buNone/>
            </a:pPr>
            <a:r>
              <a:rPr lang="en-US" sz="950" b="1" dirty="0">
                <a:solidFill>
                  <a:srgbClr val="111111"/>
                </a:solidFill>
                <a:latin typeface="Calibri" pitchFamily="34" charset="0"/>
                <a:ea typeface="Calibri" pitchFamily="34" charset="-122"/>
                <a:cs typeface="Calibri" pitchFamily="34" charset="-120"/>
              </a:rPr>
              <a:t>Local DB (SQLite, offline)</a:t>
            </a:r>
            <a:endParaRPr lang="en-US" sz="950" dirty="0"/>
          </a:p>
        </p:txBody>
      </p:sp>
      <p:sp>
        <p:nvSpPr>
          <p:cNvPr id="81" name="Shape 62"/>
          <p:cNvSpPr/>
          <p:nvPr/>
        </p:nvSpPr>
        <p:spPr>
          <a:xfrm>
            <a:off x="10346436" y="5422392"/>
            <a:ext cx="0" cy="182880"/>
          </a:xfrm>
          <a:prstGeom prst="line">
            <a:avLst/>
          </a:prstGeom>
          <a:noFill/>
          <a:ln w="15875">
            <a:solidFill>
              <a:srgbClr val="555555"/>
            </a:solidFill>
            <a:prstDash val="solid"/>
            <a:tailEnd type="triangle"/>
          </a:ln>
        </p:spPr>
      </p:sp>
      <p:sp>
        <p:nvSpPr>
          <p:cNvPr id="82" name="Shape 63"/>
          <p:cNvSpPr/>
          <p:nvPr/>
        </p:nvSpPr>
        <p:spPr>
          <a:xfrm>
            <a:off x="9189720" y="5623560"/>
            <a:ext cx="2313432" cy="365760"/>
          </a:xfrm>
          <a:prstGeom prst="roundRect">
            <a:avLst>
              <a:gd name="adj" fmla="val 12500"/>
            </a:avLst>
          </a:prstGeom>
          <a:solidFill>
            <a:srgbClr val="E3F2FD"/>
          </a:solidFill>
          <a:ln w="12700">
            <a:solidFill>
              <a:srgbClr val="1976D2"/>
            </a:solidFill>
            <a:prstDash val="solid"/>
          </a:ln>
        </p:spPr>
      </p:sp>
      <p:sp>
        <p:nvSpPr>
          <p:cNvPr id="83" name="Text 64"/>
          <p:cNvSpPr txBox="1"/>
          <p:nvPr/>
        </p:nvSpPr>
        <p:spPr>
          <a:xfrm>
            <a:off x="9189720" y="5623560"/>
            <a:ext cx="2313432" cy="365760"/>
          </a:xfrm>
          <a:prstGeom prst="rect">
            <a:avLst/>
          </a:prstGeom>
          <a:noFill/>
          <a:ln/>
        </p:spPr>
        <p:txBody>
          <a:bodyPr wrap="square" lIns="25400" tIns="25400" rIns="25400" bIns="25400" rtlCol="0" anchor="ctr"/>
          <a:lstStyle/>
          <a:p>
            <a:pPr algn="ctr" indent="0" marL="0">
              <a:buNone/>
            </a:pPr>
            <a:r>
              <a:rPr lang="en-US" sz="950" b="1" dirty="0">
                <a:solidFill>
                  <a:srgbClr val="111111"/>
                </a:solidFill>
                <a:latin typeface="Calibri" pitchFamily="34" charset="0"/>
                <a:ea typeface="Calibri" pitchFamily="34" charset="-122"/>
                <a:cs typeface="Calibri" pitchFamily="34" charset="-120"/>
              </a:rPr>
              <a:t>Dashboard &amp; reports</a:t>
            </a:r>
            <a:endParaRPr lang="en-US" sz="950" dirty="0"/>
          </a:p>
        </p:txBody>
      </p:sp>
      <p:sp>
        <p:nvSpPr>
          <p:cNvPr id="84" name="Shape 65"/>
          <p:cNvSpPr/>
          <p:nvPr/>
        </p:nvSpPr>
        <p:spPr>
          <a:xfrm>
            <a:off x="10346436" y="6007608"/>
            <a:ext cx="0" cy="164592"/>
          </a:xfrm>
          <a:prstGeom prst="line">
            <a:avLst/>
          </a:prstGeom>
          <a:noFill/>
          <a:ln w="15875">
            <a:solidFill>
              <a:srgbClr val="555555"/>
            </a:solidFill>
            <a:prstDash val="solid"/>
            <a:tailEnd type="triangle"/>
          </a:ln>
        </p:spPr>
      </p:sp>
      <p:sp>
        <p:nvSpPr>
          <p:cNvPr id="85" name="Shape 66"/>
          <p:cNvSpPr/>
          <p:nvPr/>
        </p:nvSpPr>
        <p:spPr>
          <a:xfrm>
            <a:off x="9189720" y="6190488"/>
            <a:ext cx="2313432" cy="347472"/>
          </a:xfrm>
          <a:prstGeom prst="roundRect">
            <a:avLst>
              <a:gd name="adj" fmla="val 13158"/>
            </a:avLst>
          </a:prstGeom>
          <a:solidFill>
            <a:srgbClr val="F5F5F5"/>
          </a:solidFill>
          <a:ln w="12700">
            <a:solidFill>
              <a:srgbClr val="757575"/>
            </a:solidFill>
            <a:prstDash val="solid"/>
          </a:ln>
        </p:spPr>
      </p:sp>
      <p:sp>
        <p:nvSpPr>
          <p:cNvPr id="86" name="Text 67"/>
          <p:cNvSpPr txBox="1"/>
          <p:nvPr/>
        </p:nvSpPr>
        <p:spPr>
          <a:xfrm>
            <a:off x="9189720" y="6190488"/>
            <a:ext cx="2313432" cy="347472"/>
          </a:xfrm>
          <a:prstGeom prst="rect">
            <a:avLst/>
          </a:prstGeom>
          <a:noFill/>
          <a:ln/>
        </p:spPr>
        <p:txBody>
          <a:bodyPr wrap="square" lIns="25400" tIns="25400" rIns="25400" bIns="25400" rtlCol="0" anchor="ctr"/>
          <a:lstStyle/>
          <a:p>
            <a:pPr algn="ctr" indent="0" marL="0">
              <a:buNone/>
            </a:pPr>
            <a:r>
              <a:rPr lang="en-US" sz="950" b="1" dirty="0">
                <a:solidFill>
                  <a:srgbClr val="111111"/>
                </a:solidFill>
                <a:latin typeface="Calibri" pitchFamily="34" charset="0"/>
                <a:ea typeface="Calibri" pitchFamily="34" charset="-122"/>
                <a:cs typeface="Calibri" pitchFamily="34" charset="-120"/>
              </a:rPr>
              <a:t>HQ sync (optional)</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7"/>
        </a:solidFill>
      </p:bgPr>
    </p:bg>
    <p:spTree>
      <p:nvGrpSpPr>
        <p:cNvPr id="1" name=""/>
        <p:cNvGrpSpPr/>
        <p:nvPr/>
      </p:nvGrpSpPr>
      <p:grpSpPr>
        <a:xfrm>
          <a:off x="0" y="0"/>
          <a:ext cx="0" cy="0"/>
          <a:chOff x="0" y="0"/>
          <a:chExt cx="0" cy="0"/>
        </a:xfrm>
      </p:grpSpPr>
      <p:sp>
        <p:nvSpPr>
          <p:cNvPr id="2" name="Shape 0"/>
          <p:cNvSpPr/>
          <p:nvPr/>
        </p:nvSpPr>
        <p:spPr>
          <a:xfrm>
            <a:off x="228600" y="109728"/>
            <a:ext cx="1234440" cy="566928"/>
          </a:xfrm>
          <a:prstGeom prst="ellipse">
            <a:avLst/>
          </a:prstGeom>
          <a:solidFill>
            <a:srgbClr val="FFFFFF"/>
          </a:solidFill>
          <a:ln w="15875">
            <a:solidFill>
              <a:srgbClr val="6B4FA0"/>
            </a:solidFill>
            <a:prstDash val="solid"/>
          </a:ln>
        </p:spPr>
      </p:sp>
      <p:sp>
        <p:nvSpPr>
          <p:cNvPr id="3" name="Text 1"/>
          <p:cNvSpPr txBox="1"/>
          <p:nvPr/>
        </p:nvSpPr>
        <p:spPr>
          <a:xfrm>
            <a:off x="228600" y="109728"/>
            <a:ext cx="1234440" cy="566928"/>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[Team Name]</a:t>
            </a:r>
            <a:endParaRPr lang="en-US" sz="1000" dirty="0"/>
          </a:p>
        </p:txBody>
      </p:sp>
      <p:sp>
        <p:nvSpPr>
          <p:cNvPr id="4" name="Text 2"/>
          <p:cNvSpPr txBox="1"/>
          <p:nvPr/>
        </p:nvSpPr>
        <p:spPr>
          <a:xfrm>
            <a:off x="1645920" y="91440"/>
            <a:ext cx="8869680" cy="640080"/>
          </a:xfrm>
          <a:prstGeom prst="rect">
            <a:avLst/>
          </a:prstGeom>
          <a:noFill/>
          <a:ln/>
        </p:spPr>
        <p:txBody>
          <a:bodyPr wrap="square" rtlCol="0" anchor="ctr"/>
          <a:lstStyle/>
          <a:p>
            <a:pPr algn="ctr" indent="0" marL="0">
              <a:buNone/>
            </a:pPr>
            <a:r>
              <a:rPr lang="en-US" sz="3000" b="1" dirty="0">
                <a:solidFill>
                  <a:srgbClr val="111111"/>
                </a:solidFill>
                <a:latin typeface="Cambria" pitchFamily="34" charset="0"/>
                <a:ea typeface="Cambria" pitchFamily="34" charset="-122"/>
                <a:cs typeface="Cambria" pitchFamily="34" charset="-120"/>
              </a:rPr>
              <a:t>Prototype Output &amp; Results</a:t>
            </a:r>
            <a:endParaRPr lang="en-US" sz="3000" dirty="0"/>
          </a:p>
        </p:txBody>
      </p:sp>
      <p:sp>
        <p:nvSpPr>
          <p:cNvPr id="5" name="Text 3"/>
          <p:cNvSpPr txBox="1"/>
          <p:nvPr/>
        </p:nvSpPr>
        <p:spPr>
          <a:xfrm>
            <a:off x="10378440" y="128016"/>
            <a:ext cx="1600200" cy="548640"/>
          </a:xfrm>
          <a:prstGeom prst="rect">
            <a:avLst/>
          </a:prstGeom>
          <a:noFill/>
          <a:ln/>
        </p:spPr>
        <p:txBody>
          <a:bodyPr wrap="square" lIns="0" tIns="0" rIns="0" bIns="0" rtlCol="0" anchor="ctr"/>
          <a:lstStyle/>
          <a:p>
            <a:pPr algn="r" indent="0" marL="0">
              <a:buNone/>
            </a:pPr>
            <a:r>
              <a:rPr lang="en-US" sz="1100" b="1" dirty="0">
                <a:solidFill>
                  <a:srgbClr val="333333"/>
                </a:solidFill>
                <a:latin typeface="Calibri" pitchFamily="34" charset="0"/>
                <a:ea typeface="Calibri" pitchFamily="34" charset="-122"/>
                <a:cs typeface="Calibri" pitchFamily="34" charset="-120"/>
              </a:rPr>
              <a:t>SMART INDIA</a:t>
            </a:r>
            <a:endParaRPr lang="en-US" sz="1100" dirty="0"/>
          </a:p>
          <a:p>
            <a:pPr algn="r" indent="0" marL="0">
              <a:buNone/>
            </a:pPr>
            <a:r>
              <a:rPr lang="en-US" sz="1100" b="1" dirty="0">
                <a:solidFill>
                  <a:srgbClr val="333333"/>
                </a:solidFill>
                <a:latin typeface="Calibri" pitchFamily="34" charset="0"/>
                <a:ea typeface="Calibri" pitchFamily="34" charset="-122"/>
                <a:cs typeface="Calibri" pitchFamily="34" charset="-120"/>
              </a:rPr>
              <a:t>HACKATHON 2025</a:t>
            </a:r>
            <a:endParaRPr lang="en-US" sz="1100" dirty="0"/>
          </a:p>
        </p:txBody>
      </p:sp>
      <p:sp>
        <p:nvSpPr>
          <p:cNvPr id="6" name="Shape 4"/>
          <p:cNvSpPr/>
          <p:nvPr/>
        </p:nvSpPr>
        <p:spPr>
          <a:xfrm>
            <a:off x="228600" y="868680"/>
            <a:ext cx="3749040" cy="2724912"/>
          </a:xfrm>
          <a:prstGeom prst="roundRect">
            <a:avLst>
              <a:gd name="adj" fmla="val 2013"/>
            </a:avLst>
          </a:prstGeom>
          <a:solidFill>
            <a:srgbClr val="FFFFFF"/>
          </a:solidFill>
          <a:ln w="9525">
            <a:solidFill>
              <a:srgbClr val="CBD3DC"/>
            </a:solidFill>
            <a:prstDash val="solid"/>
          </a:ln>
        </p:spPr>
      </p:sp>
      <p:pic>
        <p:nvPicPr>
          <p:cNvPr id="7" name="Image 0" descr="C:\Users\itanm\OneDrive\Desktop\camera inventory\presentation\assets\cam_entrance_live.jpg">    </p:cNvPr>
          <p:cNvPicPr>
            <a:picLocks noChangeAspect="1"/>
          </p:cNvPicPr>
          <p:nvPr/>
        </p:nvPicPr>
        <p:blipFill>
          <a:blip r:embed="rId1"/>
          <a:srcRect l="0" r="0" t="0" b="0"/>
          <a:stretch/>
        </p:blipFill>
        <p:spPr>
          <a:xfrm>
            <a:off x="320040" y="960120"/>
            <a:ext cx="3566160" cy="2194560"/>
          </a:xfrm>
          <a:prstGeom prst="rect">
            <a:avLst/>
          </a:prstGeom>
        </p:spPr>
      </p:pic>
      <p:sp>
        <p:nvSpPr>
          <p:cNvPr id="8" name="Text 5"/>
          <p:cNvSpPr txBox="1"/>
          <p:nvPr/>
        </p:nvSpPr>
        <p:spPr>
          <a:xfrm>
            <a:off x="320040" y="3172968"/>
            <a:ext cx="3566160" cy="384048"/>
          </a:xfrm>
          <a:prstGeom prst="rect">
            <a:avLst/>
          </a:prstGeom>
          <a:noFill/>
          <a:ln/>
        </p:spPr>
        <p:txBody>
          <a:bodyPr wrap="square" lIns="0" tIns="0" rIns="0" bIns="0"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1. Footfall counting: live IN / OUT, people pixelated (MOT17 mall video)</a:t>
            </a:r>
            <a:endParaRPr lang="en-US" sz="1050" dirty="0"/>
          </a:p>
        </p:txBody>
      </p:sp>
      <p:sp>
        <p:nvSpPr>
          <p:cNvPr id="9" name="Shape 6"/>
          <p:cNvSpPr/>
          <p:nvPr/>
        </p:nvSpPr>
        <p:spPr>
          <a:xfrm>
            <a:off x="4114800" y="868680"/>
            <a:ext cx="3749040" cy="2724912"/>
          </a:xfrm>
          <a:prstGeom prst="roundRect">
            <a:avLst>
              <a:gd name="adj" fmla="val 2013"/>
            </a:avLst>
          </a:prstGeom>
          <a:solidFill>
            <a:srgbClr val="FFFFFF"/>
          </a:solidFill>
          <a:ln w="9525">
            <a:solidFill>
              <a:srgbClr val="CBD3DC"/>
            </a:solidFill>
            <a:prstDash val="solid"/>
          </a:ln>
        </p:spPr>
      </p:sp>
      <p:pic>
        <p:nvPicPr>
          <p:cNvPr id="10" name="Image 1" descr="C:\Users\itanm\OneDrive\Desktop\camera inventory\presentation\assets\shelf_void_baseline.jpg">    </p:cNvPr>
          <p:cNvPicPr>
            <a:picLocks noChangeAspect="1"/>
          </p:cNvPicPr>
          <p:nvPr/>
        </p:nvPicPr>
        <p:blipFill>
          <a:blip r:embed="rId2"/>
          <a:srcRect l="0" r="0" t="0" b="0"/>
          <a:stretch/>
        </p:blipFill>
        <p:spPr>
          <a:xfrm>
            <a:off x="4206240" y="960120"/>
            <a:ext cx="3566160" cy="2194560"/>
          </a:xfrm>
          <a:prstGeom prst="rect">
            <a:avLst/>
          </a:prstGeom>
        </p:spPr>
      </p:pic>
      <p:sp>
        <p:nvSpPr>
          <p:cNvPr id="11" name="Text 7"/>
          <p:cNvSpPr txBox="1"/>
          <p:nvPr/>
        </p:nvSpPr>
        <p:spPr>
          <a:xfrm>
            <a:off x="4206240" y="3172968"/>
            <a:ext cx="3566160" cy="384048"/>
          </a:xfrm>
          <a:prstGeom prst="rect">
            <a:avLst/>
          </a:prstGeom>
          <a:noFill/>
          <a:ln/>
        </p:spPr>
        <p:txBody>
          <a:bodyPr wrap="square" lIns="0" tIns="0" rIns="0" bIns="0"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2. Shelf monitoring: products (green), empty slots (red)</a:t>
            </a:r>
            <a:endParaRPr lang="en-US" sz="1050" dirty="0"/>
          </a:p>
        </p:txBody>
      </p:sp>
      <p:sp>
        <p:nvSpPr>
          <p:cNvPr id="12" name="Shape 8"/>
          <p:cNvSpPr/>
          <p:nvPr/>
        </p:nvSpPr>
        <p:spPr>
          <a:xfrm>
            <a:off x="228600" y="3703320"/>
            <a:ext cx="3749040" cy="2724912"/>
          </a:xfrm>
          <a:prstGeom prst="roundRect">
            <a:avLst>
              <a:gd name="adj" fmla="val 2013"/>
            </a:avLst>
          </a:prstGeom>
          <a:solidFill>
            <a:srgbClr val="FFFFFF"/>
          </a:solidFill>
          <a:ln w="9525">
            <a:solidFill>
              <a:srgbClr val="CBD3DC"/>
            </a:solidFill>
            <a:prstDash val="solid"/>
          </a:ln>
        </p:spPr>
      </p:sp>
      <p:pic>
        <p:nvPicPr>
          <p:cNvPr id="13" name="Image 2" descr="C:\Users\itanm\OneDrive\Desktop\camera inventory\presentation\assets\heatmap_overlay_aisle.jpg">    </p:cNvPr>
          <p:cNvPicPr>
            <a:picLocks noChangeAspect="1"/>
          </p:cNvPicPr>
          <p:nvPr/>
        </p:nvPicPr>
        <p:blipFill>
          <a:blip r:embed="rId3"/>
          <a:srcRect l="0" r="0" t="0" b="0"/>
          <a:stretch/>
        </p:blipFill>
        <p:spPr>
          <a:xfrm>
            <a:off x="320040" y="3794760"/>
            <a:ext cx="3566160" cy="2194560"/>
          </a:xfrm>
          <a:prstGeom prst="rect">
            <a:avLst/>
          </a:prstGeom>
        </p:spPr>
      </p:pic>
      <p:sp>
        <p:nvSpPr>
          <p:cNvPr id="14" name="Text 9"/>
          <p:cNvSpPr txBox="1"/>
          <p:nvPr/>
        </p:nvSpPr>
        <p:spPr>
          <a:xfrm>
            <a:off x="320040" y="6007608"/>
            <a:ext cx="3566160" cy="384048"/>
          </a:xfrm>
          <a:prstGeom prst="rect">
            <a:avLst/>
          </a:prstGeom>
          <a:noFill/>
          <a:ln/>
        </p:spPr>
        <p:txBody>
          <a:bodyPr wrap="square" lIns="0" tIns="0" rIns="0" bIns="0"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3. Shopper heatmap: where people walk and stop</a:t>
            </a:r>
            <a:endParaRPr lang="en-US" sz="1050" dirty="0"/>
          </a:p>
        </p:txBody>
      </p:sp>
      <p:sp>
        <p:nvSpPr>
          <p:cNvPr id="15" name="Shape 10"/>
          <p:cNvSpPr/>
          <p:nvPr/>
        </p:nvSpPr>
        <p:spPr>
          <a:xfrm>
            <a:off x="4114800" y="3703320"/>
            <a:ext cx="3749040" cy="2724912"/>
          </a:xfrm>
          <a:prstGeom prst="roundRect">
            <a:avLst>
              <a:gd name="adj" fmla="val 2013"/>
            </a:avLst>
          </a:prstGeom>
          <a:solidFill>
            <a:srgbClr val="FFFFFF"/>
          </a:solidFill>
          <a:ln w="9525">
            <a:solidFill>
              <a:srgbClr val="CBD3DC"/>
            </a:solidFill>
            <a:prstDash val="solid"/>
          </a:ln>
        </p:spPr>
      </p:sp>
      <p:pic>
        <p:nvPicPr>
          <p:cNvPr id="16" name="Image 3" descr="C:\Users\itanm\OneDrive\Desktop\camera inventory\presentation\assets\forecast_clean.png">    </p:cNvPr>
          <p:cNvPicPr>
            <a:picLocks noChangeAspect="1"/>
          </p:cNvPicPr>
          <p:nvPr/>
        </p:nvPicPr>
        <p:blipFill>
          <a:blip r:embed="rId4"/>
          <a:srcRect l="0" r="0" t="0" b="0"/>
          <a:stretch/>
        </p:blipFill>
        <p:spPr>
          <a:xfrm>
            <a:off x="4206240" y="3794760"/>
            <a:ext cx="3566160" cy="2194560"/>
          </a:xfrm>
          <a:prstGeom prst="rect">
            <a:avLst/>
          </a:prstGeom>
        </p:spPr>
      </p:pic>
      <p:sp>
        <p:nvSpPr>
          <p:cNvPr id="17" name="Text 11"/>
          <p:cNvSpPr txBox="1"/>
          <p:nvPr/>
        </p:nvSpPr>
        <p:spPr>
          <a:xfrm>
            <a:off x="4206240" y="6007608"/>
            <a:ext cx="3566160" cy="384048"/>
          </a:xfrm>
          <a:prstGeom prst="rect">
            <a:avLst/>
          </a:prstGeom>
          <a:noFill/>
          <a:ln/>
        </p:spPr>
        <p:txBody>
          <a:bodyPr wrap="square" lIns="0" tIns="0" rIns="0" bIns="0"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4. Queue forecast on a festival rush day: error 2.8 vs 4.7 people for the baseline</a:t>
            </a:r>
            <a:endParaRPr lang="en-US" sz="1050" dirty="0"/>
          </a:p>
        </p:txBody>
      </p:sp>
      <p:sp>
        <p:nvSpPr>
          <p:cNvPr id="18" name="Shape 12"/>
          <p:cNvSpPr/>
          <p:nvPr/>
        </p:nvSpPr>
        <p:spPr>
          <a:xfrm>
            <a:off x="8046720" y="868680"/>
            <a:ext cx="3913632" cy="5605272"/>
          </a:xfrm>
          <a:prstGeom prst="roundRect">
            <a:avLst>
              <a:gd name="adj" fmla="val 1869"/>
            </a:avLst>
          </a:prstGeom>
          <a:solidFill>
            <a:srgbClr val="FFFFFF"/>
          </a:solidFill>
          <a:ln w="9525">
            <a:solidFill>
              <a:srgbClr val="CBD3DC"/>
            </a:solidFill>
            <a:prstDash val="solid"/>
          </a:ln>
        </p:spPr>
      </p:sp>
      <p:sp>
        <p:nvSpPr>
          <p:cNvPr id="19" name="Shape 13"/>
          <p:cNvSpPr/>
          <p:nvPr/>
        </p:nvSpPr>
        <p:spPr>
          <a:xfrm>
            <a:off x="8183880" y="960120"/>
            <a:ext cx="329184" cy="329184"/>
          </a:xfrm>
          <a:prstGeom prst="ellipse">
            <a:avLst/>
          </a:prstGeom>
          <a:solidFill>
            <a:srgbClr val="E3EAF8"/>
          </a:solidFill>
          <a:ln w="12700">
            <a:solidFill>
              <a:srgbClr val="E3EAF8"/>
            </a:solidFill>
            <a:prstDash val="solid"/>
          </a:ln>
        </p:spPr>
      </p:sp>
      <p:pic>
        <p:nvPicPr>
          <p:cNvPr id="20" name="Image 4" descr="preencoded.png">    </p:cNvPr>
          <p:cNvPicPr>
            <a:picLocks noChangeAspect="1"/>
          </p:cNvPicPr>
          <p:nvPr/>
        </p:nvPicPr>
        <p:blipFill>
          <a:blip r:embed="rId5"/>
          <a:stretch>
            <a:fillRect/>
          </a:stretch>
        </p:blipFill>
        <p:spPr>
          <a:xfrm>
            <a:off x="8247888" y="1024128"/>
            <a:ext cx="201168" cy="201168"/>
          </a:xfrm>
          <a:prstGeom prst="rect">
            <a:avLst/>
          </a:prstGeom>
        </p:spPr>
      </p:pic>
      <p:sp>
        <p:nvSpPr>
          <p:cNvPr id="21" name="Text 14"/>
          <p:cNvSpPr txBox="1"/>
          <p:nvPr/>
        </p:nvSpPr>
        <p:spPr>
          <a:xfrm>
            <a:off x="8595360" y="932688"/>
            <a:ext cx="3227832" cy="384048"/>
          </a:xfrm>
          <a:prstGeom prst="rect">
            <a:avLst/>
          </a:prstGeom>
          <a:noFill/>
          <a:ln/>
        </p:spPr>
        <p:txBody>
          <a:bodyPr wrap="square" lIns="0" tIns="0" rIns="0" bIns="0" rtlCol="0" anchor="ctr"/>
          <a:lstStyle/>
          <a:p>
            <a:pPr indent="0" marL="0">
              <a:buNone/>
            </a:pPr>
            <a:r>
              <a:rPr lang="en-US" sz="1600" b="1" dirty="0">
                <a:solidFill>
                  <a:srgbClr val="111111"/>
                </a:solidFill>
                <a:latin typeface="Cambria" pitchFamily="34" charset="0"/>
                <a:ea typeface="Cambria" pitchFamily="34" charset="-122"/>
                <a:cs typeface="Cambria" pitchFamily="34" charset="-120"/>
              </a:rPr>
              <a:t>Key Results (unseen test data)</a:t>
            </a:r>
            <a:endParaRPr lang="en-US" sz="1600" dirty="0"/>
          </a:p>
        </p:txBody>
      </p:sp>
      <p:sp>
        <p:nvSpPr>
          <p:cNvPr id="22" name="Text 15"/>
          <p:cNvSpPr txBox="1"/>
          <p:nvPr/>
        </p:nvSpPr>
        <p:spPr>
          <a:xfrm>
            <a:off x="8183880" y="1371600"/>
            <a:ext cx="1234440" cy="731520"/>
          </a:xfrm>
          <a:prstGeom prst="rect">
            <a:avLst/>
          </a:prstGeom>
          <a:noFill/>
          <a:ln/>
        </p:spPr>
        <p:txBody>
          <a:bodyPr wrap="square" lIns="0" tIns="0" rIns="0" bIns="0" rtlCol="0" anchor="ctr"/>
          <a:lstStyle/>
          <a:p>
            <a:pPr indent="0" marL="0">
              <a:buNone/>
            </a:pPr>
            <a:r>
              <a:rPr lang="en-US" sz="2400" b="1" dirty="0">
                <a:solidFill>
                  <a:srgbClr val="1E6B3A"/>
                </a:solidFill>
                <a:latin typeface="Cambria" pitchFamily="34" charset="0"/>
                <a:ea typeface="Cambria" pitchFamily="34" charset="-122"/>
                <a:cs typeface="Cambria" pitchFamily="34" charset="-120"/>
              </a:rPr>
              <a:t>0.93</a:t>
            </a:r>
            <a:endParaRPr lang="en-US" sz="2400" dirty="0"/>
          </a:p>
        </p:txBody>
      </p:sp>
      <p:sp>
        <p:nvSpPr>
          <p:cNvPr id="23" name="Text 16"/>
          <p:cNvSpPr txBox="1"/>
          <p:nvPr/>
        </p:nvSpPr>
        <p:spPr>
          <a:xfrm>
            <a:off x="9464040" y="1371600"/>
            <a:ext cx="2377440" cy="731520"/>
          </a:xfrm>
          <a:prstGeom prst="rect">
            <a:avLst/>
          </a:prstGeom>
          <a:noFill/>
          <a:ln/>
        </p:spPr>
        <p:txBody>
          <a:bodyPr wrap="square" lIns="0" tIns="0" rIns="0" bIns="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mAP50 of our shelf detector on 2,936 unseen shelf photos</a:t>
            </a:r>
            <a:endParaRPr lang="en-US" sz="1100" dirty="0"/>
          </a:p>
        </p:txBody>
      </p:sp>
      <p:sp>
        <p:nvSpPr>
          <p:cNvPr id="24" name="Text 17"/>
          <p:cNvSpPr txBox="1"/>
          <p:nvPr/>
        </p:nvSpPr>
        <p:spPr>
          <a:xfrm>
            <a:off x="8183880" y="2212848"/>
            <a:ext cx="1234440" cy="731520"/>
          </a:xfrm>
          <a:prstGeom prst="rect">
            <a:avLst/>
          </a:prstGeom>
          <a:noFill/>
          <a:ln/>
        </p:spPr>
        <p:txBody>
          <a:bodyPr wrap="square" lIns="0" tIns="0" rIns="0" bIns="0" rtlCol="0" anchor="ctr"/>
          <a:lstStyle/>
          <a:p>
            <a:pPr indent="0" marL="0">
              <a:buNone/>
            </a:pPr>
            <a:r>
              <a:rPr lang="en-US" sz="2400" b="1" dirty="0">
                <a:solidFill>
                  <a:srgbClr val="1E6B3A"/>
                </a:solidFill>
                <a:latin typeface="Cambria" pitchFamily="34" charset="0"/>
                <a:ea typeface="Cambria" pitchFamily="34" charset="-122"/>
                <a:cs typeface="Cambria" pitchFamily="34" charset="-120"/>
              </a:rPr>
              <a:t>89%</a:t>
            </a:r>
            <a:endParaRPr lang="en-US" sz="2400" dirty="0"/>
          </a:p>
        </p:txBody>
      </p:sp>
      <p:sp>
        <p:nvSpPr>
          <p:cNvPr id="25" name="Text 18"/>
          <p:cNvSpPr txBox="1"/>
          <p:nvPr/>
        </p:nvSpPr>
        <p:spPr>
          <a:xfrm>
            <a:off x="9464040" y="2212848"/>
            <a:ext cx="2377440" cy="731520"/>
          </a:xfrm>
          <a:prstGeom prst="rect">
            <a:avLst/>
          </a:prstGeom>
          <a:noFill/>
          <a:ln/>
        </p:spPr>
        <p:txBody>
          <a:bodyPr wrap="square" lIns="0" tIns="0" rIns="0" bIns="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product count accuracy per shelf photo</a:t>
            </a:r>
            <a:endParaRPr lang="en-US" sz="1100" dirty="0"/>
          </a:p>
        </p:txBody>
      </p:sp>
      <p:sp>
        <p:nvSpPr>
          <p:cNvPr id="26" name="Text 19"/>
          <p:cNvSpPr txBox="1"/>
          <p:nvPr/>
        </p:nvSpPr>
        <p:spPr>
          <a:xfrm>
            <a:off x="8183880" y="3054096"/>
            <a:ext cx="1234440" cy="731520"/>
          </a:xfrm>
          <a:prstGeom prst="rect">
            <a:avLst/>
          </a:prstGeom>
          <a:noFill/>
          <a:ln/>
        </p:spPr>
        <p:txBody>
          <a:bodyPr wrap="square" lIns="0" tIns="0" rIns="0" bIns="0" rtlCol="0" anchor="ctr"/>
          <a:lstStyle/>
          <a:p>
            <a:pPr indent="0" marL="0">
              <a:buNone/>
            </a:pPr>
            <a:r>
              <a:rPr lang="en-US" sz="2400" b="1" dirty="0">
                <a:solidFill>
                  <a:srgbClr val="1F3A93"/>
                </a:solidFill>
                <a:latin typeface="Cambria" pitchFamily="34" charset="0"/>
                <a:ea typeface="Cambria" pitchFamily="34" charset="-122"/>
                <a:cs typeface="Cambria" pitchFamily="34" charset="-120"/>
              </a:rPr>
              <a:t>83%</a:t>
            </a:r>
            <a:endParaRPr lang="en-US" sz="2400" dirty="0"/>
          </a:p>
        </p:txBody>
      </p:sp>
      <p:sp>
        <p:nvSpPr>
          <p:cNvPr id="27" name="Text 20"/>
          <p:cNvSpPr txBox="1"/>
          <p:nvPr/>
        </p:nvSpPr>
        <p:spPr>
          <a:xfrm>
            <a:off x="9464040" y="3054096"/>
            <a:ext cx="2377440" cy="731520"/>
          </a:xfrm>
          <a:prstGeom prst="rect">
            <a:avLst/>
          </a:prstGeom>
          <a:noFill/>
          <a:ln/>
        </p:spPr>
        <p:txBody>
          <a:bodyPr wrap="square" lIns="0" tIns="0" rIns="0" bIns="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empty-slot alerts at the right place (fixed camera)</a:t>
            </a:r>
            <a:endParaRPr lang="en-US" sz="1100" dirty="0"/>
          </a:p>
        </p:txBody>
      </p:sp>
      <p:sp>
        <p:nvSpPr>
          <p:cNvPr id="28" name="Text 21"/>
          <p:cNvSpPr txBox="1"/>
          <p:nvPr/>
        </p:nvSpPr>
        <p:spPr>
          <a:xfrm>
            <a:off x="8183880" y="3895344"/>
            <a:ext cx="1234440" cy="731520"/>
          </a:xfrm>
          <a:prstGeom prst="rect">
            <a:avLst/>
          </a:prstGeom>
          <a:noFill/>
          <a:ln/>
        </p:spPr>
        <p:txBody>
          <a:bodyPr wrap="square" lIns="0" tIns="0" rIns="0" bIns="0" rtlCol="0" anchor="ctr"/>
          <a:lstStyle/>
          <a:p>
            <a:pPr indent="0" marL="0">
              <a:buNone/>
            </a:pPr>
            <a:r>
              <a:rPr lang="en-US" sz="2400" b="1" dirty="0">
                <a:solidFill>
                  <a:srgbClr val="E8761B"/>
                </a:solidFill>
                <a:latin typeface="Cambria" pitchFamily="34" charset="0"/>
                <a:ea typeface="Cambria" pitchFamily="34" charset="-122"/>
                <a:cs typeface="Cambria" pitchFamily="34" charset="-120"/>
              </a:rPr>
              <a:t>27%</a:t>
            </a:r>
            <a:endParaRPr lang="en-US" sz="2400" dirty="0"/>
          </a:p>
        </p:txBody>
      </p:sp>
      <p:sp>
        <p:nvSpPr>
          <p:cNvPr id="29" name="Text 22"/>
          <p:cNvSpPr txBox="1"/>
          <p:nvPr/>
        </p:nvSpPr>
        <p:spPr>
          <a:xfrm>
            <a:off x="9464040" y="3895344"/>
            <a:ext cx="2377440" cy="731520"/>
          </a:xfrm>
          <a:prstGeom prst="rect">
            <a:avLst/>
          </a:prstGeom>
          <a:noFill/>
          <a:ln/>
        </p:spPr>
        <p:txBody>
          <a:bodyPr wrap="square" lIns="0" tIns="0" rIns="0" bIns="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lower queue forecast error than the simple baseline</a:t>
            </a:r>
            <a:endParaRPr lang="en-US" sz="1100" dirty="0"/>
          </a:p>
        </p:txBody>
      </p:sp>
      <p:sp>
        <p:nvSpPr>
          <p:cNvPr id="30" name="Text 23"/>
          <p:cNvSpPr txBox="1"/>
          <p:nvPr/>
        </p:nvSpPr>
        <p:spPr>
          <a:xfrm>
            <a:off x="8183880" y="4736592"/>
            <a:ext cx="1234440" cy="731520"/>
          </a:xfrm>
          <a:prstGeom prst="rect">
            <a:avLst/>
          </a:prstGeom>
          <a:noFill/>
          <a:ln/>
        </p:spPr>
        <p:txBody>
          <a:bodyPr wrap="square" lIns="0" tIns="0" rIns="0" bIns="0" rtlCol="0" anchor="ctr"/>
          <a:lstStyle/>
          <a:p>
            <a:pPr indent="0" marL="0">
              <a:buNone/>
            </a:pPr>
            <a:r>
              <a:rPr lang="en-US" sz="2400" b="1" dirty="0">
                <a:solidFill>
                  <a:srgbClr val="6B4FA0"/>
                </a:solidFill>
                <a:latin typeface="Cambria" pitchFamily="34" charset="0"/>
                <a:ea typeface="Cambria" pitchFamily="34" charset="-122"/>
                <a:cs typeface="Cambria" pitchFamily="34" charset="-120"/>
              </a:rPr>
              <a:t>64%</a:t>
            </a:r>
            <a:endParaRPr lang="en-US" sz="2400" dirty="0"/>
          </a:p>
        </p:txBody>
      </p:sp>
      <p:sp>
        <p:nvSpPr>
          <p:cNvPr id="31" name="Text 24"/>
          <p:cNvSpPr txBox="1"/>
          <p:nvPr/>
        </p:nvSpPr>
        <p:spPr>
          <a:xfrm>
            <a:off x="9464040" y="4736592"/>
            <a:ext cx="2377440" cy="731520"/>
          </a:xfrm>
          <a:prstGeom prst="rect">
            <a:avLst/>
          </a:prstGeom>
          <a:noFill/>
          <a:ln/>
        </p:spPr>
        <p:txBody>
          <a:bodyPr wrap="square" lIns="0" tIns="0" rIns="0" bIns="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footfall count accuracy on crowded street videos with human ground truth</a:t>
            </a:r>
            <a:endParaRPr lang="en-US" sz="1100" dirty="0"/>
          </a:p>
        </p:txBody>
      </p:sp>
      <p:sp>
        <p:nvSpPr>
          <p:cNvPr id="32" name="Text 25"/>
          <p:cNvSpPr txBox="1"/>
          <p:nvPr/>
        </p:nvSpPr>
        <p:spPr>
          <a:xfrm>
            <a:off x="8183880" y="5577840"/>
            <a:ext cx="1234440" cy="731520"/>
          </a:xfrm>
          <a:prstGeom prst="rect">
            <a:avLst/>
          </a:prstGeom>
          <a:noFill/>
          <a:ln/>
        </p:spPr>
        <p:txBody>
          <a:bodyPr wrap="square" lIns="0" tIns="0" rIns="0" bIns="0" rtlCol="0" anchor="ctr"/>
          <a:lstStyle/>
          <a:p>
            <a:pPr indent="0" marL="0">
              <a:buNone/>
            </a:pPr>
            <a:r>
              <a:rPr lang="en-US" sz="2400" b="1" dirty="0">
                <a:solidFill>
                  <a:srgbClr val="C0171D"/>
                </a:solidFill>
                <a:latin typeface="Cambria" pitchFamily="34" charset="0"/>
                <a:ea typeface="Cambria" pitchFamily="34" charset="-122"/>
                <a:cs typeface="Cambria" pitchFamily="34" charset="-120"/>
              </a:rPr>
              <a:t>3 cams</a:t>
            </a:r>
            <a:endParaRPr lang="en-US" sz="2400" dirty="0"/>
          </a:p>
        </p:txBody>
      </p:sp>
      <p:sp>
        <p:nvSpPr>
          <p:cNvPr id="33" name="Text 26"/>
          <p:cNvSpPr txBox="1"/>
          <p:nvPr/>
        </p:nvSpPr>
        <p:spPr>
          <a:xfrm>
            <a:off x="9464040" y="5577840"/>
            <a:ext cx="2377440" cy="731520"/>
          </a:xfrm>
          <a:prstGeom prst="rect">
            <a:avLst/>
          </a:prstGeom>
          <a:noFill/>
          <a:ln/>
        </p:spPr>
        <p:txBody>
          <a:bodyPr wrap="square" lIns="0" tIns="0" rIns="0" bIns="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run together on one laptop CPU, no GPU</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7"/>
        </a:solidFill>
      </p:bgPr>
    </p:bg>
    <p:spTree>
      <p:nvGrpSpPr>
        <p:cNvPr id="1" name=""/>
        <p:cNvGrpSpPr/>
        <p:nvPr/>
      </p:nvGrpSpPr>
      <p:grpSpPr>
        <a:xfrm>
          <a:off x="0" y="0"/>
          <a:ext cx="0" cy="0"/>
          <a:chOff x="0" y="0"/>
          <a:chExt cx="0" cy="0"/>
        </a:xfrm>
      </p:grpSpPr>
      <p:sp>
        <p:nvSpPr>
          <p:cNvPr id="2" name="Shape 0"/>
          <p:cNvSpPr/>
          <p:nvPr/>
        </p:nvSpPr>
        <p:spPr>
          <a:xfrm>
            <a:off x="228600" y="109728"/>
            <a:ext cx="1234440" cy="566928"/>
          </a:xfrm>
          <a:prstGeom prst="ellipse">
            <a:avLst/>
          </a:prstGeom>
          <a:solidFill>
            <a:srgbClr val="FFFFFF"/>
          </a:solidFill>
          <a:ln w="15875">
            <a:solidFill>
              <a:srgbClr val="6B4FA0"/>
            </a:solidFill>
            <a:prstDash val="solid"/>
          </a:ln>
        </p:spPr>
      </p:sp>
      <p:sp>
        <p:nvSpPr>
          <p:cNvPr id="3" name="Text 1"/>
          <p:cNvSpPr txBox="1"/>
          <p:nvPr/>
        </p:nvSpPr>
        <p:spPr>
          <a:xfrm>
            <a:off x="228600" y="109728"/>
            <a:ext cx="1234440" cy="566928"/>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[Team Name]</a:t>
            </a:r>
            <a:endParaRPr lang="en-US" sz="1000" dirty="0"/>
          </a:p>
        </p:txBody>
      </p:sp>
      <p:sp>
        <p:nvSpPr>
          <p:cNvPr id="4" name="Text 2"/>
          <p:cNvSpPr txBox="1"/>
          <p:nvPr/>
        </p:nvSpPr>
        <p:spPr>
          <a:xfrm>
            <a:off x="1645920" y="91440"/>
            <a:ext cx="8869680" cy="640080"/>
          </a:xfrm>
          <a:prstGeom prst="rect">
            <a:avLst/>
          </a:prstGeom>
          <a:noFill/>
          <a:ln/>
        </p:spPr>
        <p:txBody>
          <a:bodyPr wrap="square" rtlCol="0" anchor="ctr"/>
          <a:lstStyle/>
          <a:p>
            <a:pPr algn="ctr" indent="0" marL="0">
              <a:buNone/>
            </a:pPr>
            <a:r>
              <a:rPr lang="en-US" sz="3000" b="1" dirty="0">
                <a:solidFill>
                  <a:srgbClr val="111111"/>
                </a:solidFill>
                <a:latin typeface="Cambria" pitchFamily="34" charset="0"/>
                <a:ea typeface="Cambria" pitchFamily="34" charset="-122"/>
                <a:cs typeface="Cambria" pitchFamily="34" charset="-120"/>
              </a:rPr>
              <a:t>Impact and Benefits</a:t>
            </a:r>
            <a:endParaRPr lang="en-US" sz="3000" dirty="0"/>
          </a:p>
        </p:txBody>
      </p:sp>
      <p:sp>
        <p:nvSpPr>
          <p:cNvPr id="5" name="Text 3"/>
          <p:cNvSpPr txBox="1"/>
          <p:nvPr/>
        </p:nvSpPr>
        <p:spPr>
          <a:xfrm>
            <a:off x="10378440" y="128016"/>
            <a:ext cx="1600200" cy="548640"/>
          </a:xfrm>
          <a:prstGeom prst="rect">
            <a:avLst/>
          </a:prstGeom>
          <a:noFill/>
          <a:ln/>
        </p:spPr>
        <p:txBody>
          <a:bodyPr wrap="square" lIns="0" tIns="0" rIns="0" bIns="0" rtlCol="0" anchor="ctr"/>
          <a:lstStyle/>
          <a:p>
            <a:pPr algn="r" indent="0" marL="0">
              <a:buNone/>
            </a:pPr>
            <a:r>
              <a:rPr lang="en-US" sz="1100" b="1" dirty="0">
                <a:solidFill>
                  <a:srgbClr val="333333"/>
                </a:solidFill>
                <a:latin typeface="Calibri" pitchFamily="34" charset="0"/>
                <a:ea typeface="Calibri" pitchFamily="34" charset="-122"/>
                <a:cs typeface="Calibri" pitchFamily="34" charset="-120"/>
              </a:rPr>
              <a:t>SMART INDIA</a:t>
            </a:r>
            <a:endParaRPr lang="en-US" sz="1100" dirty="0"/>
          </a:p>
          <a:p>
            <a:pPr algn="r" indent="0" marL="0">
              <a:buNone/>
            </a:pPr>
            <a:r>
              <a:rPr lang="en-US" sz="1100" b="1" dirty="0">
                <a:solidFill>
                  <a:srgbClr val="333333"/>
                </a:solidFill>
                <a:latin typeface="Calibri" pitchFamily="34" charset="0"/>
                <a:ea typeface="Calibri" pitchFamily="34" charset="-122"/>
                <a:cs typeface="Calibri" pitchFamily="34" charset="-120"/>
              </a:rPr>
              <a:t>HACKATHON 2025</a:t>
            </a:r>
            <a:endParaRPr lang="en-US" sz="1100" dirty="0"/>
          </a:p>
        </p:txBody>
      </p:sp>
      <p:sp>
        <p:nvSpPr>
          <p:cNvPr id="6" name="Shape 4"/>
          <p:cNvSpPr/>
          <p:nvPr/>
        </p:nvSpPr>
        <p:spPr>
          <a:xfrm>
            <a:off x="228600" y="868680"/>
            <a:ext cx="5852160" cy="2377440"/>
          </a:xfrm>
          <a:prstGeom prst="roundRect">
            <a:avLst>
              <a:gd name="adj" fmla="val 3077"/>
            </a:avLst>
          </a:prstGeom>
          <a:solidFill>
            <a:srgbClr val="FFFFFF"/>
          </a:solidFill>
          <a:ln w="9525">
            <a:solidFill>
              <a:srgbClr val="CBD3DC"/>
            </a:solidFill>
            <a:prstDash val="solid"/>
          </a:ln>
        </p:spPr>
      </p:sp>
      <p:sp>
        <p:nvSpPr>
          <p:cNvPr id="7" name="Shape 5"/>
          <p:cNvSpPr/>
          <p:nvPr/>
        </p:nvSpPr>
        <p:spPr>
          <a:xfrm>
            <a:off x="365760" y="960120"/>
            <a:ext cx="329184" cy="329184"/>
          </a:xfrm>
          <a:prstGeom prst="ellipse">
            <a:avLst/>
          </a:prstGeom>
          <a:solidFill>
            <a:srgbClr val="E8F1EE"/>
          </a:solidFill>
          <a:ln w="12700">
            <a:solidFill>
              <a:srgbClr val="E8F1EE"/>
            </a:solidFill>
            <a:prstDash val="solid"/>
          </a:ln>
        </p:spPr>
      </p:sp>
      <p:pic>
        <p:nvPicPr>
          <p:cNvPr id="8" name="Image 0" descr="preencoded.png">    </p:cNvPr>
          <p:cNvPicPr>
            <a:picLocks noChangeAspect="1"/>
          </p:cNvPicPr>
          <p:nvPr/>
        </p:nvPicPr>
        <p:blipFill>
          <a:blip r:embed="rId1"/>
          <a:stretch>
            <a:fillRect/>
          </a:stretch>
        </p:blipFill>
        <p:spPr>
          <a:xfrm>
            <a:off x="429768" y="1024128"/>
            <a:ext cx="201168" cy="201168"/>
          </a:xfrm>
          <a:prstGeom prst="rect">
            <a:avLst/>
          </a:prstGeom>
        </p:spPr>
      </p:pic>
      <p:sp>
        <p:nvSpPr>
          <p:cNvPr id="9" name="Text 6"/>
          <p:cNvSpPr txBox="1"/>
          <p:nvPr/>
        </p:nvSpPr>
        <p:spPr>
          <a:xfrm>
            <a:off x="777240" y="932688"/>
            <a:ext cx="5166360" cy="384048"/>
          </a:xfrm>
          <a:prstGeom prst="rect">
            <a:avLst/>
          </a:prstGeom>
          <a:noFill/>
          <a:ln/>
        </p:spPr>
        <p:txBody>
          <a:bodyPr wrap="square" lIns="0" tIns="0" rIns="0" bIns="0" rtlCol="0" anchor="ctr"/>
          <a:lstStyle/>
          <a:p>
            <a:pPr indent="0" marL="0">
              <a:buNone/>
            </a:pPr>
            <a:r>
              <a:rPr lang="en-US" sz="1600" b="1" dirty="0">
                <a:solidFill>
                  <a:srgbClr val="111111"/>
                </a:solidFill>
                <a:latin typeface="Cambria" pitchFamily="34" charset="0"/>
                <a:ea typeface="Cambria" pitchFamily="34" charset="-122"/>
                <a:cs typeface="Cambria" pitchFamily="34" charset="-120"/>
              </a:rPr>
              <a:t>Impact on Store Operations</a:t>
            </a:r>
            <a:endParaRPr lang="en-US" sz="1600" dirty="0"/>
          </a:p>
        </p:txBody>
      </p:sp>
      <p:sp>
        <p:nvSpPr>
          <p:cNvPr id="10" name="Text 7"/>
          <p:cNvSpPr txBox="1"/>
          <p:nvPr/>
        </p:nvSpPr>
        <p:spPr>
          <a:xfrm>
            <a:off x="365760" y="1307592"/>
            <a:ext cx="5577840" cy="1901952"/>
          </a:xfrm>
          <a:prstGeom prst="rect">
            <a:avLst/>
          </a:prstGeom>
          <a:noFill/>
          <a:ln/>
        </p:spPr>
        <p:txBody>
          <a:bodyPr wrap="square" lIns="0" tIns="0" rIns="0" bIns="0" rtlCol="0" anchor="t"/>
          <a:lstStyle/>
          <a:p>
            <a:pPr marL="342900" indent="-342900">
              <a:spcAft>
                <a:spcPts val="700"/>
              </a:spcAft>
              <a:buSzPct val="100000"/>
              <a:buChar char="•"/>
            </a:pPr>
            <a:r>
              <a:rPr lang="en-US" sz="1400" b="1" dirty="0">
                <a:solidFill>
                  <a:srgbClr val="111111"/>
                </a:solidFill>
                <a:latin typeface="Calibri" pitchFamily="34" charset="0"/>
                <a:ea typeface="Calibri" pitchFamily="34" charset="-122"/>
                <a:cs typeface="Calibri" pitchFamily="34" charset="-120"/>
              </a:rPr>
              <a:t>Fewer empty shelves: </a:t>
            </a:r>
            <a:pPr indent="0" marL="0">
              <a:buNone/>
            </a:pPr>
            <a:r>
              <a:rPr lang="en-US" sz="1400" dirty="0">
                <a:solidFill>
                  <a:srgbClr val="111111"/>
                </a:solidFill>
                <a:latin typeface="Calibri" pitchFamily="34" charset="0"/>
                <a:ea typeface="Calibri" pitchFamily="34" charset="-122"/>
                <a:cs typeface="Calibri" pitchFamily="34" charset="-120"/>
              </a:rPr>
              <a:t>staff get refill alerts </a:t>
            </a:r>
            <a:pPr indent="0" marL="0">
              <a:buNone/>
            </a:pPr>
            <a:r>
              <a:rPr lang="en-US" sz="1400" b="1" dirty="0">
                <a:solidFill>
                  <a:srgbClr val="C0171D"/>
                </a:solidFill>
                <a:latin typeface="Calibri" pitchFamily="34" charset="0"/>
                <a:ea typeface="Calibri" pitchFamily="34" charset="-122"/>
                <a:cs typeface="Calibri" pitchFamily="34" charset="-120"/>
              </a:rPr>
              <a:t>before shoppers notice</a:t>
            </a:r>
            <a:pPr indent="0" marL="0">
              <a:buNone/>
            </a:pPr>
            <a:r>
              <a:rPr lang="en-US" sz="1400" dirty="0">
                <a:solidFill>
                  <a:srgbClr val="111111"/>
                </a:solidFill>
                <a:latin typeface="Calibri" pitchFamily="34" charset="0"/>
                <a:ea typeface="Calibri" pitchFamily="34" charset="-122"/>
                <a:cs typeface="Calibri" pitchFamily="34" charset="-120"/>
              </a:rPr>
              <a:t>.</a:t>
            </a:r>
            <a:endParaRPr lang="en-US" sz="1400" dirty="0"/>
          </a:p>
          <a:p>
            <a:pPr marL="342900" indent="-342900">
              <a:spcAft>
                <a:spcPts val="700"/>
              </a:spcAft>
              <a:buSzPct val="100000"/>
              <a:buChar char="•"/>
            </a:pPr>
            <a:r>
              <a:rPr lang="en-US" sz="1400" b="1" dirty="0">
                <a:solidFill>
                  <a:srgbClr val="111111"/>
                </a:solidFill>
                <a:latin typeface="Calibri" pitchFamily="34" charset="0"/>
                <a:ea typeface="Calibri" pitchFamily="34" charset="-122"/>
                <a:cs typeface="Calibri" pitchFamily="34" charset="-120"/>
              </a:rPr>
              <a:t>Shorter queues: </a:t>
            </a:r>
            <a:pPr indent="0" marL="0">
              <a:buNone/>
            </a:pPr>
            <a:r>
              <a:rPr lang="en-US" sz="1400" dirty="0">
                <a:solidFill>
                  <a:srgbClr val="111111"/>
                </a:solidFill>
                <a:latin typeface="Calibri" pitchFamily="34" charset="0"/>
                <a:ea typeface="Calibri" pitchFamily="34" charset="-122"/>
                <a:cs typeface="Calibri" pitchFamily="34" charset="-120"/>
              </a:rPr>
              <a:t>open a counter </a:t>
            </a:r>
            <a:pPr indent="0" marL="0">
              <a:buNone/>
            </a:pPr>
            <a:r>
              <a:rPr lang="en-US" sz="1400" b="1" dirty="0">
                <a:solidFill>
                  <a:srgbClr val="C0171D"/>
                </a:solidFill>
                <a:latin typeface="Calibri" pitchFamily="34" charset="0"/>
                <a:ea typeface="Calibri" pitchFamily="34" charset="-122"/>
                <a:cs typeface="Calibri" pitchFamily="34" charset="-120"/>
              </a:rPr>
              <a:t>15 minutes before the rush</a:t>
            </a:r>
            <a:pPr indent="0" marL="0">
              <a:buNone/>
            </a:pPr>
            <a:r>
              <a:rPr lang="en-US" sz="1400" dirty="0">
                <a:solidFill>
                  <a:srgbClr val="111111"/>
                </a:solidFill>
                <a:latin typeface="Calibri" pitchFamily="34" charset="0"/>
                <a:ea typeface="Calibri" pitchFamily="34" charset="-122"/>
                <a:cs typeface="Calibri" pitchFamily="34" charset="-120"/>
              </a:rPr>
              <a:t>.</a:t>
            </a:r>
            <a:endParaRPr lang="en-US" sz="1400" dirty="0"/>
          </a:p>
          <a:p>
            <a:pPr marL="342900" indent="-342900">
              <a:spcAft>
                <a:spcPts val="700"/>
              </a:spcAft>
              <a:buSzPct val="100000"/>
              <a:buChar char="•"/>
            </a:pPr>
            <a:r>
              <a:rPr lang="en-US" sz="1400" b="1" dirty="0">
                <a:solidFill>
                  <a:srgbClr val="111111"/>
                </a:solidFill>
                <a:latin typeface="Calibri" pitchFamily="34" charset="0"/>
                <a:ea typeface="Calibri" pitchFamily="34" charset="-122"/>
                <a:cs typeface="Calibri" pitchFamily="34" charset="-120"/>
              </a:rPr>
              <a:t>Better staffing: </a:t>
            </a:r>
            <a:pPr indent="0" marL="0">
              <a:buNone/>
            </a:pPr>
            <a:r>
              <a:rPr lang="en-US" sz="1400" dirty="0">
                <a:solidFill>
                  <a:srgbClr val="111111"/>
                </a:solidFill>
                <a:latin typeface="Calibri" pitchFamily="34" charset="0"/>
                <a:ea typeface="Calibri" pitchFamily="34" charset="-122"/>
                <a:cs typeface="Calibri" pitchFamily="34" charset="-120"/>
              </a:rPr>
              <a:t>plan shifts from </a:t>
            </a:r>
            <a:pPr indent="0" marL="0">
              <a:buNone/>
            </a:pPr>
            <a:r>
              <a:rPr lang="en-US" sz="1400" b="1" dirty="0">
                <a:solidFill>
                  <a:srgbClr val="C0171D"/>
                </a:solidFill>
                <a:latin typeface="Calibri" pitchFamily="34" charset="0"/>
                <a:ea typeface="Calibri" pitchFamily="34" charset="-122"/>
                <a:cs typeface="Calibri" pitchFamily="34" charset="-120"/>
              </a:rPr>
              <a:t>real footfall and peak hours</a:t>
            </a:r>
            <a:pPr indent="0" marL="0">
              <a:buNone/>
            </a:pPr>
            <a:r>
              <a:rPr lang="en-US" sz="1400" dirty="0">
                <a:solidFill>
                  <a:srgbClr val="111111"/>
                </a:solidFill>
                <a:latin typeface="Calibri" pitchFamily="34" charset="0"/>
                <a:ea typeface="Calibri" pitchFamily="34" charset="-122"/>
                <a:cs typeface="Calibri" pitchFamily="34" charset="-120"/>
              </a:rPr>
              <a:t>.</a:t>
            </a:r>
            <a:endParaRPr lang="en-US" sz="1400" dirty="0"/>
          </a:p>
          <a:p>
            <a:pPr marL="342900" indent="-342900">
              <a:spcAft>
                <a:spcPts val="700"/>
              </a:spcAft>
              <a:buSzPct val="100000"/>
              <a:buChar char="•"/>
            </a:pPr>
            <a:r>
              <a:rPr lang="en-US" sz="1400" b="1" dirty="0">
                <a:solidFill>
                  <a:srgbClr val="111111"/>
                </a:solidFill>
                <a:latin typeface="Calibri" pitchFamily="34" charset="0"/>
                <a:ea typeface="Calibri" pitchFamily="34" charset="-122"/>
                <a:cs typeface="Calibri" pitchFamily="34" charset="-120"/>
              </a:rPr>
              <a:t>Smarter layout: </a:t>
            </a:r>
            <a:pPr indent="0" marL="0">
              <a:buNone/>
            </a:pPr>
            <a:r>
              <a:rPr lang="en-US" sz="1400" dirty="0">
                <a:solidFill>
                  <a:srgbClr val="111111"/>
                </a:solidFill>
                <a:latin typeface="Calibri" pitchFamily="34" charset="0"/>
                <a:ea typeface="Calibri" pitchFamily="34" charset="-122"/>
                <a:cs typeface="Calibri" pitchFamily="34" charset="-120"/>
              </a:rPr>
              <a:t>heatmaps show </a:t>
            </a:r>
            <a:pPr indent="0" marL="0">
              <a:buNone/>
            </a:pPr>
            <a:r>
              <a:rPr lang="en-US" sz="1400" b="1" dirty="0">
                <a:solidFill>
                  <a:srgbClr val="C0171D"/>
                </a:solidFill>
                <a:latin typeface="Calibri" pitchFamily="34" charset="0"/>
                <a:ea typeface="Calibri" pitchFamily="34" charset="-122"/>
                <a:cs typeface="Calibri" pitchFamily="34" charset="-120"/>
              </a:rPr>
              <a:t>which aisles and promos work</a:t>
            </a:r>
            <a:pPr indent="0" marL="0">
              <a:buNone/>
            </a:pPr>
            <a:r>
              <a:rPr lang="en-US" sz="1400" dirty="0">
                <a:solidFill>
                  <a:srgbClr val="111111"/>
                </a:solidFill>
                <a:latin typeface="Calibri" pitchFamily="34" charset="0"/>
                <a:ea typeface="Calibri" pitchFamily="34" charset="-122"/>
                <a:cs typeface="Calibri" pitchFamily="34" charset="-120"/>
              </a:rPr>
              <a:t>.</a:t>
            </a:r>
            <a:endParaRPr lang="en-US" sz="1400" dirty="0"/>
          </a:p>
          <a:p>
            <a:pPr marL="342900" indent="-342900">
              <a:spcAft>
                <a:spcPts val="700"/>
              </a:spcAft>
              <a:buSzPct val="100000"/>
              <a:buChar char="•"/>
            </a:pPr>
            <a:r>
              <a:rPr lang="en-US" sz="1400" b="1" dirty="0">
                <a:solidFill>
                  <a:srgbClr val="111111"/>
                </a:solidFill>
                <a:latin typeface="Calibri" pitchFamily="34" charset="0"/>
                <a:ea typeface="Calibri" pitchFamily="34" charset="-122"/>
                <a:cs typeface="Calibri" pitchFamily="34" charset="-120"/>
              </a:rPr>
              <a:t>No manual counting: </a:t>
            </a:r>
            <a:pPr indent="0" marL="0">
              <a:buNone/>
            </a:pPr>
            <a:r>
              <a:rPr lang="en-US" sz="1400" b="1" dirty="0">
                <a:solidFill>
                  <a:srgbClr val="C0171D"/>
                </a:solidFill>
                <a:latin typeface="Calibri" pitchFamily="34" charset="0"/>
                <a:ea typeface="Calibri" pitchFamily="34" charset="-122"/>
                <a:cs typeface="Calibri" pitchFamily="34" charset="-120"/>
              </a:rPr>
              <a:t>daily and weekly reports</a:t>
            </a:r>
            <a:pPr indent="0" marL="0">
              <a:buNone/>
            </a:pPr>
            <a:r>
              <a:rPr lang="en-US" sz="1400" dirty="0">
                <a:solidFill>
                  <a:srgbClr val="111111"/>
                </a:solidFill>
                <a:latin typeface="Calibri" pitchFamily="34" charset="0"/>
                <a:ea typeface="Calibri" pitchFamily="34" charset="-122"/>
                <a:cs typeface="Calibri" pitchFamily="34" charset="-120"/>
              </a:rPr>
              <a:t> are automatic.</a:t>
            </a:r>
            <a:endParaRPr lang="en-US" sz="1400" dirty="0"/>
          </a:p>
        </p:txBody>
      </p:sp>
      <p:sp>
        <p:nvSpPr>
          <p:cNvPr id="11" name="Shape 8"/>
          <p:cNvSpPr/>
          <p:nvPr/>
        </p:nvSpPr>
        <p:spPr>
          <a:xfrm>
            <a:off x="6217920" y="868680"/>
            <a:ext cx="5742432" cy="2377440"/>
          </a:xfrm>
          <a:prstGeom prst="roundRect">
            <a:avLst>
              <a:gd name="adj" fmla="val 3077"/>
            </a:avLst>
          </a:prstGeom>
          <a:solidFill>
            <a:srgbClr val="FFFFFF"/>
          </a:solidFill>
          <a:ln w="9525">
            <a:solidFill>
              <a:srgbClr val="CBD3DC"/>
            </a:solidFill>
            <a:prstDash val="solid"/>
          </a:ln>
        </p:spPr>
      </p:sp>
      <p:sp>
        <p:nvSpPr>
          <p:cNvPr id="12" name="Shape 9"/>
          <p:cNvSpPr/>
          <p:nvPr/>
        </p:nvSpPr>
        <p:spPr>
          <a:xfrm>
            <a:off x="6355080" y="960120"/>
            <a:ext cx="329184" cy="329184"/>
          </a:xfrm>
          <a:prstGeom prst="ellipse">
            <a:avLst/>
          </a:prstGeom>
          <a:solidFill>
            <a:srgbClr val="E3EAF8"/>
          </a:solidFill>
          <a:ln w="12700">
            <a:solidFill>
              <a:srgbClr val="E3EAF8"/>
            </a:solidFill>
            <a:prstDash val="solid"/>
          </a:ln>
        </p:spPr>
      </p:sp>
      <p:pic>
        <p:nvPicPr>
          <p:cNvPr id="13" name="Image 1" descr="preencoded.png">    </p:cNvPr>
          <p:cNvPicPr>
            <a:picLocks noChangeAspect="1"/>
          </p:cNvPicPr>
          <p:nvPr/>
        </p:nvPicPr>
        <p:blipFill>
          <a:blip r:embed="rId2"/>
          <a:stretch>
            <a:fillRect/>
          </a:stretch>
        </p:blipFill>
        <p:spPr>
          <a:xfrm>
            <a:off x="6419088" y="1024128"/>
            <a:ext cx="201168" cy="201168"/>
          </a:xfrm>
          <a:prstGeom prst="rect">
            <a:avLst/>
          </a:prstGeom>
        </p:spPr>
      </p:pic>
      <p:sp>
        <p:nvSpPr>
          <p:cNvPr id="14" name="Text 10"/>
          <p:cNvSpPr txBox="1"/>
          <p:nvPr/>
        </p:nvSpPr>
        <p:spPr>
          <a:xfrm>
            <a:off x="6766560" y="932688"/>
            <a:ext cx="5056632" cy="384048"/>
          </a:xfrm>
          <a:prstGeom prst="rect">
            <a:avLst/>
          </a:prstGeom>
          <a:noFill/>
          <a:ln/>
        </p:spPr>
        <p:txBody>
          <a:bodyPr wrap="square" lIns="0" tIns="0" rIns="0" bIns="0" rtlCol="0" anchor="ctr"/>
          <a:lstStyle/>
          <a:p>
            <a:pPr indent="0" marL="0">
              <a:buNone/>
            </a:pPr>
            <a:r>
              <a:rPr lang="en-US" sz="1600" b="1" dirty="0">
                <a:solidFill>
                  <a:srgbClr val="111111"/>
                </a:solidFill>
                <a:latin typeface="Cambria" pitchFamily="34" charset="0"/>
                <a:ea typeface="Cambria" pitchFamily="34" charset="-122"/>
                <a:cs typeface="Cambria" pitchFamily="34" charset="-120"/>
              </a:rPr>
              <a:t>Benefits for Shoppers &amp; Chains</a:t>
            </a:r>
            <a:endParaRPr lang="en-US" sz="1600" dirty="0"/>
          </a:p>
        </p:txBody>
      </p:sp>
      <p:sp>
        <p:nvSpPr>
          <p:cNvPr id="15" name="Text 11"/>
          <p:cNvSpPr txBox="1"/>
          <p:nvPr/>
        </p:nvSpPr>
        <p:spPr>
          <a:xfrm>
            <a:off x="6355080" y="1307592"/>
            <a:ext cx="5486400" cy="1901952"/>
          </a:xfrm>
          <a:prstGeom prst="rect">
            <a:avLst/>
          </a:prstGeom>
          <a:noFill/>
          <a:ln/>
        </p:spPr>
        <p:txBody>
          <a:bodyPr wrap="square" lIns="0" tIns="0" rIns="0" bIns="0" rtlCol="0" anchor="t"/>
          <a:lstStyle/>
          <a:p>
            <a:pPr marL="342900" indent="-342900">
              <a:spcAft>
                <a:spcPts val="700"/>
              </a:spcAft>
              <a:buSzPct val="100000"/>
              <a:buChar char="•"/>
            </a:pPr>
            <a:r>
              <a:rPr lang="en-US" sz="1400" b="1" dirty="0">
                <a:solidFill>
                  <a:srgbClr val="111111"/>
                </a:solidFill>
                <a:latin typeface="Calibri" pitchFamily="34" charset="0"/>
                <a:ea typeface="Calibri" pitchFamily="34" charset="-122"/>
                <a:cs typeface="Calibri" pitchFamily="34" charset="-120"/>
              </a:rPr>
              <a:t>Products available: </a:t>
            </a:r>
            <a:pPr indent="0" marL="0">
              <a:buNone/>
            </a:pPr>
            <a:r>
              <a:rPr lang="en-US" sz="1400" dirty="0">
                <a:solidFill>
                  <a:srgbClr val="111111"/>
                </a:solidFill>
                <a:latin typeface="Calibri" pitchFamily="34" charset="0"/>
                <a:ea typeface="Calibri" pitchFamily="34" charset="-122"/>
                <a:cs typeface="Calibri" pitchFamily="34" charset="-120"/>
              </a:rPr>
              <a:t>shoppers find what they came for.</a:t>
            </a:r>
            <a:endParaRPr lang="en-US" sz="1400" dirty="0"/>
          </a:p>
          <a:p>
            <a:pPr marL="342900" indent="-342900">
              <a:spcAft>
                <a:spcPts val="700"/>
              </a:spcAft>
              <a:buSzPct val="100000"/>
              <a:buChar char="•"/>
            </a:pPr>
            <a:r>
              <a:rPr lang="en-US" sz="1400" b="1" dirty="0">
                <a:solidFill>
                  <a:srgbClr val="111111"/>
                </a:solidFill>
                <a:latin typeface="Calibri" pitchFamily="34" charset="0"/>
                <a:ea typeface="Calibri" pitchFamily="34" charset="-122"/>
                <a:cs typeface="Calibri" pitchFamily="34" charset="-120"/>
              </a:rPr>
              <a:t>Less waiting: </a:t>
            </a:r>
            <a:pPr indent="0" marL="0">
              <a:buNone/>
            </a:pPr>
            <a:r>
              <a:rPr lang="en-US" sz="1400" dirty="0">
                <a:solidFill>
                  <a:srgbClr val="111111"/>
                </a:solidFill>
                <a:latin typeface="Calibri" pitchFamily="34" charset="0"/>
                <a:ea typeface="Calibri" pitchFamily="34" charset="-122"/>
                <a:cs typeface="Calibri" pitchFamily="34" charset="-120"/>
              </a:rPr>
              <a:t>faster billing, </a:t>
            </a:r>
            <a:pPr indent="0" marL="0">
              <a:buNone/>
            </a:pPr>
            <a:r>
              <a:rPr lang="en-US" sz="1400" b="1" dirty="0">
                <a:solidFill>
                  <a:srgbClr val="C0171D"/>
                </a:solidFill>
                <a:latin typeface="Calibri" pitchFamily="34" charset="0"/>
                <a:ea typeface="Calibri" pitchFamily="34" charset="-122"/>
                <a:cs typeface="Calibri" pitchFamily="34" charset="-120"/>
              </a:rPr>
              <a:t>better experience</a:t>
            </a:r>
            <a:pPr indent="0" marL="0">
              <a:buNone/>
            </a:pPr>
            <a:r>
              <a:rPr lang="en-US" sz="1400" dirty="0">
                <a:solidFill>
                  <a:srgbClr val="111111"/>
                </a:solidFill>
                <a:latin typeface="Calibri" pitchFamily="34" charset="0"/>
                <a:ea typeface="Calibri" pitchFamily="34" charset="-122"/>
                <a:cs typeface="Calibri" pitchFamily="34" charset="-120"/>
              </a:rPr>
              <a:t>.</a:t>
            </a:r>
            <a:endParaRPr lang="en-US" sz="1400" dirty="0"/>
          </a:p>
          <a:p>
            <a:pPr marL="342900" indent="-342900">
              <a:spcAft>
                <a:spcPts val="700"/>
              </a:spcAft>
              <a:buSzPct val="100000"/>
              <a:buChar char="•"/>
            </a:pPr>
            <a:r>
              <a:rPr lang="en-US" sz="1400" b="1" dirty="0">
                <a:solidFill>
                  <a:srgbClr val="111111"/>
                </a:solidFill>
                <a:latin typeface="Calibri" pitchFamily="34" charset="0"/>
                <a:ea typeface="Calibri" pitchFamily="34" charset="-122"/>
                <a:cs typeface="Calibri" pitchFamily="34" charset="-120"/>
              </a:rPr>
              <a:t>Privacy respected: </a:t>
            </a:r>
            <a:pPr indent="0" marL="0">
              <a:buNone/>
            </a:pPr>
            <a:r>
              <a:rPr lang="en-US" sz="1400" b="1" dirty="0">
                <a:solidFill>
                  <a:srgbClr val="C0171D"/>
                </a:solidFill>
                <a:latin typeface="Calibri" pitchFamily="34" charset="0"/>
                <a:ea typeface="Calibri" pitchFamily="34" charset="-122"/>
                <a:cs typeface="Calibri" pitchFamily="34" charset="-120"/>
              </a:rPr>
              <a:t>no faces, no photos</a:t>
            </a:r>
            <a:pPr indent="0" marL="0">
              <a:buNone/>
            </a:pPr>
            <a:r>
              <a:rPr lang="en-US" sz="1400" dirty="0">
                <a:solidFill>
                  <a:srgbClr val="111111"/>
                </a:solidFill>
                <a:latin typeface="Calibri" pitchFamily="34" charset="0"/>
                <a:ea typeface="Calibri" pitchFamily="34" charset="-122"/>
                <a:cs typeface="Calibri" pitchFamily="34" charset="-120"/>
              </a:rPr>
              <a:t>, only numbers.</a:t>
            </a:r>
            <a:endParaRPr lang="en-US" sz="1400" dirty="0"/>
          </a:p>
          <a:p>
            <a:pPr marL="342900" indent="-342900">
              <a:spcAft>
                <a:spcPts val="700"/>
              </a:spcAft>
              <a:buSzPct val="100000"/>
              <a:buChar char="•"/>
            </a:pPr>
            <a:r>
              <a:rPr lang="en-US" sz="1400" b="1" dirty="0">
                <a:solidFill>
                  <a:srgbClr val="111111"/>
                </a:solidFill>
                <a:latin typeface="Calibri" pitchFamily="34" charset="0"/>
                <a:ea typeface="Calibri" pitchFamily="34" charset="-122"/>
                <a:cs typeface="Calibri" pitchFamily="34" charset="-120"/>
              </a:rPr>
              <a:t>Works offline: </a:t>
            </a:r>
            <a:pPr indent="0" marL="0">
              <a:buNone/>
            </a:pPr>
            <a:r>
              <a:rPr lang="en-US" sz="1400" dirty="0">
                <a:solidFill>
                  <a:srgbClr val="111111"/>
                </a:solidFill>
                <a:latin typeface="Calibri" pitchFamily="34" charset="0"/>
                <a:ea typeface="Calibri" pitchFamily="34" charset="-122"/>
                <a:cs typeface="Calibri" pitchFamily="34" charset="-120"/>
              </a:rPr>
              <a:t>reliable in </a:t>
            </a:r>
            <a:pPr indent="0" marL="0">
              <a:buNone/>
            </a:pPr>
            <a:r>
              <a:rPr lang="en-US" sz="1400" b="1" dirty="0">
                <a:solidFill>
                  <a:srgbClr val="C0171D"/>
                </a:solidFill>
                <a:latin typeface="Calibri" pitchFamily="34" charset="0"/>
                <a:ea typeface="Calibri" pitchFamily="34" charset="-122"/>
                <a:cs typeface="Calibri" pitchFamily="34" charset="-120"/>
              </a:rPr>
              <a:t>Tier-2/3 towns</a:t>
            </a:r>
            <a:pPr indent="0" marL="0">
              <a:buNone/>
            </a:pPr>
            <a:r>
              <a:rPr lang="en-US" sz="1400" dirty="0">
                <a:solidFill>
                  <a:srgbClr val="111111"/>
                </a:solidFill>
                <a:latin typeface="Calibri" pitchFamily="34" charset="0"/>
                <a:ea typeface="Calibri" pitchFamily="34" charset="-122"/>
                <a:cs typeface="Calibri" pitchFamily="34" charset="-120"/>
              </a:rPr>
              <a:t> with weak internet.</a:t>
            </a:r>
            <a:endParaRPr lang="en-US" sz="1400" dirty="0"/>
          </a:p>
          <a:p>
            <a:pPr marL="342900" indent="-342900">
              <a:spcAft>
                <a:spcPts val="700"/>
              </a:spcAft>
              <a:buSzPct val="100000"/>
              <a:buChar char="•"/>
            </a:pPr>
            <a:r>
              <a:rPr lang="en-US" sz="1400" b="1" dirty="0">
                <a:solidFill>
                  <a:srgbClr val="111111"/>
                </a:solidFill>
                <a:latin typeface="Calibri" pitchFamily="34" charset="0"/>
                <a:ea typeface="Calibri" pitchFamily="34" charset="-122"/>
                <a:cs typeface="Calibri" pitchFamily="34" charset="-120"/>
              </a:rPr>
              <a:t>Multi-store view: </a:t>
            </a:r>
            <a:pPr indent="0" marL="0">
              <a:buNone/>
            </a:pPr>
            <a:r>
              <a:rPr lang="en-US" sz="1400" dirty="0">
                <a:solidFill>
                  <a:srgbClr val="111111"/>
                </a:solidFill>
                <a:latin typeface="Calibri" pitchFamily="34" charset="0"/>
                <a:ea typeface="Calibri" pitchFamily="34" charset="-122"/>
                <a:cs typeface="Calibri" pitchFamily="34" charset="-120"/>
              </a:rPr>
              <a:t>HQ sees </a:t>
            </a:r>
            <a:pPr indent="0" marL="0">
              <a:buNone/>
            </a:pPr>
            <a:r>
              <a:rPr lang="en-US" sz="1400" b="1" dirty="0">
                <a:solidFill>
                  <a:srgbClr val="C0171D"/>
                </a:solidFill>
                <a:latin typeface="Calibri" pitchFamily="34" charset="0"/>
                <a:ea typeface="Calibri" pitchFamily="34" charset="-122"/>
                <a:cs typeface="Calibri" pitchFamily="34" charset="-120"/>
              </a:rPr>
              <a:t>all stores on one screen</a:t>
            </a:r>
            <a:pPr indent="0" marL="0">
              <a:buNone/>
            </a:pPr>
            <a:r>
              <a:rPr lang="en-US" sz="1400" dirty="0">
                <a:solidFill>
                  <a:srgbClr val="111111"/>
                </a:solidFill>
                <a:latin typeface="Calibri" pitchFamily="34" charset="0"/>
                <a:ea typeface="Calibri" pitchFamily="34" charset="-122"/>
                <a:cs typeface="Calibri" pitchFamily="34" charset="-120"/>
              </a:rPr>
              <a:t>.</a:t>
            </a:r>
            <a:endParaRPr lang="en-US" sz="1400" dirty="0"/>
          </a:p>
        </p:txBody>
      </p:sp>
      <p:sp>
        <p:nvSpPr>
          <p:cNvPr id="16" name="Shape 12"/>
          <p:cNvSpPr/>
          <p:nvPr/>
        </p:nvSpPr>
        <p:spPr>
          <a:xfrm>
            <a:off x="228600" y="3337560"/>
            <a:ext cx="7498080" cy="3291840"/>
          </a:xfrm>
          <a:prstGeom prst="roundRect">
            <a:avLst>
              <a:gd name="adj" fmla="val 2222"/>
            </a:avLst>
          </a:prstGeom>
          <a:solidFill>
            <a:srgbClr val="FFFFFF"/>
          </a:solidFill>
          <a:ln w="9525">
            <a:solidFill>
              <a:srgbClr val="CBD3DC"/>
            </a:solidFill>
            <a:prstDash val="solid"/>
          </a:ln>
        </p:spPr>
      </p:sp>
      <p:sp>
        <p:nvSpPr>
          <p:cNvPr id="17" name="Shape 13"/>
          <p:cNvSpPr/>
          <p:nvPr/>
        </p:nvSpPr>
        <p:spPr>
          <a:xfrm>
            <a:off x="365760" y="3429000"/>
            <a:ext cx="329184" cy="329184"/>
          </a:xfrm>
          <a:prstGeom prst="ellipse">
            <a:avLst/>
          </a:prstGeom>
          <a:solidFill>
            <a:srgbClr val="FBF1D9"/>
          </a:solidFill>
          <a:ln w="12700">
            <a:solidFill>
              <a:srgbClr val="FBF1D9"/>
            </a:solidFill>
            <a:prstDash val="solid"/>
          </a:ln>
        </p:spPr>
      </p:sp>
      <p:pic>
        <p:nvPicPr>
          <p:cNvPr id="18" name="Image 2" descr="preencoded.png">    </p:cNvPr>
          <p:cNvPicPr>
            <a:picLocks noChangeAspect="1"/>
          </p:cNvPicPr>
          <p:nvPr/>
        </p:nvPicPr>
        <p:blipFill>
          <a:blip r:embed="rId3"/>
          <a:stretch>
            <a:fillRect/>
          </a:stretch>
        </p:blipFill>
        <p:spPr>
          <a:xfrm>
            <a:off x="429768" y="3493008"/>
            <a:ext cx="201168" cy="201168"/>
          </a:xfrm>
          <a:prstGeom prst="rect">
            <a:avLst/>
          </a:prstGeom>
        </p:spPr>
      </p:pic>
      <p:sp>
        <p:nvSpPr>
          <p:cNvPr id="19" name="Text 14"/>
          <p:cNvSpPr txBox="1"/>
          <p:nvPr/>
        </p:nvSpPr>
        <p:spPr>
          <a:xfrm>
            <a:off x="777240" y="3401568"/>
            <a:ext cx="6812280" cy="384048"/>
          </a:xfrm>
          <a:prstGeom prst="rect">
            <a:avLst/>
          </a:prstGeom>
          <a:noFill/>
          <a:ln/>
        </p:spPr>
        <p:txBody>
          <a:bodyPr wrap="square" lIns="0" tIns="0" rIns="0" bIns="0" rtlCol="0" anchor="ctr"/>
          <a:lstStyle/>
          <a:p>
            <a:pPr indent="0" marL="0">
              <a:buNone/>
            </a:pPr>
            <a:r>
              <a:rPr lang="en-US" sz="1600" b="1" dirty="0">
                <a:solidFill>
                  <a:srgbClr val="111111"/>
                </a:solidFill>
                <a:latin typeface="Cambria" pitchFamily="34" charset="0"/>
                <a:ea typeface="Cambria" pitchFamily="34" charset="-122"/>
                <a:cs typeface="Cambria" pitchFamily="34" charset="-120"/>
              </a:rPr>
              <a:t>Economic and Strategic Gains</a:t>
            </a:r>
            <a:endParaRPr lang="en-US" sz="1600" dirty="0"/>
          </a:p>
        </p:txBody>
      </p:sp>
      <p:sp>
        <p:nvSpPr>
          <p:cNvPr id="20" name="Text 15"/>
          <p:cNvSpPr txBox="1"/>
          <p:nvPr/>
        </p:nvSpPr>
        <p:spPr>
          <a:xfrm>
            <a:off x="365760" y="3776472"/>
            <a:ext cx="7223760" cy="2807208"/>
          </a:xfrm>
          <a:prstGeom prst="rect">
            <a:avLst/>
          </a:prstGeom>
          <a:noFill/>
          <a:ln/>
        </p:spPr>
        <p:txBody>
          <a:bodyPr wrap="square" lIns="0" tIns="0" rIns="0" bIns="0" rtlCol="0" anchor="t"/>
          <a:lstStyle/>
          <a:p>
            <a:pPr marL="342900" indent="-342900">
              <a:spcAft>
                <a:spcPts val="1100"/>
              </a:spcAft>
              <a:buSzPct val="100000"/>
              <a:buChar char="•"/>
            </a:pPr>
            <a:r>
              <a:rPr lang="en-US" sz="1450" b="1" dirty="0">
                <a:solidFill>
                  <a:srgbClr val="111111"/>
                </a:solidFill>
                <a:latin typeface="Calibri" pitchFamily="34" charset="0"/>
                <a:ea typeface="Calibri" pitchFamily="34" charset="-122"/>
                <a:cs typeface="Calibri" pitchFamily="34" charset="-120"/>
              </a:rPr>
              <a:t>Recover lost sales: </a:t>
            </a:r>
            <a:pPr indent="0" marL="0">
              <a:buNone/>
            </a:pPr>
            <a:r>
              <a:rPr lang="en-US" sz="1450" dirty="0">
                <a:solidFill>
                  <a:srgbClr val="111111"/>
                </a:solidFill>
                <a:latin typeface="Calibri" pitchFamily="34" charset="0"/>
                <a:ea typeface="Calibri" pitchFamily="34" charset="-122"/>
                <a:cs typeface="Calibri" pitchFamily="34" charset="-120"/>
              </a:rPr>
              <a:t>stock-outs cost retailers </a:t>
            </a:r>
            <a:pPr indent="0" marL="0">
              <a:buNone/>
            </a:pPr>
            <a:r>
              <a:rPr lang="en-US" sz="1450" b="1" dirty="0">
                <a:solidFill>
                  <a:srgbClr val="1E6B3A"/>
                </a:solidFill>
                <a:latin typeface="Calibri" pitchFamily="34" charset="0"/>
                <a:ea typeface="Calibri" pitchFamily="34" charset="-122"/>
                <a:cs typeface="Calibri" pitchFamily="34" charset="-120"/>
              </a:rPr>
              <a:t>about 4% of sales</a:t>
            </a:r>
            <a:pPr indent="0" marL="0">
              <a:buNone/>
            </a:pPr>
            <a:r>
              <a:rPr lang="en-US" sz="1450" dirty="0">
                <a:solidFill>
                  <a:srgbClr val="111111"/>
                </a:solidFill>
                <a:latin typeface="Calibri" pitchFamily="34" charset="0"/>
                <a:ea typeface="Calibri" pitchFamily="34" charset="-122"/>
                <a:cs typeface="Calibri" pitchFamily="34" charset="-120"/>
              </a:rPr>
              <a:t> (global GMA study); faster refills win this back.</a:t>
            </a:r>
            <a:endParaRPr lang="en-US" sz="1450" dirty="0"/>
          </a:p>
          <a:p>
            <a:pPr marL="342900" indent="-342900">
              <a:spcAft>
                <a:spcPts val="1100"/>
              </a:spcAft>
              <a:buSzPct val="100000"/>
              <a:buChar char="•"/>
            </a:pPr>
            <a:r>
              <a:rPr lang="en-US" sz="1450" b="1" dirty="0">
                <a:solidFill>
                  <a:srgbClr val="111111"/>
                </a:solidFill>
                <a:latin typeface="Calibri" pitchFamily="34" charset="0"/>
                <a:ea typeface="Calibri" pitchFamily="34" charset="-122"/>
                <a:cs typeface="Calibri" pitchFamily="34" charset="-120"/>
              </a:rPr>
              <a:t>Low cost: </a:t>
            </a:r>
            <a:pPr indent="0" marL="0">
              <a:buNone/>
            </a:pPr>
            <a:r>
              <a:rPr lang="en-US" sz="1450" dirty="0">
                <a:solidFill>
                  <a:srgbClr val="111111"/>
                </a:solidFill>
                <a:latin typeface="Calibri" pitchFamily="34" charset="0"/>
                <a:ea typeface="Calibri" pitchFamily="34" charset="-122"/>
                <a:cs typeface="Calibri" pitchFamily="34" charset="-120"/>
              </a:rPr>
              <a:t>runs on </a:t>
            </a:r>
            <a:pPr indent="0" marL="0">
              <a:buNone/>
            </a:pPr>
            <a:r>
              <a:rPr lang="en-US" sz="1450" b="1" dirty="0">
                <a:solidFill>
                  <a:srgbClr val="1E6B3A"/>
                </a:solidFill>
                <a:latin typeface="Calibri" pitchFamily="34" charset="0"/>
                <a:ea typeface="Calibri" pitchFamily="34" charset="-122"/>
                <a:cs typeface="Calibri" pitchFamily="34" charset="-120"/>
              </a:rPr>
              <a:t>existing CCTV + a ₹35–50k mini PC</a:t>
            </a:r>
            <a:pPr indent="0" marL="0">
              <a:buNone/>
            </a:pPr>
            <a:r>
              <a:rPr lang="en-US" sz="1450" dirty="0">
                <a:solidFill>
                  <a:srgbClr val="111111"/>
                </a:solidFill>
                <a:latin typeface="Calibri" pitchFamily="34" charset="0"/>
                <a:ea typeface="Calibri" pitchFamily="34" charset="-122"/>
                <a:cs typeface="Calibri" pitchFamily="34" charset="-120"/>
              </a:rPr>
              <a:t>; no cloud video bills.</a:t>
            </a:r>
            <a:endParaRPr lang="en-US" sz="1450" dirty="0"/>
          </a:p>
          <a:p>
            <a:pPr marL="342900" indent="-342900">
              <a:spcAft>
                <a:spcPts val="1100"/>
              </a:spcAft>
              <a:buSzPct val="100000"/>
              <a:buChar char="•"/>
            </a:pPr>
            <a:r>
              <a:rPr lang="en-US" sz="1450" b="1" dirty="0">
                <a:solidFill>
                  <a:srgbClr val="111111"/>
                </a:solidFill>
                <a:latin typeface="Calibri" pitchFamily="34" charset="0"/>
                <a:ea typeface="Calibri" pitchFamily="34" charset="-122"/>
                <a:cs typeface="Calibri" pitchFamily="34" charset="-120"/>
              </a:rPr>
              <a:t>Huge data saving: </a:t>
            </a:r>
            <a:pPr indent="0" marL="0">
              <a:buNone/>
            </a:pPr>
            <a:r>
              <a:rPr lang="en-US" sz="1450" b="1" dirty="0">
                <a:solidFill>
                  <a:srgbClr val="1E6B3A"/>
                </a:solidFill>
                <a:latin typeface="Calibri" pitchFamily="34" charset="0"/>
                <a:ea typeface="Calibri" pitchFamily="34" charset="-122"/>
                <a:cs typeface="Calibri" pitchFamily="34" charset="-120"/>
              </a:rPr>
              <a:t>1.2 MB/day per camera</a:t>
            </a:r>
            <a:pPr indent="0" marL="0">
              <a:buNone/>
            </a:pPr>
            <a:r>
              <a:rPr lang="en-US" sz="1450" dirty="0">
                <a:solidFill>
                  <a:srgbClr val="111111"/>
                </a:solidFill>
                <a:latin typeface="Calibri" pitchFamily="34" charset="0"/>
                <a:ea typeface="Calibri" pitchFamily="34" charset="-122"/>
                <a:cs typeface="Calibri" pitchFamily="34" charset="-120"/>
              </a:rPr>
              <a:t> instead of </a:t>
            </a:r>
            <a:pPr indent="0" marL="0">
              <a:buNone/>
            </a:pPr>
            <a:r>
              <a:rPr lang="en-US" sz="1450" b="1" dirty="0">
                <a:solidFill>
                  <a:srgbClr val="1E6B3A"/>
                </a:solidFill>
                <a:latin typeface="Calibri" pitchFamily="34" charset="0"/>
                <a:ea typeface="Calibri" pitchFamily="34" charset="-122"/>
                <a:cs typeface="Calibri" pitchFamily="34" charset="-120"/>
              </a:rPr>
              <a:t>12.6 GB</a:t>
            </a:r>
            <a:pPr indent="0" marL="0">
              <a:buNone/>
            </a:pPr>
            <a:r>
              <a:rPr lang="en-US" sz="1450" dirty="0">
                <a:solidFill>
                  <a:srgbClr val="111111"/>
                </a:solidFill>
                <a:latin typeface="Calibri" pitchFamily="34" charset="0"/>
                <a:ea typeface="Calibri" pitchFamily="34" charset="-122"/>
                <a:cs typeface="Calibri" pitchFamily="34" charset="-120"/>
              </a:rPr>
              <a:t> of video (</a:t>
            </a:r>
            <a:pPr indent="0" marL="0">
              <a:buNone/>
            </a:pPr>
            <a:r>
              <a:rPr lang="en-US" sz="1450" b="1" dirty="0">
                <a:solidFill>
                  <a:srgbClr val="1E6B3A"/>
                </a:solidFill>
                <a:latin typeface="Calibri" pitchFamily="34" charset="0"/>
                <a:ea typeface="Calibri" pitchFamily="34" charset="-122"/>
                <a:cs typeface="Calibri" pitchFamily="34" charset="-120"/>
              </a:rPr>
              <a:t>99.99% less</a:t>
            </a:r>
            <a:pPr indent="0" marL="0">
              <a:buNone/>
            </a:pPr>
            <a:r>
              <a:rPr lang="en-US" sz="1450" dirty="0">
                <a:solidFill>
                  <a:srgbClr val="111111"/>
                </a:solidFill>
                <a:latin typeface="Calibri" pitchFamily="34" charset="0"/>
                <a:ea typeface="Calibri" pitchFamily="34" charset="-122"/>
                <a:cs typeface="Calibri" pitchFamily="34" charset="-120"/>
              </a:rPr>
              <a:t>).</a:t>
            </a:r>
            <a:endParaRPr lang="en-US" sz="1450" dirty="0"/>
          </a:p>
          <a:p>
            <a:pPr marL="342900" indent="-342900">
              <a:spcAft>
                <a:spcPts val="1100"/>
              </a:spcAft>
              <a:buSzPct val="100000"/>
              <a:buChar char="•"/>
            </a:pPr>
            <a:r>
              <a:rPr lang="en-US" sz="1450" b="1" dirty="0">
                <a:solidFill>
                  <a:srgbClr val="111111"/>
                </a:solidFill>
                <a:latin typeface="Calibri" pitchFamily="34" charset="0"/>
                <a:ea typeface="Calibri" pitchFamily="34" charset="-122"/>
                <a:cs typeface="Calibri" pitchFamily="34" charset="-120"/>
              </a:rPr>
              <a:t>Big market: </a:t>
            </a:r>
            <a:pPr indent="0" marL="0">
              <a:buNone/>
            </a:pPr>
            <a:r>
              <a:rPr lang="en-US" sz="1450" dirty="0">
                <a:solidFill>
                  <a:srgbClr val="111111"/>
                </a:solidFill>
                <a:latin typeface="Calibri" pitchFamily="34" charset="0"/>
                <a:ea typeface="Calibri" pitchFamily="34" charset="-122"/>
                <a:cs typeface="Calibri" pitchFamily="34" charset="-120"/>
              </a:rPr>
              <a:t>India has </a:t>
            </a:r>
            <a:pPr indent="0" marL="0">
              <a:buNone/>
            </a:pPr>
            <a:r>
              <a:rPr lang="en-US" sz="1450" b="1" dirty="0">
                <a:solidFill>
                  <a:srgbClr val="1E6B3A"/>
                </a:solidFill>
                <a:latin typeface="Calibri" pitchFamily="34" charset="0"/>
                <a:ea typeface="Calibri" pitchFamily="34" charset="-122"/>
                <a:cs typeface="Calibri" pitchFamily="34" charset="-120"/>
              </a:rPr>
              <a:t>~13 million kirana stores</a:t>
            </a:r>
            <a:pPr indent="0" marL="0">
              <a:buNone/>
            </a:pPr>
            <a:r>
              <a:rPr lang="en-US" sz="1450" dirty="0">
                <a:solidFill>
                  <a:srgbClr val="111111"/>
                </a:solidFill>
                <a:latin typeface="Calibri" pitchFamily="34" charset="0"/>
                <a:ea typeface="Calibri" pitchFamily="34" charset="-122"/>
                <a:cs typeface="Calibri" pitchFamily="34" charset="-120"/>
              </a:rPr>
              <a:t> and a </a:t>
            </a:r>
            <a:pPr indent="0" marL="0">
              <a:buNone/>
            </a:pPr>
            <a:r>
              <a:rPr lang="en-US" sz="1450" b="1" dirty="0">
                <a:solidFill>
                  <a:srgbClr val="1E6B3A"/>
                </a:solidFill>
                <a:latin typeface="Calibri" pitchFamily="34" charset="0"/>
                <a:ea typeface="Calibri" pitchFamily="34" charset="-122"/>
                <a:cs typeface="Calibri" pitchFamily="34" charset="-120"/>
              </a:rPr>
              <a:t>US$ 1 trillion+</a:t>
            </a:r>
            <a:pPr indent="0" marL="0">
              <a:buNone/>
            </a:pPr>
            <a:r>
              <a:rPr lang="en-US" sz="1450" dirty="0">
                <a:solidFill>
                  <a:srgbClr val="111111"/>
                </a:solidFill>
                <a:latin typeface="Calibri" pitchFamily="34" charset="0"/>
                <a:ea typeface="Calibri" pitchFamily="34" charset="-122"/>
                <a:cs typeface="Calibri" pitchFamily="34" charset="-120"/>
              </a:rPr>
              <a:t> retail market.</a:t>
            </a:r>
            <a:endParaRPr lang="en-US" sz="1450" dirty="0"/>
          </a:p>
          <a:p>
            <a:pPr marL="342900" indent="-342900">
              <a:spcAft>
                <a:spcPts val="1100"/>
              </a:spcAft>
              <a:buSzPct val="100000"/>
              <a:buChar char="•"/>
            </a:pPr>
            <a:r>
              <a:rPr lang="en-US" sz="1450" b="1" dirty="0">
                <a:solidFill>
                  <a:srgbClr val="111111"/>
                </a:solidFill>
                <a:latin typeface="Calibri" pitchFamily="34" charset="0"/>
                <a:ea typeface="Calibri" pitchFamily="34" charset="-122"/>
                <a:cs typeface="Calibri" pitchFamily="34" charset="-120"/>
              </a:rPr>
              <a:t>Future ready: </a:t>
            </a:r>
            <a:pPr indent="0" marL="0">
              <a:buNone/>
            </a:pPr>
            <a:r>
              <a:rPr lang="en-US" sz="1450" dirty="0">
                <a:solidFill>
                  <a:srgbClr val="111111"/>
                </a:solidFill>
                <a:latin typeface="Calibri" pitchFamily="34" charset="0"/>
                <a:ea typeface="Calibri" pitchFamily="34" charset="-122"/>
                <a:cs typeface="Calibri" pitchFamily="34" charset="-120"/>
              </a:rPr>
              <a:t>fits </a:t>
            </a:r>
            <a:pPr indent="0" marL="0">
              <a:buNone/>
            </a:pPr>
            <a:r>
              <a:rPr lang="en-US" sz="1450" b="1" dirty="0">
                <a:solidFill>
                  <a:srgbClr val="1E6B3A"/>
                </a:solidFill>
                <a:latin typeface="Calibri" pitchFamily="34" charset="0"/>
                <a:ea typeface="Calibri" pitchFamily="34" charset="-122"/>
                <a:cs typeface="Calibri" pitchFamily="34" charset="-120"/>
              </a:rPr>
              <a:t>DPDP Act 2023</a:t>
            </a:r>
            <a:pPr indent="0" marL="0">
              <a:buNone/>
            </a:pPr>
            <a:r>
              <a:rPr lang="en-US" sz="1450" dirty="0">
                <a:solidFill>
                  <a:srgbClr val="111111"/>
                </a:solidFill>
                <a:latin typeface="Calibri" pitchFamily="34" charset="0"/>
                <a:ea typeface="Calibri" pitchFamily="34" charset="-122"/>
                <a:cs typeface="Calibri" pitchFamily="34" charset="-120"/>
              </a:rPr>
              <a:t> (privacy) and scales from one shop to a </a:t>
            </a:r>
            <a:pPr indent="0" marL="0">
              <a:buNone/>
            </a:pPr>
            <a:r>
              <a:rPr lang="en-US" sz="1450" b="1" dirty="0">
                <a:solidFill>
                  <a:srgbClr val="1E6B3A"/>
                </a:solidFill>
                <a:latin typeface="Calibri" pitchFamily="34" charset="0"/>
                <a:ea typeface="Calibri" pitchFamily="34" charset="-122"/>
                <a:cs typeface="Calibri" pitchFamily="34" charset="-120"/>
              </a:rPr>
              <a:t>national chain</a:t>
            </a:r>
            <a:pPr indent="0" marL="0">
              <a:buNone/>
            </a:pPr>
            <a:r>
              <a:rPr lang="en-US" sz="1450" dirty="0">
                <a:solidFill>
                  <a:srgbClr val="111111"/>
                </a:solidFill>
                <a:latin typeface="Calibri" pitchFamily="34" charset="0"/>
                <a:ea typeface="Calibri" pitchFamily="34" charset="-122"/>
                <a:cs typeface="Calibri" pitchFamily="34" charset="-120"/>
              </a:rPr>
              <a:t>.</a:t>
            </a:r>
            <a:endParaRPr lang="en-US" sz="1450" dirty="0"/>
          </a:p>
        </p:txBody>
      </p:sp>
      <p:sp>
        <p:nvSpPr>
          <p:cNvPr id="21" name="Shape 16"/>
          <p:cNvSpPr/>
          <p:nvPr/>
        </p:nvSpPr>
        <p:spPr>
          <a:xfrm>
            <a:off x="7863840" y="3337560"/>
            <a:ext cx="4096512" cy="3291840"/>
          </a:xfrm>
          <a:prstGeom prst="roundRect">
            <a:avLst>
              <a:gd name="adj" fmla="val 2222"/>
            </a:avLst>
          </a:prstGeom>
          <a:solidFill>
            <a:srgbClr val="FFFFFF"/>
          </a:solidFill>
          <a:ln w="9525">
            <a:solidFill>
              <a:srgbClr val="CBD3DC"/>
            </a:solidFill>
            <a:prstDash val="solid"/>
          </a:ln>
        </p:spPr>
      </p:sp>
      <p:graphicFrame>
        <p:nvGraphicFramePr>
          <p:cNvPr id="22" name="Chart 0" descr=""/>
          <p:cNvGraphicFramePr/>
          <p:nvPr/>
        </p:nvGraphicFramePr>
        <p:xfrm>
          <a:off x="7955280" y="3401568"/>
          <a:ext cx="3913632" cy="3163824"/>
        </p:xfrm>
        <a:graphic xmlns:a="http://schemas.openxmlformats.org/drawingml/2006/main">
          <a:graphicData uri="http://schemas.openxmlformats.org/drawingml/2006/chart">
            <c:chart xmlns:c="http://schemas.openxmlformats.org/drawingml/2006/chart" r:id="rId4"/>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7"/>
        </a:solidFill>
      </p:bgPr>
    </p:bg>
    <p:spTree>
      <p:nvGrpSpPr>
        <p:cNvPr id="1" name=""/>
        <p:cNvGrpSpPr/>
        <p:nvPr/>
      </p:nvGrpSpPr>
      <p:grpSpPr>
        <a:xfrm>
          <a:off x="0" y="0"/>
          <a:ext cx="0" cy="0"/>
          <a:chOff x="0" y="0"/>
          <a:chExt cx="0" cy="0"/>
        </a:xfrm>
      </p:grpSpPr>
      <p:sp>
        <p:nvSpPr>
          <p:cNvPr id="2" name="Shape 0"/>
          <p:cNvSpPr/>
          <p:nvPr/>
        </p:nvSpPr>
        <p:spPr>
          <a:xfrm>
            <a:off x="228600" y="109728"/>
            <a:ext cx="1234440" cy="566928"/>
          </a:xfrm>
          <a:prstGeom prst="ellipse">
            <a:avLst/>
          </a:prstGeom>
          <a:solidFill>
            <a:srgbClr val="FFFFFF"/>
          </a:solidFill>
          <a:ln w="15875">
            <a:solidFill>
              <a:srgbClr val="6B4FA0"/>
            </a:solidFill>
            <a:prstDash val="solid"/>
          </a:ln>
        </p:spPr>
      </p:sp>
      <p:sp>
        <p:nvSpPr>
          <p:cNvPr id="3" name="Text 1"/>
          <p:cNvSpPr txBox="1"/>
          <p:nvPr/>
        </p:nvSpPr>
        <p:spPr>
          <a:xfrm>
            <a:off x="228600" y="109728"/>
            <a:ext cx="1234440" cy="566928"/>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[Team Name]</a:t>
            </a:r>
            <a:endParaRPr lang="en-US" sz="1000" dirty="0"/>
          </a:p>
        </p:txBody>
      </p:sp>
      <p:sp>
        <p:nvSpPr>
          <p:cNvPr id="4" name="Text 2"/>
          <p:cNvSpPr txBox="1"/>
          <p:nvPr/>
        </p:nvSpPr>
        <p:spPr>
          <a:xfrm>
            <a:off x="1645920" y="91440"/>
            <a:ext cx="8869680" cy="640080"/>
          </a:xfrm>
          <a:prstGeom prst="rect">
            <a:avLst/>
          </a:prstGeom>
          <a:noFill/>
          <a:ln/>
        </p:spPr>
        <p:txBody>
          <a:bodyPr wrap="square" rtlCol="0" anchor="ctr"/>
          <a:lstStyle/>
          <a:p>
            <a:pPr algn="ctr" indent="0" marL="0">
              <a:buNone/>
            </a:pPr>
            <a:r>
              <a:rPr lang="en-US" sz="3000" b="1" dirty="0">
                <a:solidFill>
                  <a:srgbClr val="111111"/>
                </a:solidFill>
                <a:latin typeface="Cambria" pitchFamily="34" charset="0"/>
                <a:ea typeface="Cambria" pitchFamily="34" charset="-122"/>
                <a:cs typeface="Cambria" pitchFamily="34" charset="-120"/>
              </a:rPr>
              <a:t>Feasibility and Viability</a:t>
            </a:r>
            <a:endParaRPr lang="en-US" sz="3000" dirty="0"/>
          </a:p>
        </p:txBody>
      </p:sp>
      <p:sp>
        <p:nvSpPr>
          <p:cNvPr id="5" name="Text 3"/>
          <p:cNvSpPr txBox="1"/>
          <p:nvPr/>
        </p:nvSpPr>
        <p:spPr>
          <a:xfrm>
            <a:off x="10378440" y="128016"/>
            <a:ext cx="1600200" cy="548640"/>
          </a:xfrm>
          <a:prstGeom prst="rect">
            <a:avLst/>
          </a:prstGeom>
          <a:noFill/>
          <a:ln/>
        </p:spPr>
        <p:txBody>
          <a:bodyPr wrap="square" lIns="0" tIns="0" rIns="0" bIns="0" rtlCol="0" anchor="ctr"/>
          <a:lstStyle/>
          <a:p>
            <a:pPr algn="r" indent="0" marL="0">
              <a:buNone/>
            </a:pPr>
            <a:r>
              <a:rPr lang="en-US" sz="1100" b="1" dirty="0">
                <a:solidFill>
                  <a:srgbClr val="333333"/>
                </a:solidFill>
                <a:latin typeface="Calibri" pitchFamily="34" charset="0"/>
                <a:ea typeface="Calibri" pitchFamily="34" charset="-122"/>
                <a:cs typeface="Calibri" pitchFamily="34" charset="-120"/>
              </a:rPr>
              <a:t>SMART INDIA</a:t>
            </a:r>
            <a:endParaRPr lang="en-US" sz="1100" dirty="0"/>
          </a:p>
          <a:p>
            <a:pPr algn="r" indent="0" marL="0">
              <a:buNone/>
            </a:pPr>
            <a:r>
              <a:rPr lang="en-US" sz="1100" b="1" dirty="0">
                <a:solidFill>
                  <a:srgbClr val="333333"/>
                </a:solidFill>
                <a:latin typeface="Calibri" pitchFamily="34" charset="0"/>
                <a:ea typeface="Calibri" pitchFamily="34" charset="-122"/>
                <a:cs typeface="Calibri" pitchFamily="34" charset="-120"/>
              </a:rPr>
              <a:t>HACKATHON 2025</a:t>
            </a:r>
            <a:endParaRPr lang="en-US" sz="1100" dirty="0"/>
          </a:p>
        </p:txBody>
      </p:sp>
      <p:sp>
        <p:nvSpPr>
          <p:cNvPr id="6" name="Shape 4"/>
          <p:cNvSpPr/>
          <p:nvPr/>
        </p:nvSpPr>
        <p:spPr>
          <a:xfrm>
            <a:off x="228600" y="868680"/>
            <a:ext cx="6355080" cy="2560320"/>
          </a:xfrm>
          <a:prstGeom prst="roundRect">
            <a:avLst>
              <a:gd name="adj" fmla="val 2857"/>
            </a:avLst>
          </a:prstGeom>
          <a:solidFill>
            <a:srgbClr val="FFFFFF"/>
          </a:solidFill>
          <a:ln w="9525">
            <a:solidFill>
              <a:srgbClr val="CBD3DC"/>
            </a:solidFill>
            <a:prstDash val="solid"/>
          </a:ln>
        </p:spPr>
      </p:sp>
      <p:sp>
        <p:nvSpPr>
          <p:cNvPr id="7" name="Shape 5"/>
          <p:cNvSpPr/>
          <p:nvPr/>
        </p:nvSpPr>
        <p:spPr>
          <a:xfrm>
            <a:off x="365760" y="960120"/>
            <a:ext cx="329184" cy="329184"/>
          </a:xfrm>
          <a:prstGeom prst="ellipse">
            <a:avLst/>
          </a:prstGeom>
          <a:solidFill>
            <a:srgbClr val="DDF2E3"/>
          </a:solidFill>
          <a:ln w="12700">
            <a:solidFill>
              <a:srgbClr val="DDF2E3"/>
            </a:solidFill>
            <a:prstDash val="solid"/>
          </a:ln>
        </p:spPr>
      </p:sp>
      <p:pic>
        <p:nvPicPr>
          <p:cNvPr id="8" name="Image 0" descr="preencoded.png">    </p:cNvPr>
          <p:cNvPicPr>
            <a:picLocks noChangeAspect="1"/>
          </p:cNvPicPr>
          <p:nvPr/>
        </p:nvPicPr>
        <p:blipFill>
          <a:blip r:embed="rId1"/>
          <a:stretch>
            <a:fillRect/>
          </a:stretch>
        </p:blipFill>
        <p:spPr>
          <a:xfrm>
            <a:off x="429768" y="1024128"/>
            <a:ext cx="201168" cy="201168"/>
          </a:xfrm>
          <a:prstGeom prst="rect">
            <a:avLst/>
          </a:prstGeom>
        </p:spPr>
      </p:pic>
      <p:sp>
        <p:nvSpPr>
          <p:cNvPr id="9" name="Text 6"/>
          <p:cNvSpPr txBox="1"/>
          <p:nvPr/>
        </p:nvSpPr>
        <p:spPr>
          <a:xfrm>
            <a:off x="777240" y="932688"/>
            <a:ext cx="5669280" cy="384048"/>
          </a:xfrm>
          <a:prstGeom prst="rect">
            <a:avLst/>
          </a:prstGeom>
          <a:noFill/>
          <a:ln/>
        </p:spPr>
        <p:txBody>
          <a:bodyPr wrap="square" lIns="0" tIns="0" rIns="0" bIns="0" rtlCol="0" anchor="ctr"/>
          <a:lstStyle/>
          <a:p>
            <a:pPr indent="0" marL="0">
              <a:buNone/>
            </a:pPr>
            <a:r>
              <a:rPr lang="en-US" sz="1600" b="1" dirty="0">
                <a:solidFill>
                  <a:srgbClr val="111111"/>
                </a:solidFill>
                <a:latin typeface="Cambria" pitchFamily="34" charset="0"/>
                <a:ea typeface="Cambria" pitchFamily="34" charset="-122"/>
                <a:cs typeface="Cambria" pitchFamily="34" charset="-120"/>
              </a:rPr>
              <a:t>Analysis of the Feasibility of the Idea</a:t>
            </a:r>
            <a:endParaRPr lang="en-US" sz="1600" dirty="0"/>
          </a:p>
        </p:txBody>
      </p:sp>
      <p:sp>
        <p:nvSpPr>
          <p:cNvPr id="10" name="Text 7"/>
          <p:cNvSpPr txBox="1"/>
          <p:nvPr/>
        </p:nvSpPr>
        <p:spPr>
          <a:xfrm>
            <a:off x="365760" y="1307592"/>
            <a:ext cx="6126480" cy="2084832"/>
          </a:xfrm>
          <a:prstGeom prst="rect">
            <a:avLst/>
          </a:prstGeom>
          <a:noFill/>
          <a:ln/>
        </p:spPr>
        <p:txBody>
          <a:bodyPr wrap="square" lIns="0" tIns="0" rIns="0" bIns="0" rtlCol="0" anchor="t"/>
          <a:lstStyle/>
          <a:p>
            <a:pPr marL="342900" indent="-342900">
              <a:spcAft>
                <a:spcPts val="400"/>
              </a:spcAft>
              <a:buSzPct val="100000"/>
              <a:buChar char="•"/>
            </a:pPr>
            <a:r>
              <a:rPr lang="en-US" sz="1300" b="1" dirty="0">
                <a:solidFill>
                  <a:srgbClr val="111111"/>
                </a:solidFill>
                <a:latin typeface="Calibri" pitchFamily="34" charset="0"/>
                <a:ea typeface="Calibri" pitchFamily="34" charset="-122"/>
                <a:cs typeface="Calibri" pitchFamily="34" charset="-120"/>
              </a:rPr>
              <a:t>Proven AI: </a:t>
            </a:r>
            <a:pPr indent="0" marL="0">
              <a:buNone/>
            </a:pPr>
            <a:r>
              <a:rPr lang="en-US" sz="1300" dirty="0">
                <a:solidFill>
                  <a:srgbClr val="111111"/>
                </a:solidFill>
                <a:latin typeface="Calibri" pitchFamily="34" charset="0"/>
                <a:ea typeface="Calibri" pitchFamily="34" charset="-122"/>
                <a:cs typeface="Calibri" pitchFamily="34" charset="-120"/>
              </a:rPr>
              <a:t>YOLO + ByteTrack are </a:t>
            </a:r>
            <a:pPr indent="0" marL="0">
              <a:buNone/>
            </a:pPr>
            <a:r>
              <a:rPr lang="en-US" sz="1300" b="1" dirty="0">
                <a:solidFill>
                  <a:srgbClr val="1F3A93"/>
                </a:solidFill>
                <a:latin typeface="Calibri" pitchFamily="34" charset="0"/>
                <a:ea typeface="Calibri" pitchFamily="34" charset="-122"/>
                <a:cs typeface="Calibri" pitchFamily="34" charset="-120"/>
              </a:rPr>
              <a:t>industry standard</a:t>
            </a:r>
            <a:pPr indent="0" marL="0">
              <a:buNone/>
            </a:pPr>
            <a:r>
              <a:rPr lang="en-US" sz="1300" dirty="0">
                <a:solidFill>
                  <a:srgbClr val="111111"/>
                </a:solidFill>
                <a:latin typeface="Calibri" pitchFamily="34" charset="0"/>
                <a:ea typeface="Calibri" pitchFamily="34" charset="-122"/>
                <a:cs typeface="Calibri" pitchFamily="34" charset="-120"/>
              </a:rPr>
              <a:t>; our models are </a:t>
            </a:r>
            <a:pPr indent="0" marL="0">
              <a:buNone/>
            </a:pPr>
            <a:r>
              <a:rPr lang="en-US" sz="1300" b="1" dirty="0">
                <a:solidFill>
                  <a:srgbClr val="1F3A93"/>
                </a:solidFill>
                <a:latin typeface="Calibri" pitchFamily="34" charset="0"/>
                <a:ea typeface="Calibri" pitchFamily="34" charset="-122"/>
                <a:cs typeface="Calibri" pitchFamily="34" charset="-120"/>
              </a:rPr>
              <a:t>trained and tested</a:t>
            </a:r>
            <a:pPr indent="0" marL="0">
              <a:buNone/>
            </a:pPr>
            <a:r>
              <a:rPr lang="en-US" sz="1300" dirty="0">
                <a:solidFill>
                  <a:srgbClr val="111111"/>
                </a:solidFill>
                <a:latin typeface="Calibri" pitchFamily="34" charset="0"/>
                <a:ea typeface="Calibri" pitchFamily="34" charset="-122"/>
                <a:cs typeface="Calibri" pitchFamily="34" charset="-120"/>
              </a:rPr>
              <a:t>.</a:t>
            </a:r>
            <a:endParaRPr lang="en-US" sz="1300" dirty="0"/>
          </a:p>
          <a:p>
            <a:pPr marL="342900" indent="-342900">
              <a:spcAft>
                <a:spcPts val="400"/>
              </a:spcAft>
              <a:buSzPct val="100000"/>
              <a:buChar char="•"/>
            </a:pPr>
            <a:r>
              <a:rPr lang="en-US" sz="1300" b="1" dirty="0">
                <a:solidFill>
                  <a:srgbClr val="111111"/>
                </a:solidFill>
                <a:latin typeface="Calibri" pitchFamily="34" charset="0"/>
                <a:ea typeface="Calibri" pitchFamily="34" charset="-122"/>
                <a:cs typeface="Calibri" pitchFamily="34" charset="-120"/>
              </a:rPr>
              <a:t>Hardware ready: </a:t>
            </a:r>
            <a:pPr indent="0" marL="0">
              <a:buNone/>
            </a:pPr>
            <a:r>
              <a:rPr lang="en-US" sz="1300" dirty="0">
                <a:solidFill>
                  <a:srgbClr val="111111"/>
                </a:solidFill>
                <a:latin typeface="Calibri" pitchFamily="34" charset="0"/>
                <a:ea typeface="Calibri" pitchFamily="34" charset="-122"/>
                <a:cs typeface="Calibri" pitchFamily="34" charset="-120"/>
              </a:rPr>
              <a:t>runs on a </a:t>
            </a:r>
            <a:pPr indent="0" marL="0">
              <a:buNone/>
            </a:pPr>
            <a:r>
              <a:rPr lang="en-US" sz="1300" b="1" dirty="0">
                <a:solidFill>
                  <a:srgbClr val="1F3A93"/>
                </a:solidFill>
                <a:latin typeface="Calibri" pitchFamily="34" charset="0"/>
                <a:ea typeface="Calibri" pitchFamily="34" charset="-122"/>
                <a:cs typeface="Calibri" pitchFamily="34" charset="-120"/>
              </a:rPr>
              <a:t>CPU mini PC</a:t>
            </a:r>
            <a:pPr indent="0" marL="0">
              <a:buNone/>
            </a:pPr>
            <a:r>
              <a:rPr lang="en-US" sz="1300" dirty="0">
                <a:solidFill>
                  <a:srgbClr val="111111"/>
                </a:solidFill>
                <a:latin typeface="Calibri" pitchFamily="34" charset="0"/>
                <a:ea typeface="Calibri" pitchFamily="34" charset="-122"/>
                <a:cs typeface="Calibri" pitchFamily="34" charset="-120"/>
              </a:rPr>
              <a:t>; Jetson / OpenVINO for more cameras.</a:t>
            </a:r>
            <a:endParaRPr lang="en-US" sz="1300" dirty="0"/>
          </a:p>
          <a:p>
            <a:pPr marL="342900" indent="-342900">
              <a:spcAft>
                <a:spcPts val="400"/>
              </a:spcAft>
              <a:buSzPct val="100000"/>
              <a:buChar char="•"/>
            </a:pPr>
            <a:r>
              <a:rPr lang="en-US" sz="1300" b="1" dirty="0">
                <a:solidFill>
                  <a:srgbClr val="111111"/>
                </a:solidFill>
                <a:latin typeface="Calibri" pitchFamily="34" charset="0"/>
                <a:ea typeface="Calibri" pitchFamily="34" charset="-122"/>
                <a:cs typeface="Calibri" pitchFamily="34" charset="-120"/>
              </a:rPr>
              <a:t>Uses existing cameras: </a:t>
            </a:r>
            <a:pPr indent="0" marL="0">
              <a:buNone/>
            </a:pPr>
            <a:r>
              <a:rPr lang="en-US" sz="1300" b="1" dirty="0">
                <a:solidFill>
                  <a:srgbClr val="1F3A93"/>
                </a:solidFill>
                <a:latin typeface="Calibri" pitchFamily="34" charset="0"/>
                <a:ea typeface="Calibri" pitchFamily="34" charset="-122"/>
                <a:cs typeface="Calibri" pitchFamily="34" charset="-120"/>
              </a:rPr>
              <a:t>RTSP</a:t>
            </a:r>
            <a:pPr indent="0" marL="0">
              <a:buNone/>
            </a:pPr>
            <a:r>
              <a:rPr lang="en-US" sz="1300" dirty="0">
                <a:solidFill>
                  <a:srgbClr val="111111"/>
                </a:solidFill>
                <a:latin typeface="Calibri" pitchFamily="34" charset="0"/>
                <a:ea typeface="Calibri" pitchFamily="34" charset="-122"/>
                <a:cs typeface="Calibri" pitchFamily="34" charset="-120"/>
              </a:rPr>
              <a:t> from Hikvision / CP Plus / Dahua NVRs.</a:t>
            </a:r>
            <a:endParaRPr lang="en-US" sz="1300" dirty="0"/>
          </a:p>
          <a:p>
            <a:pPr marL="342900" indent="-342900">
              <a:spcAft>
                <a:spcPts val="400"/>
              </a:spcAft>
              <a:buSzPct val="100000"/>
              <a:buChar char="•"/>
            </a:pPr>
            <a:r>
              <a:rPr lang="en-US" sz="1300" b="1" dirty="0">
                <a:solidFill>
                  <a:srgbClr val="111111"/>
                </a:solidFill>
                <a:latin typeface="Calibri" pitchFamily="34" charset="0"/>
                <a:ea typeface="Calibri" pitchFamily="34" charset="-122"/>
                <a:cs typeface="Calibri" pitchFamily="34" charset="-120"/>
              </a:rPr>
              <a:t>Open datasets: </a:t>
            </a:r>
            <a:pPr indent="0" marL="0">
              <a:buNone/>
            </a:pPr>
            <a:r>
              <a:rPr lang="en-US" sz="1300" b="1" dirty="0">
                <a:solidFill>
                  <a:srgbClr val="1F3A93"/>
                </a:solidFill>
                <a:latin typeface="Calibri" pitchFamily="34" charset="0"/>
                <a:ea typeface="Calibri" pitchFamily="34" charset="-122"/>
                <a:cs typeface="Calibri" pitchFamily="34" charset="-120"/>
              </a:rPr>
              <a:t>SKU-110K, COCO, MOT17</a:t>
            </a:r>
            <a:pPr indent="0" marL="0">
              <a:buNone/>
            </a:pPr>
            <a:r>
              <a:rPr lang="en-US" sz="1300" dirty="0">
                <a:solidFill>
                  <a:srgbClr val="111111"/>
                </a:solidFill>
                <a:latin typeface="Calibri" pitchFamily="34" charset="0"/>
                <a:ea typeface="Calibri" pitchFamily="34" charset="-122"/>
                <a:cs typeface="Calibri" pitchFamily="34" charset="-120"/>
              </a:rPr>
              <a:t>: no private data needed to start.</a:t>
            </a:r>
            <a:endParaRPr lang="en-US" sz="1300" dirty="0"/>
          </a:p>
          <a:p>
            <a:pPr marL="342900" indent="-342900">
              <a:spcAft>
                <a:spcPts val="400"/>
              </a:spcAft>
              <a:buSzPct val="100000"/>
              <a:buChar char="•"/>
            </a:pPr>
            <a:r>
              <a:rPr lang="en-US" sz="1300" b="1" dirty="0">
                <a:solidFill>
                  <a:srgbClr val="111111"/>
                </a:solidFill>
                <a:latin typeface="Calibri" pitchFamily="34" charset="0"/>
                <a:ea typeface="Calibri" pitchFamily="34" charset="-122"/>
                <a:cs typeface="Calibri" pitchFamily="34" charset="-120"/>
              </a:rPr>
              <a:t>Reliable offline: </a:t>
            </a:r>
            <a:pPr indent="0" marL="0">
              <a:buNone/>
            </a:pPr>
            <a:r>
              <a:rPr lang="en-US" sz="1300" dirty="0">
                <a:solidFill>
                  <a:srgbClr val="111111"/>
                </a:solidFill>
                <a:latin typeface="Calibri" pitchFamily="34" charset="0"/>
                <a:ea typeface="Calibri" pitchFamily="34" charset="-122"/>
                <a:cs typeface="Calibri" pitchFamily="34" charset="-120"/>
              </a:rPr>
              <a:t>local database, </a:t>
            </a:r>
            <a:pPr indent="0" marL="0">
              <a:buNone/>
            </a:pPr>
            <a:r>
              <a:rPr lang="en-US" sz="1300" b="1" dirty="0">
                <a:solidFill>
                  <a:srgbClr val="1F3A93"/>
                </a:solidFill>
                <a:latin typeface="Calibri" pitchFamily="34" charset="0"/>
                <a:ea typeface="Calibri" pitchFamily="34" charset="-122"/>
                <a:cs typeface="Calibri" pitchFamily="34" charset="-120"/>
              </a:rPr>
              <a:t>auto camera reconnect</a:t>
            </a:r>
            <a:pPr indent="0" marL="0">
              <a:buNone/>
            </a:pPr>
            <a:r>
              <a:rPr lang="en-US" sz="1300" dirty="0">
                <a:solidFill>
                  <a:srgbClr val="111111"/>
                </a:solidFill>
                <a:latin typeface="Calibri" pitchFamily="34" charset="0"/>
                <a:ea typeface="Calibri" pitchFamily="34" charset="-122"/>
                <a:cs typeface="Calibri" pitchFamily="34" charset="-120"/>
              </a:rPr>
              <a:t>, sync later.</a:t>
            </a:r>
            <a:endParaRPr lang="en-US" sz="1300" dirty="0"/>
          </a:p>
          <a:p>
            <a:pPr marL="342900" indent="-342900">
              <a:spcAft>
                <a:spcPts val="400"/>
              </a:spcAft>
              <a:buSzPct val="100000"/>
              <a:buChar char="•"/>
            </a:pPr>
            <a:r>
              <a:rPr lang="en-US" sz="1300" b="1" dirty="0">
                <a:solidFill>
                  <a:srgbClr val="111111"/>
                </a:solidFill>
                <a:latin typeface="Calibri" pitchFamily="34" charset="0"/>
                <a:ea typeface="Calibri" pitchFamily="34" charset="-122"/>
                <a:cs typeface="Calibri" pitchFamily="34" charset="-120"/>
              </a:rPr>
              <a:t>Easy install: </a:t>
            </a:r>
            <a:pPr indent="0" marL="0">
              <a:buNone/>
            </a:pPr>
            <a:r>
              <a:rPr lang="en-US" sz="1300" b="1" dirty="0">
                <a:solidFill>
                  <a:srgbClr val="1F3A93"/>
                </a:solidFill>
                <a:latin typeface="Calibri" pitchFamily="34" charset="0"/>
                <a:ea typeface="Calibri" pitchFamily="34" charset="-122"/>
                <a:cs typeface="Calibri" pitchFamily="34" charset="-120"/>
              </a:rPr>
              <a:t>one Docker command</a:t>
            </a:r>
            <a:pPr indent="0" marL="0">
              <a:buNone/>
            </a:pPr>
            <a:r>
              <a:rPr lang="en-US" sz="1300" dirty="0">
                <a:solidFill>
                  <a:srgbClr val="111111"/>
                </a:solidFill>
                <a:latin typeface="Calibri" pitchFamily="34" charset="0"/>
                <a:ea typeface="Calibri" pitchFamily="34" charset="-122"/>
                <a:cs typeface="Calibri" pitchFamily="34" charset="-120"/>
              </a:rPr>
              <a:t> + zone-drawing helper tool.</a:t>
            </a:r>
            <a:endParaRPr lang="en-US" sz="1300" dirty="0"/>
          </a:p>
        </p:txBody>
      </p:sp>
      <p:sp>
        <p:nvSpPr>
          <p:cNvPr id="11" name="Shape 8"/>
          <p:cNvSpPr/>
          <p:nvPr/>
        </p:nvSpPr>
        <p:spPr>
          <a:xfrm>
            <a:off x="6720840" y="868680"/>
            <a:ext cx="5239512" cy="2560320"/>
          </a:xfrm>
          <a:prstGeom prst="roundRect">
            <a:avLst>
              <a:gd name="adj" fmla="val 2857"/>
            </a:avLst>
          </a:prstGeom>
          <a:solidFill>
            <a:srgbClr val="FFFFFF"/>
          </a:solidFill>
          <a:ln w="9525">
            <a:solidFill>
              <a:srgbClr val="CBD3DC"/>
            </a:solidFill>
            <a:prstDash val="solid"/>
          </a:ln>
        </p:spPr>
      </p:sp>
      <p:graphicFrame>
        <p:nvGraphicFramePr>
          <p:cNvPr id="12" name="Chart 0" descr=""/>
          <p:cNvGraphicFramePr/>
          <p:nvPr/>
        </p:nvGraphicFramePr>
        <p:xfrm>
          <a:off x="6812280" y="914400"/>
          <a:ext cx="5056632" cy="246888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228600" y="3538728"/>
            <a:ext cx="6675120" cy="384048"/>
          </a:xfrm>
          <a:prstGeom prst="rect">
            <a:avLst/>
          </a:prstGeom>
          <a:noFill/>
          <a:ln/>
        </p:spPr>
        <p:txBody>
          <a:bodyPr wrap="square" lIns="0" tIns="0" rIns="0" bIns="0" rtlCol="0" anchor="ctr"/>
          <a:lstStyle/>
          <a:p>
            <a:pPr algn="ctr" indent="0" marL="0">
              <a:buNone/>
            </a:pPr>
            <a:r>
              <a:rPr lang="en-US" sz="1800" b="1" dirty="0">
                <a:solidFill>
                  <a:srgbClr val="111111"/>
                </a:solidFill>
                <a:latin typeface="Cambria" pitchFamily="34" charset="0"/>
                <a:ea typeface="Cambria" pitchFamily="34" charset="-122"/>
                <a:cs typeface="Cambria" pitchFamily="34" charset="-120"/>
              </a:rPr>
              <a:t>WHAT IFs....?</a:t>
            </a:r>
            <a:endParaRPr lang="en-US" sz="1800" dirty="0"/>
          </a:p>
        </p:txBody>
      </p:sp>
      <p:sp>
        <p:nvSpPr>
          <p:cNvPr id="14" name="Shape 10"/>
          <p:cNvSpPr/>
          <p:nvPr/>
        </p:nvSpPr>
        <p:spPr>
          <a:xfrm>
            <a:off x="228600" y="3977640"/>
            <a:ext cx="1271016" cy="2651760"/>
          </a:xfrm>
          <a:prstGeom prst="roundRect">
            <a:avLst>
              <a:gd name="adj" fmla="val 4317"/>
            </a:avLst>
          </a:prstGeom>
          <a:solidFill>
            <a:srgbClr val="FFFFFF"/>
          </a:solidFill>
          <a:ln w="15875">
            <a:solidFill>
              <a:srgbClr val="8B1A1A"/>
            </a:solidFill>
            <a:prstDash val="solid"/>
          </a:ln>
        </p:spPr>
      </p:sp>
      <p:sp>
        <p:nvSpPr>
          <p:cNvPr id="15" name="Shape 11"/>
          <p:cNvSpPr/>
          <p:nvPr/>
        </p:nvSpPr>
        <p:spPr>
          <a:xfrm>
            <a:off x="228600" y="3977640"/>
            <a:ext cx="1271016" cy="868680"/>
          </a:xfrm>
          <a:prstGeom prst="roundRect">
            <a:avLst>
              <a:gd name="adj" fmla="val 6316"/>
            </a:avLst>
          </a:prstGeom>
          <a:solidFill>
            <a:srgbClr val="8B1A1A"/>
          </a:solidFill>
          <a:ln w="15875">
            <a:solidFill>
              <a:srgbClr val="8B1A1A"/>
            </a:solidFill>
            <a:prstDash val="solid"/>
          </a:ln>
        </p:spPr>
      </p:sp>
      <p:sp>
        <p:nvSpPr>
          <p:cNvPr id="16" name="Text 12"/>
          <p:cNvSpPr txBox="1"/>
          <p:nvPr/>
        </p:nvSpPr>
        <p:spPr>
          <a:xfrm>
            <a:off x="274320" y="3995928"/>
            <a:ext cx="1179576" cy="8321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a:p>
            <a:pPr algn="ctr" indent="0" marL="0">
              <a:buNone/>
            </a:pPr>
            <a:r>
              <a:rPr lang="en-US" sz="1000" b="1" dirty="0">
                <a:solidFill>
                  <a:srgbClr val="FFFFFF"/>
                </a:solidFill>
                <a:latin typeface="Calibri" pitchFamily="34" charset="0"/>
                <a:ea typeface="Calibri" pitchFamily="34" charset="-122"/>
                <a:cs typeface="Calibri" pitchFamily="34" charset="-120"/>
              </a:rPr>
              <a:t>Internet goes down?</a:t>
            </a:r>
            <a:endParaRPr lang="en-US" sz="1100" dirty="0"/>
          </a:p>
        </p:txBody>
      </p:sp>
      <p:sp>
        <p:nvSpPr>
          <p:cNvPr id="17" name="Text 13"/>
          <p:cNvSpPr txBox="1"/>
          <p:nvPr/>
        </p:nvSpPr>
        <p:spPr>
          <a:xfrm>
            <a:off x="301752" y="4956048"/>
            <a:ext cx="1143000" cy="1627632"/>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Everything runs offline in the store; data syncs to HQ later.</a:t>
            </a:r>
            <a:endParaRPr lang="en-US" sz="1300" dirty="0"/>
          </a:p>
        </p:txBody>
      </p:sp>
      <p:sp>
        <p:nvSpPr>
          <p:cNvPr id="18" name="Shape 14"/>
          <p:cNvSpPr/>
          <p:nvPr/>
        </p:nvSpPr>
        <p:spPr>
          <a:xfrm>
            <a:off x="1572768" y="3977640"/>
            <a:ext cx="1271016" cy="2651760"/>
          </a:xfrm>
          <a:prstGeom prst="roundRect">
            <a:avLst>
              <a:gd name="adj" fmla="val 4317"/>
            </a:avLst>
          </a:prstGeom>
          <a:solidFill>
            <a:srgbClr val="FFFFFF"/>
          </a:solidFill>
          <a:ln w="15875">
            <a:solidFill>
              <a:srgbClr val="1E40AF"/>
            </a:solidFill>
            <a:prstDash val="solid"/>
          </a:ln>
        </p:spPr>
      </p:sp>
      <p:sp>
        <p:nvSpPr>
          <p:cNvPr id="19" name="Shape 15"/>
          <p:cNvSpPr/>
          <p:nvPr/>
        </p:nvSpPr>
        <p:spPr>
          <a:xfrm>
            <a:off x="1572768" y="3977640"/>
            <a:ext cx="1271016" cy="868680"/>
          </a:xfrm>
          <a:prstGeom prst="roundRect">
            <a:avLst>
              <a:gd name="adj" fmla="val 6316"/>
            </a:avLst>
          </a:prstGeom>
          <a:solidFill>
            <a:srgbClr val="1E40AF"/>
          </a:solidFill>
          <a:ln w="15875">
            <a:solidFill>
              <a:srgbClr val="1E40AF"/>
            </a:solidFill>
            <a:prstDash val="solid"/>
          </a:ln>
        </p:spPr>
      </p:sp>
      <p:sp>
        <p:nvSpPr>
          <p:cNvPr id="20" name="Text 16"/>
          <p:cNvSpPr txBox="1"/>
          <p:nvPr/>
        </p:nvSpPr>
        <p:spPr>
          <a:xfrm>
            <a:off x="1618488" y="3995928"/>
            <a:ext cx="1179576" cy="8321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a:p>
            <a:pPr algn="ctr" indent="0" marL="0">
              <a:buNone/>
            </a:pPr>
            <a:r>
              <a:rPr lang="en-US" sz="1000" b="1" dirty="0">
                <a:solidFill>
                  <a:srgbClr val="FFFFFF"/>
                </a:solidFill>
                <a:latin typeface="Calibri" pitchFamily="34" charset="0"/>
                <a:ea typeface="Calibri" pitchFamily="34" charset="-122"/>
                <a:cs typeface="Calibri" pitchFamily="34" charset="-120"/>
              </a:rPr>
              <a:t>A camera fails?</a:t>
            </a:r>
            <a:endParaRPr lang="en-US" sz="1100" dirty="0"/>
          </a:p>
        </p:txBody>
      </p:sp>
      <p:sp>
        <p:nvSpPr>
          <p:cNvPr id="21" name="Text 17"/>
          <p:cNvSpPr txBox="1"/>
          <p:nvPr/>
        </p:nvSpPr>
        <p:spPr>
          <a:xfrm>
            <a:off x="1645920" y="4956048"/>
            <a:ext cx="1143000" cy="1627632"/>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Other cameras keep working; the camera reconnects automatically.</a:t>
            </a:r>
            <a:endParaRPr lang="en-US" sz="1300" dirty="0"/>
          </a:p>
        </p:txBody>
      </p:sp>
      <p:sp>
        <p:nvSpPr>
          <p:cNvPr id="22" name="Shape 18"/>
          <p:cNvSpPr/>
          <p:nvPr/>
        </p:nvSpPr>
        <p:spPr>
          <a:xfrm>
            <a:off x="2916936" y="3977640"/>
            <a:ext cx="1271016" cy="2651760"/>
          </a:xfrm>
          <a:prstGeom prst="roundRect">
            <a:avLst>
              <a:gd name="adj" fmla="val 4317"/>
            </a:avLst>
          </a:prstGeom>
          <a:solidFill>
            <a:srgbClr val="FFFFFF"/>
          </a:solidFill>
          <a:ln w="15875">
            <a:solidFill>
              <a:srgbClr val="7B4A12"/>
            </a:solidFill>
            <a:prstDash val="solid"/>
          </a:ln>
        </p:spPr>
      </p:sp>
      <p:sp>
        <p:nvSpPr>
          <p:cNvPr id="23" name="Shape 19"/>
          <p:cNvSpPr/>
          <p:nvPr/>
        </p:nvSpPr>
        <p:spPr>
          <a:xfrm>
            <a:off x="2916936" y="3977640"/>
            <a:ext cx="1271016" cy="868680"/>
          </a:xfrm>
          <a:prstGeom prst="roundRect">
            <a:avLst>
              <a:gd name="adj" fmla="val 6316"/>
            </a:avLst>
          </a:prstGeom>
          <a:solidFill>
            <a:srgbClr val="7B4A12"/>
          </a:solidFill>
          <a:ln w="15875">
            <a:solidFill>
              <a:srgbClr val="7B4A12"/>
            </a:solidFill>
            <a:prstDash val="solid"/>
          </a:ln>
        </p:spPr>
      </p:sp>
      <p:sp>
        <p:nvSpPr>
          <p:cNvPr id="24" name="Text 20"/>
          <p:cNvSpPr txBox="1"/>
          <p:nvPr/>
        </p:nvSpPr>
        <p:spPr>
          <a:xfrm>
            <a:off x="2962656" y="3995928"/>
            <a:ext cx="1179576" cy="8321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a:p>
            <a:pPr algn="ctr" indent="0" marL="0">
              <a:buNone/>
            </a:pPr>
            <a:r>
              <a:rPr lang="en-US" sz="1000" b="1" dirty="0">
                <a:solidFill>
                  <a:srgbClr val="FFFFFF"/>
                </a:solidFill>
                <a:latin typeface="Calibri" pitchFamily="34" charset="0"/>
                <a:ea typeface="Calibri" pitchFamily="34" charset="-122"/>
                <a:cs typeface="Calibri" pitchFamily="34" charset="-120"/>
              </a:rPr>
              <a:t>AI makes a mistake?</a:t>
            </a:r>
            <a:endParaRPr lang="en-US" sz="1100" dirty="0"/>
          </a:p>
        </p:txBody>
      </p:sp>
      <p:sp>
        <p:nvSpPr>
          <p:cNvPr id="25" name="Text 21"/>
          <p:cNvSpPr txBox="1"/>
          <p:nvPr/>
        </p:nvSpPr>
        <p:spPr>
          <a:xfrm>
            <a:off x="2990088" y="4956048"/>
            <a:ext cx="1143000" cy="1627632"/>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Confidence limits, alert cooldown, staff can acknowledge; recalibrate with 'Mark as Full'.</a:t>
            </a:r>
            <a:endParaRPr lang="en-US" sz="1300" dirty="0"/>
          </a:p>
        </p:txBody>
      </p:sp>
      <p:sp>
        <p:nvSpPr>
          <p:cNvPr id="26" name="Shape 22"/>
          <p:cNvSpPr/>
          <p:nvPr/>
        </p:nvSpPr>
        <p:spPr>
          <a:xfrm>
            <a:off x="4261104" y="3977640"/>
            <a:ext cx="1271016" cy="2651760"/>
          </a:xfrm>
          <a:prstGeom prst="roundRect">
            <a:avLst>
              <a:gd name="adj" fmla="val 4317"/>
            </a:avLst>
          </a:prstGeom>
          <a:solidFill>
            <a:srgbClr val="FFFFFF"/>
          </a:solidFill>
          <a:ln w="15875">
            <a:solidFill>
              <a:srgbClr val="1B7F3A"/>
            </a:solidFill>
            <a:prstDash val="solid"/>
          </a:ln>
        </p:spPr>
      </p:sp>
      <p:sp>
        <p:nvSpPr>
          <p:cNvPr id="27" name="Shape 23"/>
          <p:cNvSpPr/>
          <p:nvPr/>
        </p:nvSpPr>
        <p:spPr>
          <a:xfrm>
            <a:off x="4261104" y="3977640"/>
            <a:ext cx="1271016" cy="868680"/>
          </a:xfrm>
          <a:prstGeom prst="roundRect">
            <a:avLst>
              <a:gd name="adj" fmla="val 6316"/>
            </a:avLst>
          </a:prstGeom>
          <a:solidFill>
            <a:srgbClr val="1B7F3A"/>
          </a:solidFill>
          <a:ln w="15875">
            <a:solidFill>
              <a:srgbClr val="1B7F3A"/>
            </a:solidFill>
            <a:prstDash val="solid"/>
          </a:ln>
        </p:spPr>
      </p:sp>
      <p:sp>
        <p:nvSpPr>
          <p:cNvPr id="28" name="Text 24"/>
          <p:cNvSpPr txBox="1"/>
          <p:nvPr/>
        </p:nvSpPr>
        <p:spPr>
          <a:xfrm>
            <a:off x="4306824" y="3995928"/>
            <a:ext cx="1179576" cy="8321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a:p>
            <a:pPr algn="ctr" indent="0" marL="0">
              <a:buNone/>
            </a:pPr>
            <a:r>
              <a:rPr lang="en-US" sz="1000" b="1" dirty="0">
                <a:solidFill>
                  <a:srgbClr val="FFFFFF"/>
                </a:solidFill>
                <a:latin typeface="Calibri" pitchFamily="34" charset="0"/>
                <a:ea typeface="Calibri" pitchFamily="34" charset="-122"/>
                <a:cs typeface="Calibri" pitchFamily="34" charset="-120"/>
              </a:rPr>
              <a:t>Shoppers worry about privacy?</a:t>
            </a:r>
            <a:endParaRPr lang="en-US" sz="1100" dirty="0"/>
          </a:p>
        </p:txBody>
      </p:sp>
      <p:sp>
        <p:nvSpPr>
          <p:cNvPr id="29" name="Text 25"/>
          <p:cNvSpPr txBox="1"/>
          <p:nvPr/>
        </p:nvSpPr>
        <p:spPr>
          <a:xfrm>
            <a:off x="4334256" y="4956048"/>
            <a:ext cx="1143000" cy="1627632"/>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No faces or photos saved; anonymous IDs reset daily; clear signage.</a:t>
            </a:r>
            <a:endParaRPr lang="en-US" sz="1300" dirty="0"/>
          </a:p>
        </p:txBody>
      </p:sp>
      <p:sp>
        <p:nvSpPr>
          <p:cNvPr id="30" name="Shape 26"/>
          <p:cNvSpPr/>
          <p:nvPr/>
        </p:nvSpPr>
        <p:spPr>
          <a:xfrm>
            <a:off x="5605272" y="3977640"/>
            <a:ext cx="1271016" cy="2651760"/>
          </a:xfrm>
          <a:prstGeom prst="roundRect">
            <a:avLst>
              <a:gd name="adj" fmla="val 4317"/>
            </a:avLst>
          </a:prstGeom>
          <a:solidFill>
            <a:srgbClr val="FFFFFF"/>
          </a:solidFill>
          <a:ln w="15875">
            <a:solidFill>
              <a:srgbClr val="6B2C91"/>
            </a:solidFill>
            <a:prstDash val="solid"/>
          </a:ln>
        </p:spPr>
      </p:sp>
      <p:sp>
        <p:nvSpPr>
          <p:cNvPr id="31" name="Shape 27"/>
          <p:cNvSpPr/>
          <p:nvPr/>
        </p:nvSpPr>
        <p:spPr>
          <a:xfrm>
            <a:off x="5605272" y="3977640"/>
            <a:ext cx="1271016" cy="868680"/>
          </a:xfrm>
          <a:prstGeom prst="roundRect">
            <a:avLst>
              <a:gd name="adj" fmla="val 6316"/>
            </a:avLst>
          </a:prstGeom>
          <a:solidFill>
            <a:srgbClr val="6B2C91"/>
          </a:solidFill>
          <a:ln w="15875">
            <a:solidFill>
              <a:srgbClr val="6B2C91"/>
            </a:solidFill>
            <a:prstDash val="solid"/>
          </a:ln>
        </p:spPr>
      </p:sp>
      <p:sp>
        <p:nvSpPr>
          <p:cNvPr id="32" name="Text 28"/>
          <p:cNvSpPr txBox="1"/>
          <p:nvPr/>
        </p:nvSpPr>
        <p:spPr>
          <a:xfrm>
            <a:off x="5650992" y="3995928"/>
            <a:ext cx="1179576" cy="8321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a:p>
            <a:pPr algn="ctr" indent="0" marL="0">
              <a:buNone/>
            </a:pPr>
            <a:r>
              <a:rPr lang="en-US" sz="1000" b="1" dirty="0">
                <a:solidFill>
                  <a:srgbClr val="FFFFFF"/>
                </a:solidFill>
                <a:latin typeface="Calibri" pitchFamily="34" charset="0"/>
                <a:ea typeface="Calibri" pitchFamily="34" charset="-122"/>
                <a:cs typeface="Calibri" pitchFamily="34" charset="-120"/>
              </a:rPr>
              <a:t>Store has a small budget?</a:t>
            </a:r>
            <a:endParaRPr lang="en-US" sz="1100" dirty="0"/>
          </a:p>
        </p:txBody>
      </p:sp>
      <p:sp>
        <p:nvSpPr>
          <p:cNvPr id="33" name="Text 29"/>
          <p:cNvSpPr txBox="1"/>
          <p:nvPr/>
        </p:nvSpPr>
        <p:spPr>
          <a:xfrm>
            <a:off x="5678424" y="4956048"/>
            <a:ext cx="1143000" cy="1627632"/>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Existing CCTV + ₹35k PC; one box serves three cameras.</a:t>
            </a:r>
            <a:endParaRPr lang="en-US" sz="1300" dirty="0"/>
          </a:p>
        </p:txBody>
      </p:sp>
      <p:sp>
        <p:nvSpPr>
          <p:cNvPr id="34" name="Shape 30"/>
          <p:cNvSpPr/>
          <p:nvPr/>
        </p:nvSpPr>
        <p:spPr>
          <a:xfrm>
            <a:off x="7040880" y="3538728"/>
            <a:ext cx="4919472" cy="3090672"/>
          </a:xfrm>
          <a:prstGeom prst="roundRect">
            <a:avLst>
              <a:gd name="adj" fmla="val 2367"/>
            </a:avLst>
          </a:prstGeom>
          <a:solidFill>
            <a:srgbClr val="FFFFFF"/>
          </a:solidFill>
          <a:ln w="9525">
            <a:solidFill>
              <a:srgbClr val="CBD3DC"/>
            </a:solidFill>
            <a:prstDash val="solid"/>
          </a:ln>
        </p:spPr>
      </p:sp>
      <p:sp>
        <p:nvSpPr>
          <p:cNvPr id="35" name="Shape 31"/>
          <p:cNvSpPr/>
          <p:nvPr/>
        </p:nvSpPr>
        <p:spPr>
          <a:xfrm>
            <a:off x="7178040" y="3630168"/>
            <a:ext cx="329184" cy="329184"/>
          </a:xfrm>
          <a:prstGeom prst="ellipse">
            <a:avLst/>
          </a:prstGeom>
          <a:solidFill>
            <a:srgbClr val="E8F1EE"/>
          </a:solidFill>
          <a:ln w="12700">
            <a:solidFill>
              <a:srgbClr val="E8F1EE"/>
            </a:solidFill>
            <a:prstDash val="solid"/>
          </a:ln>
        </p:spPr>
      </p:sp>
      <p:pic>
        <p:nvPicPr>
          <p:cNvPr id="36" name="Image 1" descr="preencoded.png">    </p:cNvPr>
          <p:cNvPicPr>
            <a:picLocks noChangeAspect="1"/>
          </p:cNvPicPr>
          <p:nvPr/>
        </p:nvPicPr>
        <p:blipFill>
          <a:blip r:embed="rId3"/>
          <a:stretch>
            <a:fillRect/>
          </a:stretch>
        </p:blipFill>
        <p:spPr>
          <a:xfrm>
            <a:off x="7242048" y="3694176"/>
            <a:ext cx="201168" cy="201168"/>
          </a:xfrm>
          <a:prstGeom prst="rect">
            <a:avLst/>
          </a:prstGeom>
        </p:spPr>
      </p:pic>
      <p:sp>
        <p:nvSpPr>
          <p:cNvPr id="37" name="Text 32"/>
          <p:cNvSpPr txBox="1"/>
          <p:nvPr/>
        </p:nvSpPr>
        <p:spPr>
          <a:xfrm>
            <a:off x="7589520" y="3602736"/>
            <a:ext cx="4233672" cy="384048"/>
          </a:xfrm>
          <a:prstGeom prst="rect">
            <a:avLst/>
          </a:prstGeom>
          <a:noFill/>
          <a:ln/>
        </p:spPr>
        <p:txBody>
          <a:bodyPr wrap="square" lIns="0" tIns="0" rIns="0" bIns="0" rtlCol="0" anchor="ctr"/>
          <a:lstStyle/>
          <a:p>
            <a:pPr indent="0" marL="0">
              <a:buNone/>
            </a:pPr>
            <a:r>
              <a:rPr lang="en-US" sz="1600" b="1" dirty="0">
                <a:solidFill>
                  <a:srgbClr val="111111"/>
                </a:solidFill>
                <a:latin typeface="Cambria" pitchFamily="34" charset="0"/>
                <a:ea typeface="Cambria" pitchFamily="34" charset="-122"/>
                <a:cs typeface="Cambria" pitchFamily="34" charset="-120"/>
              </a:rPr>
              <a:t>Strategies to Overcome Challenges</a:t>
            </a:r>
            <a:endParaRPr lang="en-US" sz="1600" dirty="0"/>
          </a:p>
        </p:txBody>
      </p:sp>
      <p:sp>
        <p:nvSpPr>
          <p:cNvPr id="38" name="Text 33"/>
          <p:cNvSpPr txBox="1"/>
          <p:nvPr/>
        </p:nvSpPr>
        <p:spPr>
          <a:xfrm>
            <a:off x="7178040" y="3977640"/>
            <a:ext cx="4663440" cy="2606040"/>
          </a:xfrm>
          <a:prstGeom prst="rect">
            <a:avLst/>
          </a:prstGeom>
          <a:noFill/>
          <a:ln/>
        </p:spPr>
        <p:txBody>
          <a:bodyPr wrap="square" lIns="0" tIns="0" rIns="0" bIns="0" rtlCol="0" anchor="t"/>
          <a:lstStyle/>
          <a:p>
            <a:pPr marL="342900" indent="-342900">
              <a:spcAft>
                <a:spcPts val="900"/>
              </a:spcAft>
              <a:buSzPct val="100000"/>
              <a:buChar char="•"/>
            </a:pPr>
            <a:r>
              <a:rPr lang="en-US" sz="1250" b="1" dirty="0">
                <a:solidFill>
                  <a:srgbClr val="111111"/>
                </a:solidFill>
                <a:latin typeface="Calibri" pitchFamily="34" charset="0"/>
                <a:ea typeface="Calibri" pitchFamily="34" charset="-122"/>
                <a:cs typeface="Calibri" pitchFamily="34" charset="-120"/>
              </a:rPr>
              <a:t>Low computing power: </a:t>
            </a:r>
            <a:pPr indent="0" marL="0">
              <a:buNone/>
            </a:pPr>
            <a:r>
              <a:rPr lang="en-US" sz="1250" dirty="0">
                <a:solidFill>
                  <a:srgbClr val="111111"/>
                </a:solidFill>
                <a:latin typeface="Calibri" pitchFamily="34" charset="0"/>
                <a:ea typeface="Calibri" pitchFamily="34" charset="-122"/>
                <a:cs typeface="Calibri" pitchFamily="34" charset="-120"/>
              </a:rPr>
              <a:t>light </a:t>
            </a:r>
            <a:pPr indent="0" marL="0">
              <a:buNone/>
            </a:pPr>
            <a:r>
              <a:rPr lang="en-US" sz="1250" b="1" dirty="0">
                <a:solidFill>
                  <a:srgbClr val="C0171D"/>
                </a:solidFill>
                <a:latin typeface="Calibri" pitchFamily="34" charset="0"/>
                <a:ea typeface="Calibri" pitchFamily="34" charset="-122"/>
                <a:cs typeface="Calibri" pitchFamily="34" charset="-120"/>
              </a:rPr>
              <a:t>YOLO11n</a:t>
            </a:r>
            <a:pPr indent="0" marL="0">
              <a:buNone/>
            </a:pPr>
            <a:r>
              <a:rPr lang="en-US" sz="1250" dirty="0">
                <a:solidFill>
                  <a:srgbClr val="111111"/>
                </a:solidFill>
                <a:latin typeface="Calibri" pitchFamily="34" charset="0"/>
                <a:ea typeface="Calibri" pitchFamily="34" charset="-122"/>
                <a:cs typeface="Calibri" pitchFamily="34" charset="-120"/>
              </a:rPr>
              <a:t>, </a:t>
            </a:r>
            <a:pPr indent="0" marL="0">
              <a:buNone/>
            </a:pPr>
            <a:r>
              <a:rPr lang="en-US" sz="1250" b="1" dirty="0">
                <a:solidFill>
                  <a:srgbClr val="C0171D"/>
                </a:solidFill>
                <a:latin typeface="Calibri" pitchFamily="34" charset="0"/>
                <a:ea typeface="Calibri" pitchFamily="34" charset="-122"/>
                <a:cs typeface="Calibri" pitchFamily="34" charset="-120"/>
              </a:rPr>
              <a:t>3–10 FPS</a:t>
            </a:r>
            <a:pPr indent="0" marL="0">
              <a:buNone/>
            </a:pPr>
            <a:r>
              <a:rPr lang="en-US" sz="1250" dirty="0">
                <a:solidFill>
                  <a:srgbClr val="111111"/>
                </a:solidFill>
                <a:latin typeface="Calibri" pitchFamily="34" charset="0"/>
                <a:ea typeface="Calibri" pitchFamily="34" charset="-122"/>
                <a:cs typeface="Calibri" pitchFamily="34" charset="-120"/>
              </a:rPr>
              <a:t> sampling, higher resolution only for the entrance camera.</a:t>
            </a:r>
            <a:endParaRPr lang="en-US" sz="1250" dirty="0"/>
          </a:p>
          <a:p>
            <a:pPr marL="342900" indent="-342900">
              <a:spcAft>
                <a:spcPts val="900"/>
              </a:spcAft>
              <a:buSzPct val="100000"/>
              <a:buChar char="•"/>
            </a:pPr>
            <a:r>
              <a:rPr lang="en-US" sz="1250" b="1" dirty="0">
                <a:solidFill>
                  <a:srgbClr val="111111"/>
                </a:solidFill>
                <a:latin typeface="Calibri" pitchFamily="34" charset="0"/>
                <a:ea typeface="Calibri" pitchFamily="34" charset="-122"/>
                <a:cs typeface="Calibri" pitchFamily="34" charset="-120"/>
              </a:rPr>
              <a:t>Limited Indian retail data: </a:t>
            </a:r>
            <a:pPr indent="0" marL="0">
              <a:buNone/>
            </a:pPr>
            <a:r>
              <a:rPr lang="en-US" sz="1250" dirty="0">
                <a:solidFill>
                  <a:srgbClr val="111111"/>
                </a:solidFill>
                <a:latin typeface="Calibri" pitchFamily="34" charset="0"/>
                <a:ea typeface="Calibri" pitchFamily="34" charset="-122"/>
                <a:cs typeface="Calibri" pitchFamily="34" charset="-120"/>
              </a:rPr>
              <a:t>start with </a:t>
            </a:r>
            <a:pPr indent="0" marL="0">
              <a:buNone/>
            </a:pPr>
            <a:r>
              <a:rPr lang="en-US" sz="1250" b="1" dirty="0">
                <a:solidFill>
                  <a:srgbClr val="C0171D"/>
                </a:solidFill>
                <a:latin typeface="Calibri" pitchFamily="34" charset="0"/>
                <a:ea typeface="Calibri" pitchFamily="34" charset="-122"/>
                <a:cs typeface="Calibri" pitchFamily="34" charset="-120"/>
              </a:rPr>
              <a:t>open datasets</a:t>
            </a:r>
            <a:pPr indent="0" marL="0">
              <a:buNone/>
            </a:pPr>
            <a:r>
              <a:rPr lang="en-US" sz="1250" dirty="0">
                <a:solidFill>
                  <a:srgbClr val="111111"/>
                </a:solidFill>
                <a:latin typeface="Calibri" pitchFamily="34" charset="0"/>
                <a:ea typeface="Calibri" pitchFamily="34" charset="-122"/>
                <a:cs typeface="Calibri" pitchFamily="34" charset="-120"/>
              </a:rPr>
              <a:t>, then </a:t>
            </a:r>
            <a:pPr indent="0" marL="0">
              <a:buNone/>
            </a:pPr>
            <a:r>
              <a:rPr lang="en-US" sz="1250" b="1" dirty="0">
                <a:solidFill>
                  <a:srgbClr val="C0171D"/>
                </a:solidFill>
                <a:latin typeface="Calibri" pitchFamily="34" charset="0"/>
                <a:ea typeface="Calibri" pitchFamily="34" charset="-122"/>
                <a:cs typeface="Calibri" pitchFamily="34" charset="-120"/>
              </a:rPr>
              <a:t>fine-tune on store photos</a:t>
            </a:r>
            <a:pPr indent="0" marL="0">
              <a:buNone/>
            </a:pPr>
            <a:r>
              <a:rPr lang="en-US" sz="1250" dirty="0">
                <a:solidFill>
                  <a:srgbClr val="111111"/>
                </a:solidFill>
                <a:latin typeface="Calibri" pitchFamily="34" charset="0"/>
                <a:ea typeface="Calibri" pitchFamily="34" charset="-122"/>
                <a:cs typeface="Calibri" pitchFamily="34" charset="-120"/>
              </a:rPr>
              <a:t> using free </a:t>
            </a:r>
            <a:pPr indent="0" marL="0">
              <a:buNone/>
            </a:pPr>
            <a:r>
              <a:rPr lang="en-US" sz="1250" b="1" dirty="0">
                <a:solidFill>
                  <a:srgbClr val="C0171D"/>
                </a:solidFill>
                <a:latin typeface="Calibri" pitchFamily="34" charset="0"/>
                <a:ea typeface="Calibri" pitchFamily="34" charset="-122"/>
                <a:cs typeface="Calibri" pitchFamily="34" charset="-120"/>
              </a:rPr>
              <a:t>Colab GPU</a:t>
            </a:r>
            <a:pPr indent="0" marL="0">
              <a:buNone/>
            </a:pPr>
            <a:r>
              <a:rPr lang="en-US" sz="1250" dirty="0">
                <a:solidFill>
                  <a:srgbClr val="111111"/>
                </a:solidFill>
                <a:latin typeface="Calibri" pitchFamily="34" charset="0"/>
                <a:ea typeface="Calibri" pitchFamily="34" charset="-122"/>
                <a:cs typeface="Calibri" pitchFamily="34" charset="-120"/>
              </a:rPr>
              <a:t>.</a:t>
            </a:r>
            <a:endParaRPr lang="en-US" sz="1250" dirty="0"/>
          </a:p>
          <a:p>
            <a:pPr marL="342900" indent="-342900">
              <a:spcAft>
                <a:spcPts val="900"/>
              </a:spcAft>
              <a:buSzPct val="100000"/>
              <a:buChar char="•"/>
            </a:pPr>
            <a:r>
              <a:rPr lang="en-US" sz="1250" b="1" dirty="0">
                <a:solidFill>
                  <a:srgbClr val="111111"/>
                </a:solidFill>
                <a:latin typeface="Calibri" pitchFamily="34" charset="0"/>
                <a:ea typeface="Calibri" pitchFamily="34" charset="-122"/>
                <a:cs typeface="Calibri" pitchFamily="34" charset="-120"/>
              </a:rPr>
              <a:t>Crowded entrances: </a:t>
            </a:r>
            <a:pPr indent="0" marL="0">
              <a:buNone/>
            </a:pPr>
            <a:r>
              <a:rPr lang="en-US" sz="1250" dirty="0">
                <a:solidFill>
                  <a:srgbClr val="111111"/>
                </a:solidFill>
                <a:latin typeface="Calibri" pitchFamily="34" charset="0"/>
                <a:ea typeface="Calibri" pitchFamily="34" charset="-122"/>
                <a:cs typeface="Calibri" pitchFamily="34" charset="-120"/>
              </a:rPr>
              <a:t>angled camera over the door, </a:t>
            </a:r>
            <a:pPr indent="0" marL="0">
              <a:buNone/>
            </a:pPr>
            <a:r>
              <a:rPr lang="en-US" sz="1250" b="1" dirty="0">
                <a:solidFill>
                  <a:srgbClr val="C0171D"/>
                </a:solidFill>
                <a:latin typeface="Calibri" pitchFamily="34" charset="0"/>
                <a:ea typeface="Calibri" pitchFamily="34" charset="-122"/>
                <a:cs typeface="Calibri" pitchFamily="34" charset="-120"/>
              </a:rPr>
              <a:t>960 px</a:t>
            </a:r>
            <a:pPr indent="0" marL="0">
              <a:buNone/>
            </a:pPr>
            <a:r>
              <a:rPr lang="en-US" sz="1250" dirty="0">
                <a:solidFill>
                  <a:srgbClr val="111111"/>
                </a:solidFill>
                <a:latin typeface="Calibri" pitchFamily="34" charset="0"/>
                <a:ea typeface="Calibri" pitchFamily="34" charset="-122"/>
                <a:cs typeface="Calibri" pitchFamily="34" charset="-120"/>
              </a:rPr>
              <a:t> input, </a:t>
            </a:r>
            <a:pPr indent="0" marL="0">
              <a:buNone/>
            </a:pPr>
            <a:r>
              <a:rPr lang="en-US" sz="1250" b="1" dirty="0">
                <a:solidFill>
                  <a:srgbClr val="C0171D"/>
                </a:solidFill>
                <a:latin typeface="Calibri" pitchFamily="34" charset="0"/>
                <a:ea typeface="Calibri" pitchFamily="34" charset="-122"/>
                <a:cs typeface="Calibri" pitchFamily="34" charset="-120"/>
              </a:rPr>
              <a:t>jitter-proof counting</a:t>
            </a:r>
            <a:pPr indent="0" marL="0">
              <a:buNone/>
            </a:pPr>
            <a:r>
              <a:rPr lang="en-US" sz="1250" dirty="0">
                <a:solidFill>
                  <a:srgbClr val="111111"/>
                </a:solidFill>
                <a:latin typeface="Calibri" pitchFamily="34" charset="0"/>
                <a:ea typeface="Calibri" pitchFamily="34" charset="-122"/>
                <a:cs typeface="Calibri" pitchFamily="34" charset="-120"/>
              </a:rPr>
              <a:t> (tested on MOT17).</a:t>
            </a:r>
            <a:endParaRPr lang="en-US" sz="1250" dirty="0"/>
          </a:p>
          <a:p>
            <a:pPr marL="342900" indent="-342900">
              <a:spcAft>
                <a:spcPts val="900"/>
              </a:spcAft>
              <a:buSzPct val="100000"/>
              <a:buChar char="•"/>
            </a:pPr>
            <a:r>
              <a:rPr lang="en-US" sz="1250" b="1" dirty="0">
                <a:solidFill>
                  <a:srgbClr val="111111"/>
                </a:solidFill>
                <a:latin typeface="Calibri" pitchFamily="34" charset="0"/>
                <a:ea typeface="Calibri" pitchFamily="34" charset="-122"/>
                <a:cs typeface="Calibri" pitchFamily="34" charset="-120"/>
              </a:rPr>
              <a:t>Counting bias on odd shelves: </a:t>
            </a:r>
            <a:pPr indent="0" marL="0">
              <a:buNone/>
            </a:pPr>
            <a:r>
              <a:rPr lang="en-US" sz="1250" dirty="0">
                <a:solidFill>
                  <a:srgbClr val="111111"/>
                </a:solidFill>
                <a:latin typeface="Calibri" pitchFamily="34" charset="0"/>
                <a:ea typeface="Calibri" pitchFamily="34" charset="-122"/>
                <a:cs typeface="Calibri" pitchFamily="34" charset="-120"/>
              </a:rPr>
              <a:t>per-camera </a:t>
            </a:r>
            <a:pPr indent="0" marL="0">
              <a:buNone/>
            </a:pPr>
            <a:r>
              <a:rPr lang="en-US" sz="1250" b="1" dirty="0">
                <a:solidFill>
                  <a:srgbClr val="C0171D"/>
                </a:solidFill>
                <a:latin typeface="Calibri" pitchFamily="34" charset="0"/>
                <a:ea typeface="Calibri" pitchFamily="34" charset="-122"/>
                <a:cs typeface="Calibri" pitchFamily="34" charset="-120"/>
              </a:rPr>
              <a:t>'Mark as Full' baseline</a:t>
            </a:r>
            <a:pPr indent="0" marL="0">
              <a:buNone/>
            </a:pPr>
            <a:r>
              <a:rPr lang="en-US" sz="1250" dirty="0">
                <a:solidFill>
                  <a:srgbClr val="111111"/>
                </a:solidFill>
                <a:latin typeface="Calibri" pitchFamily="34" charset="0"/>
                <a:ea typeface="Calibri" pitchFamily="34" charset="-122"/>
                <a:cs typeface="Calibri" pitchFamily="34" charset="-120"/>
              </a:rPr>
              <a:t> cancels the bias.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7"/>
        </a:solidFill>
      </p:bgPr>
    </p:bg>
    <p:spTree>
      <p:nvGrpSpPr>
        <p:cNvPr id="1" name=""/>
        <p:cNvGrpSpPr/>
        <p:nvPr/>
      </p:nvGrpSpPr>
      <p:grpSpPr>
        <a:xfrm>
          <a:off x="0" y="0"/>
          <a:ext cx="0" cy="0"/>
          <a:chOff x="0" y="0"/>
          <a:chExt cx="0" cy="0"/>
        </a:xfrm>
      </p:grpSpPr>
      <p:sp>
        <p:nvSpPr>
          <p:cNvPr id="2" name="Shape 0"/>
          <p:cNvSpPr/>
          <p:nvPr/>
        </p:nvSpPr>
        <p:spPr>
          <a:xfrm>
            <a:off x="228600" y="109728"/>
            <a:ext cx="1234440" cy="566928"/>
          </a:xfrm>
          <a:prstGeom prst="ellipse">
            <a:avLst/>
          </a:prstGeom>
          <a:solidFill>
            <a:srgbClr val="FFFFFF"/>
          </a:solidFill>
          <a:ln w="15875">
            <a:solidFill>
              <a:srgbClr val="6B4FA0"/>
            </a:solidFill>
            <a:prstDash val="solid"/>
          </a:ln>
        </p:spPr>
      </p:sp>
      <p:sp>
        <p:nvSpPr>
          <p:cNvPr id="3" name="Text 1"/>
          <p:cNvSpPr txBox="1"/>
          <p:nvPr/>
        </p:nvSpPr>
        <p:spPr>
          <a:xfrm>
            <a:off x="228600" y="109728"/>
            <a:ext cx="1234440" cy="566928"/>
          </a:xfrm>
          <a:prstGeom prst="rect">
            <a:avLst/>
          </a:prstGeom>
          <a:noFill/>
          <a:ln/>
        </p:spPr>
        <p:txBody>
          <a:bodyPr wrap="square" lIns="0" tIns="0" rIns="0" bIns="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[Team Name]</a:t>
            </a:r>
            <a:endParaRPr lang="en-US" sz="1000" dirty="0"/>
          </a:p>
        </p:txBody>
      </p:sp>
      <p:sp>
        <p:nvSpPr>
          <p:cNvPr id="4" name="Text 2"/>
          <p:cNvSpPr txBox="1"/>
          <p:nvPr/>
        </p:nvSpPr>
        <p:spPr>
          <a:xfrm>
            <a:off x="1645920" y="91440"/>
            <a:ext cx="8869680" cy="640080"/>
          </a:xfrm>
          <a:prstGeom prst="rect">
            <a:avLst/>
          </a:prstGeom>
          <a:noFill/>
          <a:ln/>
        </p:spPr>
        <p:txBody>
          <a:bodyPr wrap="square" rtlCol="0" anchor="ctr"/>
          <a:lstStyle/>
          <a:p>
            <a:pPr algn="ctr" indent="0" marL="0">
              <a:buNone/>
            </a:pPr>
            <a:r>
              <a:rPr lang="en-US" sz="3000" b="1" dirty="0">
                <a:solidFill>
                  <a:srgbClr val="111111"/>
                </a:solidFill>
                <a:latin typeface="Cambria" pitchFamily="34" charset="0"/>
                <a:ea typeface="Cambria" pitchFamily="34" charset="-122"/>
                <a:cs typeface="Cambria" pitchFamily="34" charset="-120"/>
              </a:rPr>
              <a:t>Research &amp; References</a:t>
            </a:r>
            <a:endParaRPr lang="en-US" sz="3000" dirty="0"/>
          </a:p>
        </p:txBody>
      </p:sp>
      <p:sp>
        <p:nvSpPr>
          <p:cNvPr id="5" name="Text 3"/>
          <p:cNvSpPr txBox="1"/>
          <p:nvPr/>
        </p:nvSpPr>
        <p:spPr>
          <a:xfrm>
            <a:off x="10378440" y="128016"/>
            <a:ext cx="1600200" cy="548640"/>
          </a:xfrm>
          <a:prstGeom prst="rect">
            <a:avLst/>
          </a:prstGeom>
          <a:noFill/>
          <a:ln/>
        </p:spPr>
        <p:txBody>
          <a:bodyPr wrap="square" lIns="0" tIns="0" rIns="0" bIns="0" rtlCol="0" anchor="ctr"/>
          <a:lstStyle/>
          <a:p>
            <a:pPr algn="r" indent="0" marL="0">
              <a:buNone/>
            </a:pPr>
            <a:r>
              <a:rPr lang="en-US" sz="1100" b="1" dirty="0">
                <a:solidFill>
                  <a:srgbClr val="333333"/>
                </a:solidFill>
                <a:latin typeface="Calibri" pitchFamily="34" charset="0"/>
                <a:ea typeface="Calibri" pitchFamily="34" charset="-122"/>
                <a:cs typeface="Calibri" pitchFamily="34" charset="-120"/>
              </a:rPr>
              <a:t>SMART INDIA</a:t>
            </a:r>
            <a:endParaRPr lang="en-US" sz="1100" dirty="0"/>
          </a:p>
          <a:p>
            <a:pPr algn="r" indent="0" marL="0">
              <a:buNone/>
            </a:pPr>
            <a:r>
              <a:rPr lang="en-US" sz="1100" b="1" dirty="0">
                <a:solidFill>
                  <a:srgbClr val="333333"/>
                </a:solidFill>
                <a:latin typeface="Calibri" pitchFamily="34" charset="0"/>
                <a:ea typeface="Calibri" pitchFamily="34" charset="-122"/>
                <a:cs typeface="Calibri" pitchFamily="34" charset="-120"/>
              </a:rPr>
              <a:t>HACKATHON 2025</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28600" y="868680"/>
          <a:ext cx="6903720" cy="914400"/>
        </p:xfrm>
        <a:graphic>
          <a:graphicData uri="http://schemas.openxmlformats.org/drawingml/2006/table">
            <a:tbl>
              <a:tblPr/>
              <a:tblGrid>
                <a:gridCol w="1600200"/>
                <a:gridCol w="2651760"/>
                <a:gridCol w="2651760"/>
              </a:tblGrid>
              <a:tr h="676656">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1B7F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Our Proposed Solution</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1B7F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Existing Conventional Solutions</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1B7F3A"/>
                    </a:solidFill>
                  </a:tcPr>
                </a:tc>
              </a:tr>
              <a:tr h="676656">
                <a:tc>
                  <a:txBody>
                    <a:bodyPr/>
                    <a:lstStyle/>
                    <a:p>
                      <a:pPr indent="0" marL="0">
                        <a:buNone/>
                      </a:pPr>
                      <a:r>
                        <a:rPr lang="en-US" sz="1150" b="1" dirty="0">
                          <a:solidFill>
                            <a:srgbClr val="111111"/>
                          </a:solidFill>
                          <a:latin typeface="Calibri" pitchFamily="34" charset="0"/>
                          <a:ea typeface="Calibri" pitchFamily="34" charset="-122"/>
                          <a:cs typeface="Calibri" pitchFamily="34" charset="-120"/>
                        </a:rPr>
                        <a:t>Where AI runs</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1F4F2"/>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Edge: inside the store, on a small PC</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Cloud servers far away</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111111"/>
                          </a:solidFill>
                          <a:latin typeface="Calibri" pitchFamily="34" charset="0"/>
                          <a:ea typeface="Calibri" pitchFamily="34" charset="-122"/>
                          <a:cs typeface="Calibri" pitchFamily="34" charset="-120"/>
                        </a:rPr>
                        <a:t>Internet need</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1F4F2"/>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Works offline; syncs numbers later</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Needs constant, fast internet</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111111"/>
                          </a:solidFill>
                          <a:latin typeface="Calibri" pitchFamily="34" charset="0"/>
                          <a:ea typeface="Calibri" pitchFamily="34" charset="-122"/>
                          <a:cs typeface="Calibri" pitchFamily="34" charset="-120"/>
                        </a:rPr>
                        <a:t>Privacy</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1F4F2"/>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No faces / photos stored; anonymous counts</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Video uploaded to the cloud</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111111"/>
                          </a:solidFill>
                          <a:latin typeface="Calibri" pitchFamily="34" charset="0"/>
                          <a:ea typeface="Calibri" pitchFamily="34" charset="-122"/>
                          <a:cs typeface="Calibri" pitchFamily="34" charset="-120"/>
                        </a:rPr>
                        <a:t>Cost</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1F4F2"/>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Existing CCTV + ₹35–50k PC</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Subscription + high bandwidth bills</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111111"/>
                          </a:solidFill>
                          <a:latin typeface="Calibri" pitchFamily="34" charset="0"/>
                          <a:ea typeface="Calibri" pitchFamily="34" charset="-122"/>
                          <a:cs typeface="Calibri" pitchFamily="34" charset="-120"/>
                        </a:rPr>
                        <a:t>Shelf checking</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1F4F2"/>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Automatic empty-slot alerts</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Manual audits / staff rounds</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111111"/>
                          </a:solidFill>
                          <a:latin typeface="Calibri" pitchFamily="34" charset="0"/>
                          <a:ea typeface="Calibri" pitchFamily="34" charset="-122"/>
                          <a:cs typeface="Calibri" pitchFamily="34" charset="-120"/>
                        </a:rPr>
                        <a:t>Billing queues</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1F4F2"/>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Predicts 15 min ahead, advises counters</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Reacts after the queue forms</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111111"/>
                          </a:solidFill>
                          <a:latin typeface="Calibri" pitchFamily="34" charset="0"/>
                          <a:ea typeface="Calibri" pitchFamily="34" charset="-122"/>
                          <a:cs typeface="Calibri" pitchFamily="34" charset="-120"/>
                        </a:rPr>
                        <a:t>Shopper insights</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1F4F2"/>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Footfall, dwell, heatmap, conversion</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libri" pitchFamily="34" charset="0"/>
                          <a:ea typeface="Calibri" pitchFamily="34" charset="-122"/>
                          <a:cs typeface="Calibri" pitchFamily="34" charset="-120"/>
                        </a:rPr>
                        <a:t>Only CCTV recording</a:t>
                      </a:r>
                      <a:endParaRPr lang="en-US" sz="1150" dirty="0">
                        <a:latin typeface="Calibri" charset="0"/>
                        <a:ea typeface="Calibri" charset="0"/>
                        <a:cs typeface="Calibri" charset="0"/>
                      </a:endParaRPr>
                    </a:p>
                  </a:txBody>
                  <a:tcPr marL="91440" marR="91440" marT="45720" marB="45720" anchor="ctr">
                    <a:lnL w="9525" cap="flat" cmpd="sng" algn="ctr">
                      <a:solidFill>
                        <a:srgbClr val="9AA5B1"/>
                      </a:solidFill>
                      <a:prstDash val="solid"/>
                      <a:round/>
                      <a:headEnd type="none" w="med" len="med"/>
                      <a:tailEnd type="none" w="med" len="med"/>
                    </a:lnL>
                    <a:lnR w="9525" cap="flat" cmpd="sng" algn="ctr">
                      <a:solidFill>
                        <a:srgbClr val="9AA5B1"/>
                      </a:solidFill>
                      <a:prstDash val="solid"/>
                      <a:round/>
                      <a:headEnd type="none" w="med" len="med"/>
                      <a:tailEnd type="none" w="med" len="med"/>
                    </a:lnR>
                    <a:lnT w="9525" cap="flat" cmpd="sng" algn="ctr">
                      <a:solidFill>
                        <a:srgbClr val="9AA5B1"/>
                      </a:solidFill>
                      <a:prstDash val="solid"/>
                      <a:round/>
                      <a:headEnd type="none" w="med" len="med"/>
                      <a:tailEnd type="none" w="med" len="med"/>
                    </a:lnT>
                    <a:lnB w="9525" cap="flat" cmpd="sng" algn="ctr">
                      <a:solidFill>
                        <a:srgbClr val="9AA5B1"/>
                      </a:solidFill>
                      <a:prstDash val="solid"/>
                      <a:round/>
                      <a:headEnd type="none" w="med" len="med"/>
                      <a:tailEnd type="none" w="med" len="med"/>
                    </a:lnB>
                    <a:solidFill>
                      <a:srgbClr val="FFFFFF"/>
                    </a:solidFill>
                  </a:tcPr>
                </a:tc>
              </a:tr>
            </a:tbl>
          </a:graphicData>
        </a:graphic>
      </p:graphicFrame>
      <p:sp>
        <p:nvSpPr>
          <p:cNvPr id="7" name="Shape 4"/>
          <p:cNvSpPr/>
          <p:nvPr/>
        </p:nvSpPr>
        <p:spPr>
          <a:xfrm>
            <a:off x="7269480" y="868680"/>
            <a:ext cx="4690872" cy="5760720"/>
          </a:xfrm>
          <a:prstGeom prst="roundRect">
            <a:avLst>
              <a:gd name="adj" fmla="val 1559"/>
            </a:avLst>
          </a:prstGeom>
          <a:solidFill>
            <a:srgbClr val="FFFFFF"/>
          </a:solidFill>
          <a:ln w="9525">
            <a:solidFill>
              <a:srgbClr val="CBD3DC"/>
            </a:solidFill>
            <a:prstDash val="solid"/>
          </a:ln>
        </p:spPr>
      </p:sp>
      <p:sp>
        <p:nvSpPr>
          <p:cNvPr id="8" name="Shape 5"/>
          <p:cNvSpPr/>
          <p:nvPr/>
        </p:nvSpPr>
        <p:spPr>
          <a:xfrm>
            <a:off x="7406640" y="960120"/>
            <a:ext cx="329184" cy="329184"/>
          </a:xfrm>
          <a:prstGeom prst="ellipse">
            <a:avLst/>
          </a:prstGeom>
          <a:solidFill>
            <a:srgbClr val="FBE3E4"/>
          </a:solidFill>
          <a:ln w="12700">
            <a:solidFill>
              <a:srgbClr val="FBE3E4"/>
            </a:solidFill>
            <a:prstDash val="solid"/>
          </a:ln>
        </p:spPr>
      </p:sp>
      <p:pic>
        <p:nvPicPr>
          <p:cNvPr id="9" name="Image 0" descr="preencoded.png">    </p:cNvPr>
          <p:cNvPicPr>
            <a:picLocks noChangeAspect="1"/>
          </p:cNvPicPr>
          <p:nvPr/>
        </p:nvPicPr>
        <p:blipFill>
          <a:blip r:embed="rId1"/>
          <a:stretch>
            <a:fillRect/>
          </a:stretch>
        </p:blipFill>
        <p:spPr>
          <a:xfrm>
            <a:off x="7470648" y="1024128"/>
            <a:ext cx="201168" cy="201168"/>
          </a:xfrm>
          <a:prstGeom prst="rect">
            <a:avLst/>
          </a:prstGeom>
        </p:spPr>
      </p:pic>
      <p:sp>
        <p:nvSpPr>
          <p:cNvPr id="10" name="Text 6"/>
          <p:cNvSpPr txBox="1"/>
          <p:nvPr/>
        </p:nvSpPr>
        <p:spPr>
          <a:xfrm>
            <a:off x="7818120" y="932688"/>
            <a:ext cx="4005072" cy="384048"/>
          </a:xfrm>
          <a:prstGeom prst="rect">
            <a:avLst/>
          </a:prstGeom>
          <a:noFill/>
          <a:ln/>
        </p:spPr>
        <p:txBody>
          <a:bodyPr wrap="square" lIns="0" tIns="0" rIns="0" bIns="0" rtlCol="0" anchor="ctr"/>
          <a:lstStyle/>
          <a:p>
            <a:pPr indent="0" marL="0">
              <a:buNone/>
            </a:pPr>
            <a:r>
              <a:rPr lang="en-US" sz="1600" b="1" dirty="0">
                <a:solidFill>
                  <a:srgbClr val="C0171D"/>
                </a:solidFill>
                <a:latin typeface="Cambria" pitchFamily="34" charset="0"/>
                <a:ea typeface="Cambria" pitchFamily="34" charset="-122"/>
                <a:cs typeface="Cambria" pitchFamily="34" charset="-120"/>
              </a:rPr>
              <a:t>Research and Dataset References</a:t>
            </a:r>
            <a:endParaRPr lang="en-US" sz="1600" dirty="0"/>
          </a:p>
        </p:txBody>
      </p:sp>
      <p:sp>
        <p:nvSpPr>
          <p:cNvPr id="11" name="Text 7"/>
          <p:cNvSpPr txBox="1"/>
          <p:nvPr/>
        </p:nvSpPr>
        <p:spPr>
          <a:xfrm>
            <a:off x="7406640" y="1307592"/>
            <a:ext cx="4434840" cy="5257800"/>
          </a:xfrm>
          <a:prstGeom prst="rect">
            <a:avLst/>
          </a:prstGeom>
          <a:noFill/>
          <a:ln/>
        </p:spPr>
        <p:txBody>
          <a:bodyPr wrap="square" lIns="0" tIns="0" rIns="0" bIns="0" rtlCol="0" anchor="t"/>
          <a:lstStyle/>
          <a:p>
            <a:pPr marL="342900" indent="-342900">
              <a:buSzPct val="100000"/>
              <a:buChar char="•"/>
            </a:pPr>
            <a:r>
              <a:rPr lang="en-US" sz="1200" b="1" dirty="0">
                <a:solidFill>
                  <a:srgbClr val="111111"/>
                </a:solidFill>
                <a:latin typeface="Calibri" pitchFamily="34" charset="0"/>
                <a:ea typeface="Calibri" pitchFamily="34" charset="-122"/>
                <a:cs typeface="Calibri" pitchFamily="34" charset="-120"/>
              </a:rPr>
              <a:t>SKU-110K — </a:t>
            </a:r>
            <a:pPr indent="0" marL="0">
              <a:buNone/>
            </a:pPr>
            <a:r>
              <a:rPr lang="en-US" sz="1200" dirty="0">
                <a:solidFill>
                  <a:srgbClr val="111111"/>
                </a:solidFill>
                <a:latin typeface="Calibri" pitchFamily="34" charset="0"/>
                <a:ea typeface="Calibri" pitchFamily="34" charset="-122"/>
                <a:cs typeface="Calibri" pitchFamily="34" charset="-120"/>
              </a:rPr>
              <a:t>dense retail shelf dataset (CVPR 2019)</a:t>
            </a:r>
            <a:endParaRPr lang="en-US" sz="1200" dirty="0"/>
          </a:p>
          <a:p>
            <a:pPr indent="0" marL="0">
              <a:spcAft>
                <a:spcPts val="800"/>
              </a:spcAft>
              <a:buNone/>
            </a:pPr>
            <a:r>
              <a:rPr lang="en-US" sz="950" u="sng" dirty="0">
                <a:solidFill>
                  <a:srgbClr val="1155C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https://github.com/eg4000/SKU110K_CVPR19</a:t>
            </a:r>
            <a:endParaRPr lang="en-US" sz="1200" dirty="0"/>
          </a:p>
          <a:p>
            <a:pPr marL="342900" indent="-342900">
              <a:buSzPct val="100000"/>
              <a:buChar char="•"/>
            </a:pPr>
            <a:r>
              <a:rPr lang="en-US" sz="1200" b="1" dirty="0">
                <a:solidFill>
                  <a:srgbClr val="111111"/>
                </a:solidFill>
                <a:latin typeface="Calibri" pitchFamily="34" charset="0"/>
                <a:ea typeface="Calibri" pitchFamily="34" charset="-122"/>
                <a:cs typeface="Calibri" pitchFamily="34" charset="-120"/>
              </a:rPr>
              <a:t>MOT17 — </a:t>
            </a:r>
            <a:pPr indent="0" marL="0">
              <a:buNone/>
            </a:pPr>
            <a:r>
              <a:rPr lang="en-US" sz="1200" dirty="0">
                <a:solidFill>
                  <a:srgbClr val="111111"/>
                </a:solidFill>
                <a:latin typeface="Calibri" pitchFamily="34" charset="0"/>
                <a:ea typeface="Calibri" pitchFamily="34" charset="-122"/>
                <a:cs typeface="Calibri" pitchFamily="34" charset="-120"/>
              </a:rPr>
              <a:t>people-tracking benchmark with ground truth</a:t>
            </a:r>
            <a:endParaRPr lang="en-US" sz="1200" dirty="0"/>
          </a:p>
          <a:p>
            <a:pPr indent="0" marL="0">
              <a:spcAft>
                <a:spcPts val="800"/>
              </a:spcAft>
              <a:buNone/>
            </a:pPr>
            <a:r>
              <a:rPr lang="en-US" sz="950" u="sng" dirty="0">
                <a:solidFill>
                  <a:srgbClr val="1155C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https://motchallenge.net/data/MOT17/</a:t>
            </a:r>
            <a:endParaRPr lang="en-US" sz="1200" dirty="0"/>
          </a:p>
          <a:p>
            <a:pPr marL="342900" indent="-342900">
              <a:buSzPct val="100000"/>
              <a:buChar char="•"/>
            </a:pPr>
            <a:r>
              <a:rPr lang="en-US" sz="1200" b="1" dirty="0">
                <a:solidFill>
                  <a:srgbClr val="111111"/>
                </a:solidFill>
                <a:latin typeface="Calibri" pitchFamily="34" charset="0"/>
                <a:ea typeface="Calibri" pitchFamily="34" charset="-122"/>
                <a:cs typeface="Calibri" pitchFamily="34" charset="-120"/>
              </a:rPr>
              <a:t>COCO — </a:t>
            </a:r>
            <a:pPr indent="0" marL="0">
              <a:buNone/>
            </a:pPr>
            <a:r>
              <a:rPr lang="en-US" sz="1200" dirty="0">
                <a:solidFill>
                  <a:srgbClr val="111111"/>
                </a:solidFill>
                <a:latin typeface="Calibri" pitchFamily="34" charset="0"/>
                <a:ea typeface="Calibri" pitchFamily="34" charset="-122"/>
                <a:cs typeface="Calibri" pitchFamily="34" charset="-120"/>
              </a:rPr>
              <a:t>person detection dataset</a:t>
            </a:r>
            <a:endParaRPr lang="en-US" sz="1200" dirty="0"/>
          </a:p>
          <a:p>
            <a:pPr indent="0" marL="0">
              <a:spcAft>
                <a:spcPts val="800"/>
              </a:spcAft>
              <a:buNone/>
            </a:pPr>
            <a:r>
              <a:rPr lang="en-US" sz="950" u="sng" dirty="0">
                <a:solidFill>
                  <a:srgbClr val="1155CC"/>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https://cocodataset.org</a:t>
            </a:r>
            <a:endParaRPr lang="en-US" sz="1200" dirty="0"/>
          </a:p>
          <a:p>
            <a:pPr marL="342900" indent="-342900">
              <a:buSzPct val="100000"/>
              <a:buChar char="•"/>
            </a:pPr>
            <a:r>
              <a:rPr lang="en-US" sz="1200" b="1" dirty="0">
                <a:solidFill>
                  <a:srgbClr val="111111"/>
                </a:solidFill>
                <a:latin typeface="Calibri" pitchFamily="34" charset="0"/>
                <a:ea typeface="Calibri" pitchFamily="34" charset="-122"/>
                <a:cs typeface="Calibri" pitchFamily="34" charset="-120"/>
              </a:rPr>
              <a:t>ByteTrack — </a:t>
            </a:r>
            <a:pPr indent="0" marL="0">
              <a:buNone/>
            </a:pPr>
            <a:r>
              <a:rPr lang="en-US" sz="1200" dirty="0">
                <a:solidFill>
                  <a:srgbClr val="111111"/>
                </a:solidFill>
                <a:latin typeface="Calibri" pitchFamily="34" charset="0"/>
                <a:ea typeface="Calibri" pitchFamily="34" charset="-122"/>
                <a:cs typeface="Calibri" pitchFamily="34" charset="-120"/>
              </a:rPr>
              <a:t>multi-object tracking (ECCV 2022)</a:t>
            </a:r>
            <a:endParaRPr lang="en-US" sz="1200" dirty="0"/>
          </a:p>
          <a:p>
            <a:pPr indent="0" marL="0">
              <a:spcAft>
                <a:spcPts val="800"/>
              </a:spcAft>
              <a:buNone/>
            </a:pPr>
            <a:r>
              <a:rPr lang="en-US" sz="950" u="sng" dirty="0">
                <a:solidFill>
                  <a:srgbClr val="1155CC"/>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https://arxiv.org/abs/2110.06864</a:t>
            </a:r>
            <a:endParaRPr lang="en-US" sz="1200" dirty="0"/>
          </a:p>
          <a:p>
            <a:pPr marL="342900" indent="-342900">
              <a:buSzPct val="100000"/>
              <a:buChar char="•"/>
            </a:pPr>
            <a:r>
              <a:rPr lang="en-US" sz="1200" b="1" dirty="0">
                <a:solidFill>
                  <a:srgbClr val="111111"/>
                </a:solidFill>
                <a:latin typeface="Calibri" pitchFamily="34" charset="0"/>
                <a:ea typeface="Calibri" pitchFamily="34" charset="-122"/>
                <a:cs typeface="Calibri" pitchFamily="34" charset="-120"/>
              </a:rPr>
              <a:t>Ultralytics YOLO11 — </a:t>
            </a:r>
            <a:pPr indent="0" marL="0">
              <a:buNone/>
            </a:pPr>
            <a:r>
              <a:rPr lang="en-US" sz="1200" dirty="0">
                <a:solidFill>
                  <a:srgbClr val="111111"/>
                </a:solidFill>
                <a:latin typeface="Calibri" pitchFamily="34" charset="0"/>
                <a:ea typeface="Calibri" pitchFamily="34" charset="-122"/>
                <a:cs typeface="Calibri" pitchFamily="34" charset="-120"/>
              </a:rPr>
              <a:t>real-time detector</a:t>
            </a:r>
            <a:endParaRPr lang="en-US" sz="1200" dirty="0"/>
          </a:p>
          <a:p>
            <a:pPr indent="0" marL="0">
              <a:spcAft>
                <a:spcPts val="800"/>
              </a:spcAft>
              <a:buNone/>
            </a:pPr>
            <a:r>
              <a:rPr lang="en-US" sz="950" u="sng" dirty="0">
                <a:solidFill>
                  <a:srgbClr val="1155CC"/>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https://docs.ultralytics.com</a:t>
            </a:r>
            <a:endParaRPr lang="en-US" sz="1200" dirty="0"/>
          </a:p>
          <a:p>
            <a:pPr marL="342900" indent="-342900">
              <a:buSzPct val="100000"/>
              <a:buChar char="•"/>
            </a:pPr>
            <a:r>
              <a:rPr lang="en-US" sz="1200" b="1" dirty="0">
                <a:solidFill>
                  <a:srgbClr val="111111"/>
                </a:solidFill>
                <a:latin typeface="Calibri" pitchFamily="34" charset="0"/>
                <a:ea typeface="Calibri" pitchFamily="34" charset="-122"/>
                <a:cs typeface="Calibri" pitchFamily="34" charset="-120"/>
              </a:rPr>
              <a:t>Out-of-Stock Detection — </a:t>
            </a:r>
            <a:pPr indent="0" marL="0">
              <a:buNone/>
            </a:pPr>
            <a:r>
              <a:rPr lang="en-US" sz="1200" dirty="0">
                <a:solidFill>
                  <a:srgbClr val="111111"/>
                </a:solidFill>
                <a:latin typeface="Calibri" pitchFamily="34" charset="0"/>
                <a:ea typeface="Calibri" pitchFamily="34" charset="-122"/>
                <a:cs typeface="Calibri" pitchFamily="34" charset="-120"/>
              </a:rPr>
              <a:t>Sensors 2024 (shelf voids)</a:t>
            </a:r>
            <a:endParaRPr lang="en-US" sz="1200" dirty="0"/>
          </a:p>
          <a:p>
            <a:pPr indent="0" marL="0">
              <a:spcAft>
                <a:spcPts val="800"/>
              </a:spcAft>
              <a:buNone/>
            </a:pPr>
            <a:r>
              <a:rPr lang="en-US" sz="950" u="sng" dirty="0">
                <a:solidFill>
                  <a:srgbClr val="1155C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https://pmc.ncbi.nlm.nih.gov/articles/PMC10819825/</a:t>
            </a:r>
            <a:endParaRPr lang="en-US" sz="1200" dirty="0"/>
          </a:p>
          <a:p>
            <a:pPr marL="342900" indent="-342900">
              <a:buSzPct val="100000"/>
              <a:buChar char="•"/>
            </a:pPr>
            <a:r>
              <a:rPr lang="en-US" sz="1200" b="1" dirty="0">
                <a:solidFill>
                  <a:srgbClr val="111111"/>
                </a:solidFill>
                <a:latin typeface="Calibri" pitchFamily="34" charset="0"/>
                <a:ea typeface="Calibri" pitchFamily="34" charset="-122"/>
                <a:cs typeface="Calibri" pitchFamily="34" charset="-120"/>
              </a:rPr>
              <a:t>Retail Out-of-Stocks — </a:t>
            </a:r>
            <a:pPr indent="0" marL="0">
              <a:buNone/>
            </a:pPr>
            <a:r>
              <a:rPr lang="en-US" sz="1200" dirty="0">
                <a:solidFill>
                  <a:srgbClr val="111111"/>
                </a:solidFill>
                <a:latin typeface="Calibri" pitchFamily="34" charset="0"/>
                <a:ea typeface="Calibri" pitchFamily="34" charset="-122"/>
                <a:cs typeface="Calibri" pitchFamily="34" charset="-120"/>
              </a:rPr>
              <a:t>worldwide study, GMA 2002</a:t>
            </a:r>
            <a:endParaRPr lang="en-US" sz="1200" dirty="0"/>
          </a:p>
          <a:p>
            <a:pPr indent="0" marL="0">
              <a:spcAft>
                <a:spcPts val="800"/>
              </a:spcAft>
              <a:buNone/>
            </a:pPr>
            <a:r>
              <a:rPr lang="en-US" sz="950" u="sng" dirty="0">
                <a:solidFill>
                  <a:srgbClr val="1155CC"/>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https://www.supplychain247.com/images/pdfs/GMA_2002_Worldwide_OOS_Study.pdf</a:t>
            </a:r>
            <a:endParaRPr lang="en-US" sz="1200" dirty="0"/>
          </a:p>
          <a:p>
            <a:pPr marL="342900" indent="-342900">
              <a:buSzPct val="100000"/>
              <a:buChar char="•"/>
            </a:pPr>
            <a:r>
              <a:rPr lang="en-US" sz="1200" b="1" dirty="0">
                <a:solidFill>
                  <a:srgbClr val="111111"/>
                </a:solidFill>
                <a:latin typeface="Calibri" pitchFamily="34" charset="0"/>
                <a:ea typeface="Calibri" pitchFamily="34" charset="-122"/>
                <a:cs typeface="Calibri" pitchFamily="34" charset="-120"/>
              </a:rPr>
              <a:t>Kirana modernisation — </a:t>
            </a:r>
            <a:pPr indent="0" marL="0">
              <a:buNone/>
            </a:pPr>
            <a:r>
              <a:rPr lang="en-US" sz="1200" dirty="0">
                <a:solidFill>
                  <a:srgbClr val="111111"/>
                </a:solidFill>
                <a:latin typeface="Calibri" pitchFamily="34" charset="0"/>
                <a:ea typeface="Calibri" pitchFamily="34" charset="-122"/>
                <a:cs typeface="Calibri" pitchFamily="34" charset="-120"/>
              </a:rPr>
              <a:t>Invest India</a:t>
            </a:r>
            <a:endParaRPr lang="en-US" sz="1200" dirty="0"/>
          </a:p>
          <a:p>
            <a:pPr indent="0" marL="0">
              <a:spcAft>
                <a:spcPts val="800"/>
              </a:spcAft>
              <a:buNone/>
            </a:pPr>
            <a:r>
              <a:rPr lang="en-US" sz="950" u="sng" dirty="0">
                <a:solidFill>
                  <a:srgbClr val="1155C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https://www.investindia.gov.in/team-india-blogs/modernization-kirana-stores-india</a:t>
            </a:r>
            <a:endParaRPr lang="en-US" sz="1200" dirty="0"/>
          </a:p>
          <a:p>
            <a:pPr marL="342900" indent="-342900">
              <a:buSzPct val="100000"/>
              <a:buChar char="•"/>
            </a:pPr>
            <a:r>
              <a:rPr lang="en-US" sz="1200" b="1" dirty="0">
                <a:solidFill>
                  <a:srgbClr val="111111"/>
                </a:solidFill>
                <a:latin typeface="Calibri" pitchFamily="34" charset="0"/>
                <a:ea typeface="Calibri" pitchFamily="34" charset="-122"/>
                <a:cs typeface="Calibri" pitchFamily="34" charset="-120"/>
              </a:rPr>
              <a:t>DPDP Act 2023 — </a:t>
            </a:r>
            <a:pPr indent="0" marL="0">
              <a:buNone/>
            </a:pPr>
            <a:r>
              <a:rPr lang="en-US" sz="1200" dirty="0">
                <a:solidFill>
                  <a:srgbClr val="111111"/>
                </a:solidFill>
                <a:latin typeface="Calibri" pitchFamily="34" charset="0"/>
                <a:ea typeface="Calibri" pitchFamily="34" charset="-122"/>
                <a:cs typeface="Calibri" pitchFamily="34" charset="-120"/>
              </a:rPr>
              <a:t>India data-protection law</a:t>
            </a:r>
            <a:endParaRPr lang="en-US" sz="1200" dirty="0"/>
          </a:p>
          <a:p>
            <a:pPr indent="0" marL="0">
              <a:spcAft>
                <a:spcPts val="800"/>
              </a:spcAft>
              <a:buNone/>
            </a:pPr>
            <a:r>
              <a:rPr lang="en-US" sz="950" u="sng" dirty="0">
                <a:solidFill>
                  <a:srgbClr val="1155CC"/>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https://www.meity.gov.in/data-protection-framework</a:t>
            </a:r>
            <a:endParaRPr lang="en-US" sz="1200" dirty="0"/>
          </a:p>
          <a:p>
            <a:pPr marL="342900" indent="-342900">
              <a:buSzPct val="100000"/>
              <a:buChar char="•"/>
            </a:pPr>
            <a:r>
              <a:rPr lang="en-US" sz="1200" b="1" dirty="0">
                <a:solidFill>
                  <a:srgbClr val="111111"/>
                </a:solidFill>
                <a:latin typeface="Calibri" pitchFamily="34" charset="0"/>
                <a:ea typeface="Calibri" pitchFamily="34" charset="-122"/>
                <a:cs typeface="Calibri" pitchFamily="34" charset="-120"/>
              </a:rPr>
              <a:t>IBEF Retail India — </a:t>
            </a:r>
            <a:pPr indent="0" marL="0">
              <a:buNone/>
            </a:pPr>
            <a:r>
              <a:rPr lang="en-US" sz="1200" dirty="0">
                <a:solidFill>
                  <a:srgbClr val="111111"/>
                </a:solidFill>
                <a:latin typeface="Calibri" pitchFamily="34" charset="0"/>
                <a:ea typeface="Calibri" pitchFamily="34" charset="-122"/>
                <a:cs typeface="Calibri" pitchFamily="34" charset="-120"/>
              </a:rPr>
              <a:t>Indian retail market data</a:t>
            </a:r>
            <a:endParaRPr lang="en-US" sz="1200" dirty="0"/>
          </a:p>
          <a:p>
            <a:pPr indent="0" marL="0">
              <a:spcAft>
                <a:spcPts val="800"/>
              </a:spcAft>
              <a:buNone/>
            </a:pPr>
            <a:r>
              <a:rPr lang="en-US" sz="950" u="sng" dirty="0">
                <a:solidFill>
                  <a:srgbClr val="1155CC"/>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https://www.ibef.org/industry/retail-india</a:t>
            </a:r>
            <a:endParaRPr lang="en-US" sz="1200" dirty="0"/>
          </a:p>
          <a:p>
            <a:pPr marL="342900" indent="-342900">
              <a:buSzPct val="100000"/>
              <a:buChar char="•"/>
            </a:pPr>
            <a:r>
              <a:rPr lang="en-US" sz="1200" b="1" dirty="0">
                <a:solidFill>
                  <a:srgbClr val="111111"/>
                </a:solidFill>
                <a:latin typeface="Calibri" pitchFamily="34" charset="0"/>
                <a:ea typeface="Calibri" pitchFamily="34" charset="-122"/>
                <a:cs typeface="Calibri" pitchFamily="34" charset="-120"/>
              </a:rPr>
              <a:t>Erlang-C queueing model — </a:t>
            </a:r>
            <a:pPr indent="0" marL="0">
              <a:buNone/>
            </a:pPr>
            <a:r>
              <a:rPr lang="en-US" sz="1200" dirty="0">
                <a:solidFill>
                  <a:srgbClr val="111111"/>
                </a:solidFill>
                <a:latin typeface="Calibri" pitchFamily="34" charset="0"/>
                <a:ea typeface="Calibri" pitchFamily="34" charset="-122"/>
                <a:cs typeface="Calibri" pitchFamily="34" charset="-120"/>
              </a:rPr>
              <a:t>counters needed for a target wait</a:t>
            </a:r>
            <a:endParaRPr lang="en-US" sz="1200" dirty="0"/>
          </a:p>
          <a:p>
            <a:pPr indent="0" marL="0">
              <a:spcAft>
                <a:spcPts val="800"/>
              </a:spcAft>
              <a:buNone/>
            </a:pPr>
            <a:r>
              <a:rPr lang="en-US" sz="950" u="sng" dirty="0">
                <a:solidFill>
                  <a:srgbClr val="1155CC"/>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https://en.wikipedia.org/wiki/Erlang_(unit)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RetailSense AI - Smart India Hackathon 2025</dc:title>
  <dc:subject>PptxGenJS Presentation</dc:subject>
  <dc:creator>PptxGenJS</dc:creator>
  <cp:lastModifiedBy>PptxGenJS</cp:lastModifiedBy>
  <cp:revision>1</cp:revision>
  <dcterms:created xsi:type="dcterms:W3CDTF">2026-09-29T23:46:08Z</dcterms:created>
  <dcterms:modified xsi:type="dcterms:W3CDTF">2026-09-29T23:46:08Z</dcterms:modified>
</cp:coreProperties>
</file>